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Corbel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Nf9NGSvVw1/7vCmi/sRjt7Ms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000593-0C7B-49D4-ACC7-35B609015B18}">
  <a:tblStyle styleId="{67000593-0C7B-49D4-ACC7-35B609015B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EAF9"/>
          </a:solidFill>
        </a:fill>
      </a:tcStyle>
    </a:wholeTbl>
    <a:band1H>
      <a:tcTxStyle b="off" i="off"/>
      <a:tcStyle>
        <a:fill>
          <a:solidFill>
            <a:srgbClr val="E0D2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0D2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917D1AB6-CFBA-4735-A6E7-EE624F7017F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F4E8"/>
          </a:solidFill>
        </a:fill>
      </a:tcStyle>
    </a:wholeTbl>
    <a:band1H>
      <a:tcTxStyle b="off" i="off"/>
      <a:tcStyle>
        <a:fill>
          <a:solidFill>
            <a:srgbClr val="D7E9C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7E9C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rbel-bold.fntdata"/><Relationship Id="rId30" Type="http://schemas.openxmlformats.org/officeDocument/2006/relationships/font" Target="fonts/Corbel-regular.fntdata"/><Relationship Id="rId11" Type="http://schemas.openxmlformats.org/officeDocument/2006/relationships/slide" Target="slides/slide6.xml"/><Relationship Id="rId33" Type="http://schemas.openxmlformats.org/officeDocument/2006/relationships/font" Target="fonts/Corbel-boldItalic.fntdata"/><Relationship Id="rId10" Type="http://schemas.openxmlformats.org/officeDocument/2006/relationships/slide" Target="slides/slide5.xml"/><Relationship Id="rId32" Type="http://schemas.openxmlformats.org/officeDocument/2006/relationships/font" Target="fonts/Corbel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54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4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p54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6.1.1.1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If there is no dynamic routing protocols</a:t>
            </a:r>
            <a:endParaRPr/>
          </a:p>
        </p:txBody>
      </p:sp>
      <p:sp>
        <p:nvSpPr>
          <p:cNvPr id="168" name="Google Shape;168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56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6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2" name="Google Shape;202;p56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 of static routing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most secure way of routing, since no information is shared with other routers.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puts no overhead on resources such as CPU or memory.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routing algorithm or update mechanisms are required. Therefore, extra resources (CPU and memory) are not required.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easy to implement.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57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7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0" name="Google Shape;210;p57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6.1.1.2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58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8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5" name="Google Shape;225;p58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number of routes advertised by summarizing several contiguous networks as one static route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59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9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3" name="Google Shape;233;p59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6.1.2.2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60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0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5" name="Google Shape;245;p60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6.2.1.1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When a packet is destined for the 192.168.2.0/24 network, R1: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1. Looks for a match in the routing table and finds that it has to forward the packets to the next-hop IPv4 address 172.16.2.2.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2. R1 must now determine how</a:t>
            </a:r>
            <a:br>
              <a:rPr lang="en-US"/>
            </a:br>
            <a:r>
              <a:rPr lang="en-US"/>
              <a:t>to reach 172.16.2.2; therefore, </a:t>
            </a:r>
            <a:br>
              <a:rPr lang="en-US"/>
            </a:br>
            <a:r>
              <a:rPr lang="en-US"/>
              <a:t>it searches a second time for a</a:t>
            </a:r>
            <a:br>
              <a:rPr lang="en-US"/>
            </a:br>
            <a:r>
              <a:rPr lang="en-US"/>
              <a:t>172.16.2.2 match.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67" name="Google Shape;267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129da5eb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2129da5eb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2129da5eb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2129da5eb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129da5eb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g32129da5eb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129da5eb9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2129da5eb9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32129da5eb9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3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3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40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6" name="Google Shape;56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2" name="Google Shape;62;p4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3" name="Google Shape;63;p4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4" name="Google Shape;64;p4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5" name="Google Shape;65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44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5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5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5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6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6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6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7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7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8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48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9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0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50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1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1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51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2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3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3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3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2.jp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IPv4 Static Routing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11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484310" y="1066800"/>
            <a:ext cx="10018713" cy="5414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lang="en-US" sz="3800"/>
              <a:t>Static Routing</a:t>
            </a:r>
            <a:endParaRPr sz="3800"/>
          </a:p>
          <a:p>
            <a:pPr indent="-431800" lvl="0" marL="45720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Standard static routing</a:t>
            </a:r>
            <a:endParaRPr sz="32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Directly Attached / Connected</a:t>
            </a:r>
            <a:endParaRPr sz="30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Next Hop / Recursive</a:t>
            </a:r>
            <a:endParaRPr sz="3000"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Default Routing</a:t>
            </a:r>
            <a:endParaRPr sz="3200"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Floating Static Routing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4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4"/>
          <p:cNvSpPr txBox="1"/>
          <p:nvPr/>
        </p:nvSpPr>
        <p:spPr>
          <a:xfrm>
            <a:off x="1624987" y="1283677"/>
            <a:ext cx="9954482" cy="43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341313" lvl="0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router can learn about remote networks in one of two ways: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4603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Manually</a:t>
            </a:r>
            <a:r>
              <a:rPr b="0" i="0" lang="en-US" sz="2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Remote networks are manually entered into the route table using static routes.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4603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Dynamically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Remote networks are automatically learned using a dynamic routing protocol.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5"/>
          <p:cNvSpPr txBox="1"/>
          <p:nvPr>
            <p:ph idx="1" type="body"/>
          </p:nvPr>
        </p:nvSpPr>
        <p:spPr>
          <a:xfrm>
            <a:off x="1369216" y="1339361"/>
            <a:ext cx="10248900" cy="2538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A static route is created, maintained, and updated by a network administrator, manually.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1560"/>
              </a:spcBef>
              <a:spcAft>
                <a:spcPts val="1200"/>
              </a:spcAft>
              <a:buSzPts val="2610"/>
              <a:buChar char="•"/>
            </a:pPr>
            <a:r>
              <a:rPr lang="en-US" sz="3200"/>
              <a:t>A static route to every network must be configured on every router for full connectivity. </a:t>
            </a:r>
            <a:endParaRPr/>
          </a:p>
        </p:txBody>
      </p:sp>
      <p:sp>
        <p:nvSpPr>
          <p:cNvPr id="171" name="Google Shape;171;p5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826" y="1230349"/>
            <a:ext cx="10245722" cy="50819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" name="Google Shape;179;p3"/>
          <p:cNvGraphicFramePr/>
          <p:nvPr/>
        </p:nvGraphicFramePr>
        <p:xfrm>
          <a:off x="1501011" y="998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{67000593-0C7B-49D4-ACC7-35B609015B18}</a:tableStyleId>
              </a:tblPr>
              <a:tblGrid>
                <a:gridCol w="1404025"/>
                <a:gridCol w="661200"/>
              </a:tblGrid>
              <a:tr h="33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Network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Exit Int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192.168.10.0/24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192.168.11.0/24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G0/1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209.165.200.224/30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S0/0/0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0" name="Google Shape;180;p3"/>
          <p:cNvGraphicFramePr/>
          <p:nvPr/>
        </p:nvGraphicFramePr>
        <p:xfrm>
          <a:off x="5112114" y="13389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{917D1AB6-CFBA-4735-A6E7-EE624F7017F5}</a:tableStyleId>
              </a:tblPr>
              <a:tblGrid>
                <a:gridCol w="1404025"/>
                <a:gridCol w="661200"/>
              </a:tblGrid>
              <a:tr h="33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Network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Exit Int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10.1.1.0/24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10.1.2.0/24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G0/1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209.165.200.224/30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S0/0/0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/>
                        <a:t>220.20.20.0/30</a:t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/>
                        <a:t>G0/2</a:t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1" name="Google Shape;181;p3"/>
          <p:cNvSpPr txBox="1"/>
          <p:nvPr/>
        </p:nvSpPr>
        <p:spPr>
          <a:xfrm>
            <a:off x="3815741" y="1586174"/>
            <a:ext cx="1268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Directly connected </a:t>
            </a:r>
            <a:endParaRPr b="1" i="0" sz="12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3598902" y="1351349"/>
            <a:ext cx="232996" cy="877603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7437128" y="2060936"/>
            <a:ext cx="1268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Directly connected </a:t>
            </a:r>
            <a:endParaRPr b="1" i="0" sz="12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7169948" y="1683210"/>
            <a:ext cx="287460" cy="115498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7703403" y="1451597"/>
            <a:ext cx="16894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20.20.20.0/30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6210600" y="4651483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619443" y="3554589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987589" y="698010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Table of R1</a:t>
            </a:r>
            <a:endParaRPr b="1" i="0" sz="12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5632008" y="1036945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Table of R2</a:t>
            </a:r>
            <a:endParaRPr b="1" i="0" sz="12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1653309" y="2352856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10.1.1.0/24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2891266" y="2334005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69502" y="2670542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10.1.2.0/24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2891266" y="2685931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5224783" y="3041713"/>
            <a:ext cx="130210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192.168.10.0/24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6554849" y="3030020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5228062" y="3350992"/>
            <a:ext cx="129882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192.168.11.0/24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6554849" y="3292979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6"/>
          <p:cNvSpPr txBox="1"/>
          <p:nvPr/>
        </p:nvSpPr>
        <p:spPr>
          <a:xfrm>
            <a:off x="1484310" y="1332346"/>
            <a:ext cx="10449072" cy="438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234950" lvl="0" marL="234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routing provides some </a:t>
            </a:r>
            <a:r>
              <a:rPr b="1" i="0" lang="en-US" sz="2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advantages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dynamic routing, including: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routes are not advertised over the network, resulting in better security.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Routers not share static routes with each other, thus reducing CPU/RAM overhead and saving bandwidth.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 Advantages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7"/>
          <p:cNvSpPr txBox="1"/>
          <p:nvPr/>
        </p:nvSpPr>
        <p:spPr>
          <a:xfrm>
            <a:off x="1736294" y="1214294"/>
            <a:ext cx="9384288" cy="467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234950" lvl="0" marL="234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routing has the following </a:t>
            </a:r>
            <a:r>
              <a:rPr b="1" i="0" lang="en-US" sz="2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configuration and maintenance is time-consuming.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is error-prone, especially in large networks.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Administrator intervention is required to maintain changing route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scale well with growing networks; maintenance becomes cumbersome.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complete knowledge of the whole network for proper implementation.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7"/>
          <p:cNvSpPr txBox="1"/>
          <p:nvPr/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Disadvantages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Comparison</a:t>
            </a:r>
            <a:endParaRPr/>
          </a:p>
        </p:txBody>
      </p:sp>
      <p:pic>
        <p:nvPicPr>
          <p:cNvPr id="219" name="Google Shape;2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ing and Switching Essentials - Mozilla Firefox" id="220" name="Google Shape;2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608" y="1306943"/>
            <a:ext cx="10732115" cy="5324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8"/>
          <p:cNvSpPr txBox="1"/>
          <p:nvPr/>
        </p:nvSpPr>
        <p:spPr>
          <a:xfrm>
            <a:off x="1634694" y="1389785"/>
            <a:ext cx="9504361" cy="4207451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234950" lvl="0" marL="234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Routes are often used 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to a specific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a Gateway of Last Resort for a stub network – Default Gateway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Summarize routing table entries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backup route in case a primary route link fails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8"/>
          <p:cNvSpPr txBox="1"/>
          <p:nvPr/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Applications : Types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9"/>
          <p:cNvPicPr preferRelativeResize="0"/>
          <p:nvPr/>
        </p:nvPicPr>
        <p:blipFill rotWithShape="1">
          <a:blip r:embed="rId3">
            <a:alphaModFix/>
          </a:blip>
          <a:srcRect b="0" l="-3745" r="-3742" t="0"/>
          <a:stretch/>
        </p:blipFill>
        <p:spPr>
          <a:xfrm>
            <a:off x="2078038" y="2895600"/>
            <a:ext cx="8589962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9"/>
          <p:cNvSpPr/>
          <p:nvPr/>
        </p:nvSpPr>
        <p:spPr>
          <a:xfrm>
            <a:off x="6096000" y="2819400"/>
            <a:ext cx="304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r" dir="2700000" dist="25401">
              <a:srgbClr val="808080">
                <a:alpha val="5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9"/>
          <p:cNvSpPr txBox="1"/>
          <p:nvPr/>
        </p:nvSpPr>
        <p:spPr>
          <a:xfrm>
            <a:off x="894773" y="1817687"/>
            <a:ext cx="7924800" cy="103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route can be used to connect to a specific network  ( like for example a stub network)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0034" y="457200"/>
            <a:ext cx="35814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9"/>
          <p:cNvSpPr/>
          <p:nvPr/>
        </p:nvSpPr>
        <p:spPr>
          <a:xfrm>
            <a:off x="8442036" y="1050636"/>
            <a:ext cx="1981200" cy="152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38100" rotWithShape="0" algn="br" dir="2700000" dist="25401">
              <a:srgbClr val="808080">
                <a:alpha val="5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9"/>
          <p:cNvSpPr txBox="1"/>
          <p:nvPr/>
        </p:nvSpPr>
        <p:spPr>
          <a:xfrm>
            <a:off x="1484311" y="325395"/>
            <a:ext cx="6745724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Standard Static Route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0"/>
          <p:cNvSpPr txBox="1"/>
          <p:nvPr>
            <p:ph type="title"/>
          </p:nvPr>
        </p:nvSpPr>
        <p:spPr>
          <a:xfrm>
            <a:off x="2048453" y="233506"/>
            <a:ext cx="84566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708CA1"/>
                </a:solidFill>
              </a:rPr>
              <a:t>ip route Command</a:t>
            </a:r>
            <a:endParaRPr/>
          </a:p>
        </p:txBody>
      </p:sp>
      <p:pic>
        <p:nvPicPr>
          <p:cNvPr id="248" name="Google Shape;248;p60"/>
          <p:cNvPicPr preferRelativeResize="0"/>
          <p:nvPr/>
        </p:nvPicPr>
        <p:blipFill rotWithShape="1">
          <a:blip r:embed="rId3">
            <a:alphaModFix/>
          </a:blip>
          <a:srcRect b="0" l="-14279" r="-14278" t="0"/>
          <a:stretch/>
        </p:blipFill>
        <p:spPr>
          <a:xfrm>
            <a:off x="1191491" y="1363663"/>
            <a:ext cx="10455564" cy="542858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0"/>
          <p:cNvSpPr txBox="1"/>
          <p:nvPr/>
        </p:nvSpPr>
        <p:spPr>
          <a:xfrm>
            <a:off x="2881747" y="2421523"/>
            <a:ext cx="106150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Next hop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Next Hop Options</a:t>
            </a:r>
            <a:endParaRPr/>
          </a:p>
        </p:txBody>
      </p:sp>
      <p:sp>
        <p:nvSpPr>
          <p:cNvPr id="255" name="Google Shape;255;p13"/>
          <p:cNvSpPr txBox="1"/>
          <p:nvPr>
            <p:ph idx="1" type="body"/>
          </p:nvPr>
        </p:nvSpPr>
        <p:spPr>
          <a:xfrm>
            <a:off x="1484310" y="1066800"/>
            <a:ext cx="10018800" cy="5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Directly attached/connected static route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Only the router </a:t>
            </a:r>
            <a:r>
              <a:rPr b="1" lang="en-US"/>
              <a:t>exit interface</a:t>
            </a:r>
            <a:r>
              <a:rPr lang="en-US"/>
              <a:t>/port name (i.e. s0/0) is specified.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Next-hop/Recursive lookup static route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Only the next-hop IP address (i.e. 2.2.2.2) is specified.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b="1" lang="en-US" sz="1800"/>
              <a:t>**Note: Port labels: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1800"/>
              <a:t>Each port has a name (s0/0 or f0/0 or g0/0 or etc.) and an IP address (1.2.3.4 or etc.)</a:t>
            </a:r>
            <a:endParaRPr/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4103" y="4901449"/>
            <a:ext cx="8239125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/>
        </p:nvSpPr>
        <p:spPr>
          <a:xfrm>
            <a:off x="2419416" y="5964671"/>
            <a:ext cx="486671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**Configuring R1(1) towards LAN –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***All settings are done from R1(1)’s perspective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6887918" y="5268578"/>
            <a:ext cx="61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S0/1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5187165" y="5311466"/>
            <a:ext cx="612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S0/0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5273734" y="4922389"/>
            <a:ext cx="349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7108464" y="4902982"/>
            <a:ext cx="364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5779061" y="4815511"/>
            <a:ext cx="112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2.2.2.0/30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636" y="1139271"/>
            <a:ext cx="6172635" cy="377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0272" y="2376103"/>
            <a:ext cx="5641109" cy="426946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1"/>
          <p:cNvSpPr txBox="1"/>
          <p:nvPr/>
        </p:nvSpPr>
        <p:spPr>
          <a:xfrm>
            <a:off x="1484310" y="325395"/>
            <a:ext cx="1049525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Standard Static Route using next hop IP address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2" name="Google Shape;272;p61"/>
          <p:cNvSpPr txBox="1"/>
          <p:nvPr/>
        </p:nvSpPr>
        <p:spPr>
          <a:xfrm>
            <a:off x="1484311" y="5218545"/>
            <a:ext cx="40297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Recursive Lookup</a:t>
            </a:r>
            <a:endParaRPr b="0" i="0" sz="32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 Static Route using Exit Interface</a:t>
            </a:r>
            <a:endParaRPr/>
          </a:p>
        </p:txBody>
      </p:sp>
      <p:pic>
        <p:nvPicPr>
          <p:cNvPr id="278" name="Google Shape;27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19690" l="0" r="0" t="19692"/>
          <a:stretch/>
        </p:blipFill>
        <p:spPr>
          <a:xfrm>
            <a:off x="459675" y="2879448"/>
            <a:ext cx="7131190" cy="3916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2"/>
          <p:cNvPicPr preferRelativeResize="0"/>
          <p:nvPr/>
        </p:nvPicPr>
        <p:blipFill rotWithShape="1">
          <a:blip r:embed="rId5">
            <a:alphaModFix/>
          </a:blip>
          <a:srcRect b="0" l="0" r="0" t="13354"/>
          <a:stretch/>
        </p:blipFill>
        <p:spPr>
          <a:xfrm>
            <a:off x="4874560" y="1118347"/>
            <a:ext cx="7244012" cy="2618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 : The line and AD explained</a:t>
            </a:r>
            <a:endParaRPr/>
          </a:p>
        </p:txBody>
      </p:sp>
      <p:pic>
        <p:nvPicPr>
          <p:cNvPr id="286" name="Google Shape;2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t05.jpg" id="287" name="Google Shape;2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6116" y="1152222"/>
            <a:ext cx="7155099" cy="244910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/>
          <p:nvPr/>
        </p:nvSpPr>
        <p:spPr>
          <a:xfrm>
            <a:off x="3008243" y="2882347"/>
            <a:ext cx="231914" cy="21203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>
            <a:off x="1583700" y="2961862"/>
            <a:ext cx="127214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20"/>
          <p:cNvSpPr/>
          <p:nvPr/>
        </p:nvSpPr>
        <p:spPr>
          <a:xfrm>
            <a:off x="3995529" y="2882347"/>
            <a:ext cx="1292087" cy="21203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5380383" y="2882346"/>
            <a:ext cx="245165" cy="21203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725580" y="2888970"/>
            <a:ext cx="231914" cy="21203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553840" y="2882345"/>
            <a:ext cx="1292087" cy="21203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1579692" y="3686748"/>
            <a:ext cx="1513299" cy="64633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Type of route: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 - Static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3335606" y="3686748"/>
            <a:ext cx="1295547" cy="64633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Destination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4430584" y="4326455"/>
            <a:ext cx="2007161" cy="64629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Administrative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Distance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5875609" y="3804074"/>
            <a:ext cx="1356462" cy="36933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Cost of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560849" y="3911554"/>
            <a:ext cx="1903791" cy="92333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Next Hop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Or, Exit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Or, Fully Specified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20"/>
          <p:cNvCxnSpPr>
            <a:stCxn id="288" idx="2"/>
            <a:endCxn id="294" idx="0"/>
          </p:cNvCxnSpPr>
          <p:nvPr/>
        </p:nvCxnSpPr>
        <p:spPr>
          <a:xfrm flipH="1">
            <a:off x="2336400" y="3094382"/>
            <a:ext cx="787800" cy="59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0" name="Google Shape;300;p20"/>
          <p:cNvCxnSpPr>
            <a:stCxn id="290" idx="2"/>
            <a:endCxn id="295" idx="0"/>
          </p:cNvCxnSpPr>
          <p:nvPr/>
        </p:nvCxnSpPr>
        <p:spPr>
          <a:xfrm flipH="1">
            <a:off x="3983373" y="3094382"/>
            <a:ext cx="658200" cy="59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" name="Google Shape;301;p20"/>
          <p:cNvCxnSpPr>
            <a:stCxn id="291" idx="2"/>
            <a:endCxn id="296" idx="0"/>
          </p:cNvCxnSpPr>
          <p:nvPr/>
        </p:nvCxnSpPr>
        <p:spPr>
          <a:xfrm flipH="1">
            <a:off x="5434266" y="3094381"/>
            <a:ext cx="68700" cy="1232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2" name="Google Shape;302;p20"/>
          <p:cNvCxnSpPr>
            <a:stCxn id="292" idx="2"/>
            <a:endCxn id="297" idx="0"/>
          </p:cNvCxnSpPr>
          <p:nvPr/>
        </p:nvCxnSpPr>
        <p:spPr>
          <a:xfrm>
            <a:off x="5841537" y="3101005"/>
            <a:ext cx="712200" cy="70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p20"/>
          <p:cNvCxnSpPr>
            <a:stCxn id="293" idx="2"/>
            <a:endCxn id="298" idx="0"/>
          </p:cNvCxnSpPr>
          <p:nvPr/>
        </p:nvCxnSpPr>
        <p:spPr>
          <a:xfrm>
            <a:off x="7199884" y="3094380"/>
            <a:ext cx="1312800" cy="817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04" name="Google Shape;3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5842" y="5442620"/>
            <a:ext cx="7445383" cy="82223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3008243" y="5105125"/>
            <a:ext cx="6362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Routing table record if it was configured with Exit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2496127" y="6377891"/>
            <a:ext cx="8315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93023"/>
                </a:solidFill>
                <a:latin typeface="Arial"/>
                <a:ea typeface="Arial"/>
                <a:cs typeface="Arial"/>
                <a:sym typeface="Arial"/>
              </a:rPr>
              <a:t>NOTE :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AD of Static Routes is  1 and AD of Directly Connected Routes is 0</a:t>
            </a:r>
            <a:endParaRPr b="1" i="0" sz="18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Default Static Routing</a:t>
            </a:r>
            <a:endParaRPr/>
          </a:p>
        </p:txBody>
      </p:sp>
      <p:sp>
        <p:nvSpPr>
          <p:cNvPr id="312" name="Google Shape;312;p6"/>
          <p:cNvSpPr txBox="1"/>
          <p:nvPr>
            <p:ph idx="1" type="body"/>
          </p:nvPr>
        </p:nvSpPr>
        <p:spPr>
          <a:xfrm>
            <a:off x="1179510" y="1066799"/>
            <a:ext cx="10018713" cy="541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A </a:t>
            </a:r>
            <a:r>
              <a:rPr b="1" lang="en-US"/>
              <a:t>default path </a:t>
            </a:r>
            <a:r>
              <a:rPr lang="en-US"/>
              <a:t>to send all IP packets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when no other routes in the routing table match the packet destination IP address.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when a router has only one other router to which it is connected. This condition is known as a stub router.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Uses a special network address as destination: </a:t>
            </a:r>
            <a:r>
              <a:rPr b="1" lang="en-US" sz="2000"/>
              <a:t>0.0.0.0/0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1800"/>
              <a:t>Has a subnet mask of 0. Meaning, it will check zero bits and hence it will match all IPs!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Char char="•"/>
            </a:pPr>
            <a:r>
              <a:rPr lang="en-US" sz="2000"/>
              <a:t>Conventionally, always points towards the border/ISP 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None/>
            </a:pPr>
            <a:r>
              <a:rPr lang="en-US" sz="2000"/>
              <a:t>Router.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Char char="•"/>
            </a:pPr>
            <a:r>
              <a:rPr lang="en-US" sz="2000"/>
              <a:t>Configuring a default static route creates a </a:t>
            </a:r>
            <a:r>
              <a:rPr lang="en-US" sz="2000">
                <a:solidFill>
                  <a:srgbClr val="D2533C"/>
                </a:solidFill>
              </a:rPr>
              <a:t>Gateway of </a:t>
            </a:r>
            <a:endParaRPr sz="2000">
              <a:solidFill>
                <a:srgbClr val="D2533C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None/>
            </a:pPr>
            <a:r>
              <a:rPr lang="en-US" sz="2000">
                <a:solidFill>
                  <a:srgbClr val="D2533C"/>
                </a:solidFill>
              </a:rPr>
              <a:t>Last Resort</a:t>
            </a:r>
            <a:r>
              <a:rPr lang="en-US"/>
              <a:t>.</a:t>
            </a:r>
            <a:endParaRPr/>
          </a:p>
          <a:p>
            <a:pPr indent="-83185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None/>
            </a:pPr>
            <a:r>
              <a:t/>
            </a:r>
            <a:endParaRPr/>
          </a:p>
        </p:txBody>
      </p:sp>
      <p:pic>
        <p:nvPicPr>
          <p:cNvPr id="313" name="Google Shape;3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t24.jpg" id="314" name="Google Shape;3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5546" y="3908175"/>
            <a:ext cx="4479493" cy="24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"/>
          <p:cNvSpPr/>
          <p:nvPr/>
        </p:nvSpPr>
        <p:spPr>
          <a:xfrm rot="-8985006">
            <a:off x="8485936" y="5726591"/>
            <a:ext cx="1515565" cy="333419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5400000" scaled="0"/>
          </a:gra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16" name="Google Shape;31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733" y="-69087"/>
            <a:ext cx="35814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"/>
          <p:cNvSpPr/>
          <p:nvPr/>
        </p:nvSpPr>
        <p:spPr>
          <a:xfrm>
            <a:off x="609600" y="675502"/>
            <a:ext cx="2971800" cy="152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38100" rotWithShape="0" algn="br" dir="2700000" dist="25401">
              <a:srgbClr val="808080">
                <a:alpha val="5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Configuring Default Static Route</a:t>
            </a:r>
            <a:endParaRPr/>
          </a:p>
        </p:txBody>
      </p:sp>
      <p:sp>
        <p:nvSpPr>
          <p:cNvPr id="323" name="Google Shape;323;p27"/>
          <p:cNvSpPr txBox="1"/>
          <p:nvPr>
            <p:ph idx="1" type="body"/>
          </p:nvPr>
        </p:nvSpPr>
        <p:spPr>
          <a:xfrm>
            <a:off x="1484310" y="1066800"/>
            <a:ext cx="10018713" cy="541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120015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1800"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sz="1800"/>
              <a:t>**Note: A static route usually always points towards the specific network, while default static route points towards outside the network where a border router is connected to the internet</a:t>
            </a:r>
            <a:endParaRPr/>
          </a:p>
        </p:txBody>
      </p:sp>
      <p:pic>
        <p:nvPicPr>
          <p:cNvPr id="324" name="Google Shape;3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t24.jpg" id="325" name="Google Shape;32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076" y="1096380"/>
            <a:ext cx="8839200" cy="43513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27"/>
          <p:cNvGrpSpPr/>
          <p:nvPr/>
        </p:nvGrpSpPr>
        <p:grpSpPr>
          <a:xfrm>
            <a:off x="3637876" y="1477380"/>
            <a:ext cx="7162800" cy="2679176"/>
            <a:chOff x="1600200" y="1600200"/>
            <a:chExt cx="7162800" cy="2678287"/>
          </a:xfrm>
        </p:grpSpPr>
        <p:sp>
          <p:nvSpPr>
            <p:cNvPr id="327" name="Google Shape;327;p27"/>
            <p:cNvSpPr txBox="1"/>
            <p:nvPr/>
          </p:nvSpPr>
          <p:spPr>
            <a:xfrm>
              <a:off x="1600200" y="1600200"/>
              <a:ext cx="7162800" cy="399917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 route 10.100.1.0 255.255.255.0 192.168.1.2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7"/>
            <p:cNvSpPr/>
            <p:nvPr/>
          </p:nvSpPr>
          <p:spPr>
            <a:xfrm rot="2252163">
              <a:off x="4756150" y="3015780"/>
              <a:ext cx="3024188" cy="38087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3399FF"/>
                </a:gs>
                <a:gs pos="16000">
                  <a:srgbClr val="00CCCC"/>
                </a:gs>
                <a:gs pos="47000">
                  <a:srgbClr val="9999FF"/>
                </a:gs>
                <a:gs pos="60001">
                  <a:srgbClr val="2E6792"/>
                </a:gs>
                <a:gs pos="71001">
                  <a:srgbClr val="3333CC"/>
                </a:gs>
                <a:gs pos="81000">
                  <a:srgbClr val="1170FF"/>
                </a:gs>
                <a:gs pos="100000">
                  <a:srgbClr val="006699"/>
                </a:gs>
              </a:gsLst>
              <a:lin ang="5400000" scaled="0"/>
            </a:gra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29" name="Google Shape;329;p27"/>
          <p:cNvGrpSpPr/>
          <p:nvPr/>
        </p:nvGrpSpPr>
        <p:grpSpPr>
          <a:xfrm>
            <a:off x="2342476" y="3123643"/>
            <a:ext cx="5715000" cy="1954187"/>
            <a:chOff x="304800" y="3246348"/>
            <a:chExt cx="5715000" cy="1954362"/>
          </a:xfrm>
        </p:grpSpPr>
        <p:sp>
          <p:nvSpPr>
            <p:cNvPr id="330" name="Google Shape;330;p27"/>
            <p:cNvSpPr txBox="1"/>
            <p:nvPr/>
          </p:nvSpPr>
          <p:spPr>
            <a:xfrm>
              <a:off x="304800" y="4800624"/>
              <a:ext cx="5715000" cy="400086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 route 0.0.0.0 0.0.0.0 192.168.1.1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7"/>
            <p:cNvSpPr/>
            <p:nvPr/>
          </p:nvSpPr>
          <p:spPr>
            <a:xfrm rot="-8712176">
              <a:off x="1379538" y="3836926"/>
              <a:ext cx="2189162" cy="38103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3399FF"/>
                </a:gs>
                <a:gs pos="16000">
                  <a:srgbClr val="00CCCC"/>
                </a:gs>
                <a:gs pos="47000">
                  <a:srgbClr val="9999FF"/>
                </a:gs>
                <a:gs pos="60001">
                  <a:srgbClr val="2E6792"/>
                </a:gs>
                <a:gs pos="71001">
                  <a:srgbClr val="3333CC"/>
                </a:gs>
                <a:gs pos="81000">
                  <a:srgbClr val="1170FF"/>
                </a:gs>
                <a:gs pos="100000">
                  <a:srgbClr val="006699"/>
                </a:gs>
              </a:gsLst>
              <a:lin ang="5400000" scaled="0"/>
            </a:gra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Verifying Default Static Route</a:t>
            </a:r>
            <a:endParaRPr/>
          </a:p>
        </p:txBody>
      </p:sp>
      <p:pic>
        <p:nvPicPr>
          <p:cNvPr id="337" name="Google Shape;3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t25.jpg" id="338" name="Google Shape;33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5167" y="2093912"/>
            <a:ext cx="8763000" cy="26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8"/>
          <p:cNvSpPr/>
          <p:nvPr/>
        </p:nvSpPr>
        <p:spPr>
          <a:xfrm>
            <a:off x="2181367" y="3313112"/>
            <a:ext cx="6781800" cy="30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2181367" y="4379912"/>
            <a:ext cx="4419600" cy="30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2129da5eb9_0_0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Floating Static Routing</a:t>
            </a:r>
            <a:endParaRPr/>
          </a:p>
        </p:txBody>
      </p:sp>
      <p:pic>
        <p:nvPicPr>
          <p:cNvPr id="346" name="Google Shape;346;g32129da5eb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2129da5eb9_0_0"/>
          <p:cNvSpPr txBox="1"/>
          <p:nvPr/>
        </p:nvSpPr>
        <p:spPr>
          <a:xfrm>
            <a:off x="6751782" y="6191976"/>
            <a:ext cx="452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https://study-ccna.com/floating-static-route/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g32129da5eb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7717" y="1392195"/>
            <a:ext cx="9120361" cy="450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129da5eb9_0_7"/>
          <p:cNvSpPr txBox="1"/>
          <p:nvPr/>
        </p:nvSpPr>
        <p:spPr>
          <a:xfrm>
            <a:off x="572310" y="4721552"/>
            <a:ext cx="7140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R1(config)#ip route 0.0.0.0 0.0.0.0 S0/0/0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54" name="Google Shape;354;g32129da5eb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659" y="1542319"/>
            <a:ext cx="5761032" cy="284495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2129da5eb9_0_7"/>
          <p:cNvSpPr txBox="1"/>
          <p:nvPr/>
        </p:nvSpPr>
        <p:spPr>
          <a:xfrm>
            <a:off x="6474691" y="1542319"/>
            <a:ext cx="59532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S* 0.0.0.0/0 is directly connected, S0/0/0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S* 0.0.0.0/0 is directly connected, S0/0/1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6" name="Google Shape;356;g32129da5eb9_0_7"/>
          <p:cNvSpPr txBox="1"/>
          <p:nvPr/>
        </p:nvSpPr>
        <p:spPr>
          <a:xfrm>
            <a:off x="6876472" y="2510213"/>
            <a:ext cx="51495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Both has same cost same AD. Which one to use?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7" name="Google Shape;357;g32129da5eb9_0_7"/>
          <p:cNvSpPr txBox="1"/>
          <p:nvPr/>
        </p:nvSpPr>
        <p:spPr>
          <a:xfrm>
            <a:off x="7453745" y="5191721"/>
            <a:ext cx="517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35"/>
              <a:buFont typeface="Arial"/>
              <a:buNone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8" name="Google Shape;358;g32129da5eb9_0_7"/>
          <p:cNvSpPr/>
          <p:nvPr/>
        </p:nvSpPr>
        <p:spPr>
          <a:xfrm flipH="1" rot="2116559">
            <a:off x="7731327" y="5451165"/>
            <a:ext cx="481026" cy="2182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2129da5eb9_0_7"/>
          <p:cNvSpPr txBox="1"/>
          <p:nvPr/>
        </p:nvSpPr>
        <p:spPr>
          <a:xfrm>
            <a:off x="8229599" y="5498796"/>
            <a:ext cx="15492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207142"/>
              <a:buFont typeface="Arial"/>
              <a:buNone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AD &gt; default Value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0" name="Google Shape;360;g32129da5eb9_0_7"/>
          <p:cNvSpPr/>
          <p:nvPr/>
        </p:nvSpPr>
        <p:spPr>
          <a:xfrm>
            <a:off x="858968" y="5144853"/>
            <a:ext cx="666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R1(config)#ip route 0.0.0.0 0.0.0.0 S0/0/1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2129da5eb9_0_7"/>
          <p:cNvSpPr txBox="1"/>
          <p:nvPr/>
        </p:nvSpPr>
        <p:spPr>
          <a:xfrm>
            <a:off x="6765636" y="1024772"/>
            <a:ext cx="51495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R1 Routing Table (Partial)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2" name="Google Shape;362;g32129da5eb9_0_7"/>
          <p:cNvSpPr/>
          <p:nvPr/>
        </p:nvSpPr>
        <p:spPr>
          <a:xfrm flipH="1" rot="-1204127">
            <a:off x="6998215" y="4378210"/>
            <a:ext cx="1473999" cy="24590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2129da5eb9_0_7"/>
          <p:cNvSpPr txBox="1"/>
          <p:nvPr/>
        </p:nvSpPr>
        <p:spPr>
          <a:xfrm>
            <a:off x="8565830" y="4290717"/>
            <a:ext cx="20097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Present in Routing Table</a:t>
            </a:r>
            <a:endParaRPr b="0" i="0" sz="1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4" name="Google Shape;364;g32129da5eb9_0_7"/>
          <p:cNvSpPr/>
          <p:nvPr/>
        </p:nvSpPr>
        <p:spPr>
          <a:xfrm flipH="1" rot="2530212">
            <a:off x="4407692" y="5688888"/>
            <a:ext cx="837883" cy="13593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2129da5eb9_0_7"/>
          <p:cNvSpPr txBox="1"/>
          <p:nvPr/>
        </p:nvSpPr>
        <p:spPr>
          <a:xfrm>
            <a:off x="5076345" y="5980419"/>
            <a:ext cx="24513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Present in Router Configuration File </a:t>
            </a:r>
            <a:endParaRPr b="0" i="0" sz="1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6" name="Google Shape;366;g32129da5eb9_0_7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Floating Default Static Routing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2129da5eb9_0_24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Floating Static Routing</a:t>
            </a:r>
            <a:endParaRPr/>
          </a:p>
        </p:txBody>
      </p:sp>
      <p:sp>
        <p:nvSpPr>
          <p:cNvPr id="372" name="Google Shape;372;g32129da5eb9_0_24"/>
          <p:cNvSpPr txBox="1"/>
          <p:nvPr>
            <p:ph idx="1" type="body"/>
          </p:nvPr>
        </p:nvSpPr>
        <p:spPr>
          <a:xfrm>
            <a:off x="1629399" y="1510145"/>
            <a:ext cx="101655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Create a </a:t>
            </a:r>
            <a:r>
              <a:rPr b="1" lang="en-US" sz="2800">
                <a:solidFill>
                  <a:srgbClr val="7D28CD"/>
                </a:solidFill>
              </a:rPr>
              <a:t>backup route </a:t>
            </a:r>
            <a:r>
              <a:rPr lang="en-US" sz="2800"/>
              <a:t>in case a primary route link fails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Uses </a:t>
            </a:r>
            <a:r>
              <a:rPr b="1" lang="en-US" sz="2800">
                <a:solidFill>
                  <a:srgbClr val="7D28CD"/>
                </a:solidFill>
              </a:rPr>
              <a:t>Administrative Distance </a:t>
            </a:r>
            <a:r>
              <a:rPr lang="en-US" sz="2800">
                <a:solidFill>
                  <a:srgbClr val="7D28CD"/>
                </a:solidFill>
              </a:rPr>
              <a:t>(AD)</a:t>
            </a:r>
            <a:endParaRPr sz="3200">
              <a:solidFill>
                <a:srgbClr val="7D28CD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The primary path has the default AD of 1 (but, may be configured to have a higher value)</a:t>
            </a:r>
            <a:endParaRPr sz="2800"/>
          </a:p>
          <a:p>
            <a:pPr indent="-28575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The value of AD of back up path is greater than the AD of primary path/route.</a:t>
            </a:r>
            <a:endParaRPr sz="2800"/>
          </a:p>
          <a:p>
            <a:pPr indent="-28575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Since the AD of primary path is lower, it means that primary path is more trustworthy and hence ignore the back up path unless the primary path is down.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The static route “floats” and is not used when the route with the better administrative distance is active. 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If the preferred route is lost then the floating static route can take over</a:t>
            </a:r>
            <a:endParaRPr sz="3200"/>
          </a:p>
        </p:txBody>
      </p:sp>
      <p:pic>
        <p:nvPicPr>
          <p:cNvPr id="373" name="Google Shape;373;g32129da5eb9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2129da5eb9_0_30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Configuring a Floating Static Route</a:t>
            </a:r>
            <a:endParaRPr/>
          </a:p>
        </p:txBody>
      </p:sp>
      <p:sp>
        <p:nvSpPr>
          <p:cNvPr id="380" name="Google Shape;380;g32129da5eb9_0_30"/>
          <p:cNvSpPr txBox="1"/>
          <p:nvPr>
            <p:ph idx="1" type="body"/>
          </p:nvPr>
        </p:nvSpPr>
        <p:spPr>
          <a:xfrm>
            <a:off x="1003110" y="4666134"/>
            <a:ext cx="11102400" cy="19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812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Branch(config)#ip route 209.165.200.224 255.255.255.248 S0/0/0</a:t>
            </a:r>
            <a:endParaRPr/>
          </a:p>
          <a:p>
            <a:pPr indent="-258127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Branch(config)#ip route 209.165.200.224 255.255.255.248 S0/0/1 5</a:t>
            </a:r>
            <a:endParaRPr/>
          </a:p>
          <a:p>
            <a:pPr indent="-263652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ct val="145000"/>
              <a:buChar char="•"/>
            </a:pPr>
            <a:r>
              <a:rPr lang="en-US" sz="1600"/>
              <a:t>*In other words, the AD has to be </a:t>
            </a:r>
            <a:r>
              <a:rPr b="1" lang="en-US" sz="1600"/>
              <a:t>more than </a:t>
            </a:r>
            <a:r>
              <a:rPr lang="en-US" sz="1600"/>
              <a:t>the AD of sthe primary route.</a:t>
            </a:r>
            <a:endParaRPr/>
          </a:p>
          <a:p>
            <a:pPr indent="-263652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ct val="145000"/>
              <a:buChar char="•"/>
            </a:pPr>
            <a:r>
              <a:rPr lang="en-US" sz="1600"/>
              <a:t>** A primary route may be set to have other AD values</a:t>
            </a:r>
            <a:endParaRPr/>
          </a:p>
          <a:p>
            <a:pPr indent="-263652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ct val="145000"/>
              <a:buChar char="•"/>
            </a:pPr>
            <a:r>
              <a:rPr lang="en-US" sz="1600"/>
              <a:t>**There can be </a:t>
            </a:r>
            <a:r>
              <a:rPr b="1" lang="en-US" sz="1600"/>
              <a:t>more than one </a:t>
            </a:r>
            <a:r>
              <a:rPr lang="en-US" sz="1600"/>
              <a:t>back up route, or, </a:t>
            </a:r>
            <a:r>
              <a:rPr b="1" lang="en-US" sz="1600"/>
              <a:t>a back up </a:t>
            </a:r>
            <a:r>
              <a:rPr lang="en-US" sz="1600"/>
              <a:t>of the back up route.</a:t>
            </a:r>
            <a:endParaRPr/>
          </a:p>
        </p:txBody>
      </p:sp>
      <p:pic>
        <p:nvPicPr>
          <p:cNvPr id="381" name="Google Shape;381;g32129da5eb9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ing and Switching Essentials - Mozilla Firefox" id="382" name="Google Shape;382;g32129da5eb9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3366" y="1018310"/>
            <a:ext cx="4800600" cy="364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2129da5eb9_0_30"/>
          <p:cNvSpPr/>
          <p:nvPr/>
        </p:nvSpPr>
        <p:spPr>
          <a:xfrm>
            <a:off x="10911385" y="5149954"/>
            <a:ext cx="297900" cy="30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4" name="Google Shape;384;g32129da5eb9_0_30"/>
          <p:cNvSpPr txBox="1"/>
          <p:nvPr/>
        </p:nvSpPr>
        <p:spPr>
          <a:xfrm>
            <a:off x="10824111" y="5416085"/>
            <a:ext cx="8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 &gt;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Commands to Verify Static Routes</a:t>
            </a:r>
            <a:endParaRPr/>
          </a:p>
        </p:txBody>
      </p:sp>
      <p:sp>
        <p:nvSpPr>
          <p:cNvPr id="390" name="Google Shape;390;p33"/>
          <p:cNvSpPr txBox="1"/>
          <p:nvPr>
            <p:ph idx="1" type="body"/>
          </p:nvPr>
        </p:nvSpPr>
        <p:spPr>
          <a:xfrm>
            <a:off x="1484310" y="1066801"/>
            <a:ext cx="10018713" cy="36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Along with </a:t>
            </a:r>
            <a:r>
              <a:rPr b="1" lang="en-US" sz="3600"/>
              <a:t>ping</a:t>
            </a:r>
            <a:r>
              <a:rPr lang="en-US" sz="3600"/>
              <a:t> and </a:t>
            </a:r>
            <a:r>
              <a:rPr b="1" lang="en-US" sz="3600"/>
              <a:t>traceroute</a:t>
            </a:r>
            <a:r>
              <a:rPr lang="en-US" sz="3600"/>
              <a:t>, useful commands to verify static routes include:</a:t>
            </a:r>
            <a:endParaRPr sz="36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show ip route</a:t>
            </a:r>
            <a:endParaRPr sz="32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show ip route static</a:t>
            </a:r>
            <a:endParaRPr sz="32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show ip route network</a:t>
            </a:r>
            <a:endParaRPr sz="3200"/>
          </a:p>
        </p:txBody>
      </p:sp>
      <p:pic>
        <p:nvPicPr>
          <p:cNvPr id="391" name="Google Shape;3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397" name="Google Shape;3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
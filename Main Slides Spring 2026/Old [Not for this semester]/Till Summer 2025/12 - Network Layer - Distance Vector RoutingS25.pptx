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6858000" cx="12192000"/>
  <p:notesSz cx="6858000" cy="9144000"/>
  <p:embeddedFontLst>
    <p:embeddedFont>
      <p:font typeface="Arimo"/>
      <p:regular r:id="rId36"/>
      <p:bold r:id="rId37"/>
      <p:italic r:id="rId38"/>
      <p:boldItalic r:id="rId39"/>
    </p:embeddedFont>
    <p:embeddedFont>
      <p:font typeface="Corbel"/>
      <p:regular r:id="rId40"/>
      <p:bold r:id="rId41"/>
      <p:italic r:id="rId42"/>
      <p:boldItalic r:id="rId43"/>
    </p:embeddedFont>
    <p:embeddedFont>
      <p:font typeface="Tahoma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6" roundtripDataSignature="AMtx7mim3mbY+b8ml4USl6YG1tCZx/d+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8C1001-B7D6-470B-A617-D53509635189}">
  <a:tblStyle styleId="{508C1001-B7D6-470B-A617-D5350963518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/>
      <a:tcStyle>
        <a:fill>
          <a:solidFill>
            <a:srgbClr val="CCE2F8"/>
          </a:solidFill>
        </a:fill>
      </a:tcStyle>
    </a:band1H>
    <a:band2H>
      <a:tcTxStyle/>
    </a:band2H>
    <a:band1V>
      <a:tcTxStyle/>
      <a:tcStyle>
        <a:fill>
          <a:solidFill>
            <a:srgbClr val="CCE2F8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regular.fntdata"/><Relationship Id="rId20" Type="http://schemas.openxmlformats.org/officeDocument/2006/relationships/slide" Target="slides/slide14.xml"/><Relationship Id="rId42" Type="http://schemas.openxmlformats.org/officeDocument/2006/relationships/font" Target="fonts/Corbel-italic.fntdata"/><Relationship Id="rId41" Type="http://schemas.openxmlformats.org/officeDocument/2006/relationships/font" Target="fonts/Corbel-bold.fntdata"/><Relationship Id="rId22" Type="http://schemas.openxmlformats.org/officeDocument/2006/relationships/slide" Target="slides/slide16.xml"/><Relationship Id="rId44" Type="http://schemas.openxmlformats.org/officeDocument/2006/relationships/font" Target="fonts/Tahoma-regular.fntdata"/><Relationship Id="rId21" Type="http://schemas.openxmlformats.org/officeDocument/2006/relationships/slide" Target="slides/slide15.xml"/><Relationship Id="rId43" Type="http://schemas.openxmlformats.org/officeDocument/2006/relationships/font" Target="fonts/Corbel-boldItalic.fntdata"/><Relationship Id="rId24" Type="http://schemas.openxmlformats.org/officeDocument/2006/relationships/slide" Target="slides/slide18.xml"/><Relationship Id="rId46" Type="http://customschemas.google.com/relationships/presentationmetadata" Target="metadata"/><Relationship Id="rId23" Type="http://schemas.openxmlformats.org/officeDocument/2006/relationships/slide" Target="slides/slide17.xml"/><Relationship Id="rId45" Type="http://schemas.openxmlformats.org/officeDocument/2006/relationships/font" Target="fonts/Tahom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Arimo-bold.fntdata"/><Relationship Id="rId14" Type="http://schemas.openxmlformats.org/officeDocument/2006/relationships/slide" Target="slides/slide8.xml"/><Relationship Id="rId36" Type="http://schemas.openxmlformats.org/officeDocument/2006/relationships/font" Target="fonts/Arimo-regular.fntdata"/><Relationship Id="rId17" Type="http://schemas.openxmlformats.org/officeDocument/2006/relationships/slide" Target="slides/slide11.xml"/><Relationship Id="rId39" Type="http://schemas.openxmlformats.org/officeDocument/2006/relationships/font" Target="fonts/Arimo-boldItalic.fntdata"/><Relationship Id="rId16" Type="http://schemas.openxmlformats.org/officeDocument/2006/relationships/slide" Target="slides/slide10.xml"/><Relationship Id="rId38" Type="http://schemas.openxmlformats.org/officeDocument/2006/relationships/font" Target="fonts/Arim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3" marL="16922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0000"/>
                </a:solidFill>
              </a:rPr>
              <a:t>Inefficient:</a:t>
            </a:r>
            <a:r>
              <a:rPr lang="en-US"/>
              <a:t>   Updates consume bandwidth and router CPU resources.</a:t>
            </a:r>
            <a:endParaRPr/>
          </a:p>
          <a:p>
            <a:pPr indent="-381000" lvl="3" marL="16922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Periodic updates are </a:t>
            </a:r>
            <a:r>
              <a:rPr lang="en-US">
                <a:solidFill>
                  <a:srgbClr val="FF0000"/>
                </a:solidFill>
              </a:rPr>
              <a:t>always sent</a:t>
            </a:r>
            <a:r>
              <a:rPr lang="en-US"/>
              <a:t> even there have been no changes for weeks or months.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Sends an update about network </a:t>
            </a:r>
            <a:r>
              <a:rPr lang="en-US">
                <a:solidFill>
                  <a:srgbClr val="FF0000"/>
                </a:solidFill>
              </a:rPr>
              <a:t>10.1.0.0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/>
              <a:t>out the </a:t>
            </a:r>
            <a:r>
              <a:rPr lang="en-US">
                <a:solidFill>
                  <a:srgbClr val="FF0000"/>
                </a:solidFill>
              </a:rPr>
              <a:t>Serial 0/0/0</a:t>
            </a:r>
            <a:r>
              <a:rPr lang="en-US"/>
              <a:t> interface with a metric of 1.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Sends an update about network </a:t>
            </a:r>
            <a:r>
              <a:rPr lang="en-US">
                <a:solidFill>
                  <a:srgbClr val="FF0000"/>
                </a:solidFill>
              </a:rPr>
              <a:t>10.2.0.0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/>
              <a:t>out the </a:t>
            </a:r>
            <a:r>
              <a:rPr lang="en-US">
                <a:solidFill>
                  <a:srgbClr val="FF0000"/>
                </a:solidFill>
              </a:rPr>
              <a:t>Fa0/0</a:t>
            </a:r>
            <a:r>
              <a:rPr lang="en-US"/>
              <a:t>  interface with a metric of 1.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Tahoma"/>
              <a:buNone/>
            </a:pPr>
            <a:r>
              <a:rPr lang="en-US">
                <a:solidFill>
                  <a:srgbClr val="FFFF00"/>
                </a:solidFill>
              </a:rPr>
              <a:t>Sends</a:t>
            </a:r>
            <a:r>
              <a:rPr lang="en-US"/>
              <a:t> an update about network </a:t>
            </a:r>
            <a:r>
              <a:rPr lang="en-US">
                <a:solidFill>
                  <a:srgbClr val="FFFF00"/>
                </a:solidFill>
              </a:rPr>
              <a:t>10.3.0.0 </a:t>
            </a:r>
            <a:r>
              <a:rPr lang="en-US"/>
              <a:t>out the </a:t>
            </a:r>
            <a:r>
              <a:rPr lang="en-US">
                <a:solidFill>
                  <a:srgbClr val="FFFF00"/>
                </a:solidFill>
              </a:rPr>
              <a:t>Serial 0/0/0 </a:t>
            </a:r>
            <a:r>
              <a:rPr lang="en-US"/>
              <a:t>interface with a metric of 1.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Tahoma"/>
              <a:buNone/>
            </a:pPr>
            <a:r>
              <a:rPr lang="en-US">
                <a:solidFill>
                  <a:srgbClr val="FFFF00"/>
                </a:solidFill>
              </a:rPr>
              <a:t>Sends</a:t>
            </a:r>
            <a:r>
              <a:rPr lang="en-US"/>
              <a:t> an update about network </a:t>
            </a:r>
            <a:r>
              <a:rPr lang="en-US">
                <a:solidFill>
                  <a:srgbClr val="FFFF00"/>
                </a:solidFill>
              </a:rPr>
              <a:t>10.2.0.0 </a:t>
            </a:r>
            <a:r>
              <a:rPr lang="en-US"/>
              <a:t>out the </a:t>
            </a:r>
            <a:r>
              <a:rPr lang="en-US">
                <a:solidFill>
                  <a:srgbClr val="FFFF00"/>
                </a:solidFill>
              </a:rPr>
              <a:t>Serial 0/0/1</a:t>
            </a:r>
            <a:r>
              <a:rPr lang="en-US"/>
              <a:t> interface with a metric of 1.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00"/>
                </a:solidFill>
              </a:rPr>
              <a:t>Sends</a:t>
            </a:r>
            <a:r>
              <a:rPr lang="en-US"/>
              <a:t> an update about network </a:t>
            </a:r>
            <a:r>
              <a:rPr lang="en-US">
                <a:solidFill>
                  <a:srgbClr val="FFFF00"/>
                </a:solidFill>
              </a:rPr>
              <a:t>10.4.0.0</a:t>
            </a:r>
            <a:r>
              <a:rPr lang="en-US"/>
              <a:t> out the </a:t>
            </a:r>
            <a:r>
              <a:rPr lang="en-US">
                <a:solidFill>
                  <a:srgbClr val="FFFF00"/>
                </a:solidFill>
              </a:rPr>
              <a:t>S0/0/0</a:t>
            </a:r>
            <a:r>
              <a:rPr lang="en-US"/>
              <a:t> interface with a metric of 1.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FFFF00"/>
                </a:solidFill>
              </a:rPr>
              <a:t>Sends</a:t>
            </a:r>
            <a:r>
              <a:rPr lang="en-US"/>
              <a:t> an update about network </a:t>
            </a:r>
            <a:r>
              <a:rPr lang="en-US">
                <a:solidFill>
                  <a:srgbClr val="FFFF00"/>
                </a:solidFill>
              </a:rPr>
              <a:t>10.3.0.0 </a:t>
            </a:r>
            <a:r>
              <a:rPr lang="en-US"/>
              <a:t>out the </a:t>
            </a:r>
            <a:r>
              <a:rPr lang="en-US">
                <a:solidFill>
                  <a:srgbClr val="FFFF00"/>
                </a:solidFill>
              </a:rPr>
              <a:t>Fa0/0 </a:t>
            </a:r>
            <a:r>
              <a:rPr lang="en-US"/>
              <a:t>interface with a metric of 1.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R1 Receives</a:t>
            </a:r>
            <a:r>
              <a:rPr lang="en-US"/>
              <a:t> the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10.3.0.0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/>
              <a:t>and adds it to its routing table.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R3 Receives</a:t>
            </a:r>
            <a:r>
              <a:rPr lang="en-US"/>
              <a:t> the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10.2.0.0 </a:t>
            </a:r>
            <a:r>
              <a:rPr lang="en-US"/>
              <a:t>and adds it to its routing table.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R2 Receives</a:t>
            </a:r>
            <a:r>
              <a:rPr lang="en-US"/>
              <a:t> the update </a:t>
            </a:r>
            <a:r>
              <a:rPr lang="en-US">
                <a:solidFill>
                  <a:srgbClr val="00B050"/>
                </a:solidFill>
              </a:rPr>
              <a:t>from R1 </a:t>
            </a:r>
            <a:r>
              <a:rPr lang="en-US"/>
              <a:t>about network </a:t>
            </a:r>
            <a:r>
              <a:rPr lang="en-US">
                <a:solidFill>
                  <a:srgbClr val="FF0000"/>
                </a:solidFill>
              </a:rPr>
              <a:t>10.1.0.0 </a:t>
            </a:r>
            <a:r>
              <a:rPr lang="en-US"/>
              <a:t>and adds it to its routing table.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R2 Receives</a:t>
            </a:r>
            <a:r>
              <a:rPr lang="en-US"/>
              <a:t> the update </a:t>
            </a:r>
            <a:r>
              <a:rPr lang="en-US">
                <a:solidFill>
                  <a:srgbClr val="00B050"/>
                </a:solidFill>
              </a:rPr>
              <a:t>from R3 </a:t>
            </a:r>
            <a:r>
              <a:rPr lang="en-US"/>
              <a:t>about network </a:t>
            </a:r>
            <a:r>
              <a:rPr lang="en-US">
                <a:solidFill>
                  <a:srgbClr val="FF0000"/>
                </a:solidFill>
              </a:rPr>
              <a:t>10.4.0.0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/>
              <a:t>and adds it to its routing table.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Sends an update about network </a:t>
            </a:r>
            <a:r>
              <a:rPr lang="en-US">
                <a:solidFill>
                  <a:srgbClr val="FF0000"/>
                </a:solidFill>
              </a:rPr>
              <a:t>10.1.0.0</a:t>
            </a:r>
            <a:r>
              <a:rPr lang="en-US"/>
              <a:t> out the S0/0/0 interface with a metric of 1  -  </a:t>
            </a:r>
            <a:r>
              <a:rPr lang="en-US">
                <a:solidFill>
                  <a:srgbClr val="FF0000"/>
                </a:solidFill>
              </a:rPr>
              <a:t>AGAIN!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solidFill>
                  <a:srgbClr val="00B050"/>
                </a:solidFill>
              </a:rPr>
              <a:t>When R2 receives the update</a:t>
            </a:r>
            <a:r>
              <a:rPr lang="en-US"/>
              <a:t>, there is </a:t>
            </a:r>
            <a:r>
              <a:rPr lang="en-US">
                <a:solidFill>
                  <a:srgbClr val="FF0000"/>
                </a:solidFill>
              </a:rPr>
              <a:t>no change</a:t>
            </a:r>
            <a:r>
              <a:rPr lang="en-US"/>
              <a:t> in information so the update is ignored.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7" name="Google Shape;53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1200"/>
              <a:t>Sends an update about networks </a:t>
            </a:r>
            <a:r>
              <a:rPr lang="en-US" sz="1200">
                <a:solidFill>
                  <a:srgbClr val="FF0000"/>
                </a:solidFill>
              </a:rPr>
              <a:t>10.3.0.0</a:t>
            </a:r>
            <a:r>
              <a:rPr lang="en-US" sz="1200"/>
              <a:t> with a metric of 1 and </a:t>
            </a:r>
            <a:r>
              <a:rPr lang="en-US" sz="1200">
                <a:solidFill>
                  <a:srgbClr val="FF0000"/>
                </a:solidFill>
              </a:rPr>
              <a:t>10.4.0.0</a:t>
            </a:r>
            <a:r>
              <a:rPr lang="en-US" sz="1200"/>
              <a:t> with a metric of 2 out the </a:t>
            </a:r>
            <a:r>
              <a:rPr lang="en-US" sz="1200">
                <a:solidFill>
                  <a:srgbClr val="FF0000"/>
                </a:solidFill>
              </a:rPr>
              <a:t>Serial 0/0/0</a:t>
            </a:r>
            <a:r>
              <a:rPr lang="en-US" sz="1200"/>
              <a:t> interface.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1200"/>
              <a:t>Similarly sends updates about networks </a:t>
            </a:r>
            <a:r>
              <a:rPr lang="en-US" sz="1200">
                <a:solidFill>
                  <a:srgbClr val="FF0000"/>
                </a:solidFill>
              </a:rPr>
              <a:t>10.1.0.0</a:t>
            </a:r>
            <a:r>
              <a:rPr lang="en-US" sz="1200"/>
              <a:t> with a metric of 2 and </a:t>
            </a:r>
            <a:r>
              <a:rPr lang="en-US" sz="1200">
                <a:solidFill>
                  <a:srgbClr val="FF0000"/>
                </a:solidFill>
              </a:rPr>
              <a:t>10.2.0.0</a:t>
            </a:r>
            <a:r>
              <a:rPr lang="en-US" sz="1200"/>
              <a:t> with a metric of 1 out the </a:t>
            </a:r>
            <a:r>
              <a:rPr lang="en-US" sz="1200">
                <a:solidFill>
                  <a:srgbClr val="FF0000"/>
                </a:solidFill>
              </a:rPr>
              <a:t>Serial 0/0/1</a:t>
            </a:r>
            <a:r>
              <a:rPr lang="en-US" sz="1200"/>
              <a:t> interface.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7" name="Google Shape;55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Char char="r"/>
            </a:pP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Sends an update about network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10.4.0.0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out the S0/0/0 interface with a metric of 1  - 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AGAIN!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Char char="r"/>
            </a:pPr>
            <a:r>
              <a:rPr b="0" i="0" lang="en-US" sz="1200" u="none" cap="none" strike="noStrike">
                <a:solidFill>
                  <a:srgbClr val="00B050"/>
                </a:solidFill>
                <a:latin typeface="Corbel"/>
                <a:ea typeface="Corbel"/>
                <a:cs typeface="Corbel"/>
                <a:sym typeface="Corbel"/>
              </a:rPr>
              <a:t>When R2 receives the update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, there is </a:t>
            </a:r>
            <a:r>
              <a:rPr b="0" i="0" lang="en-US" sz="12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no change</a:t>
            </a: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in information so the update is ignored.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177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2" name="Google Shape;59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R1 receives</a:t>
            </a:r>
            <a:r>
              <a:rPr lang="en-US"/>
              <a:t> an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10.3.0.0</a:t>
            </a:r>
            <a:r>
              <a:rPr lang="en-US"/>
              <a:t> and there is no change – </a:t>
            </a:r>
            <a:r>
              <a:rPr lang="en-US">
                <a:solidFill>
                  <a:srgbClr val="FF0000"/>
                </a:solidFill>
              </a:rPr>
              <a:t>update ignored</a:t>
            </a:r>
            <a:r>
              <a:rPr lang="en-US"/>
              <a:t>.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R1 receives</a:t>
            </a:r>
            <a:r>
              <a:rPr lang="en-US"/>
              <a:t> an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10.4.0.0 (new)</a:t>
            </a:r>
            <a:r>
              <a:rPr lang="en-US"/>
              <a:t> and </a:t>
            </a:r>
            <a:r>
              <a:rPr lang="en-US">
                <a:solidFill>
                  <a:srgbClr val="FF0000"/>
                </a:solidFill>
              </a:rPr>
              <a:t>adds it to its routing table.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2" name="Google Shape;61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R3 receives</a:t>
            </a:r>
            <a:r>
              <a:rPr lang="en-US"/>
              <a:t> an update </a:t>
            </a:r>
            <a:r>
              <a:rPr lang="en-US">
                <a:solidFill>
                  <a:srgbClr val="FF9900"/>
                </a:solidFill>
              </a:rPr>
              <a:t>from R2 </a:t>
            </a:r>
            <a:r>
              <a:rPr lang="en-US"/>
              <a:t>about network </a:t>
            </a:r>
            <a:r>
              <a:rPr lang="en-US">
                <a:solidFill>
                  <a:srgbClr val="FF0000"/>
                </a:solidFill>
              </a:rPr>
              <a:t>10.2.0.0</a:t>
            </a:r>
            <a:r>
              <a:rPr lang="en-US"/>
              <a:t> and there is no change – </a:t>
            </a:r>
            <a:r>
              <a:rPr lang="en-US">
                <a:solidFill>
                  <a:srgbClr val="FF0000"/>
                </a:solidFill>
              </a:rPr>
              <a:t>update ignored</a:t>
            </a:r>
            <a:r>
              <a:rPr lang="en-US"/>
              <a:t>.</a:t>
            </a:r>
            <a:endParaRPr/>
          </a:p>
          <a:p>
            <a:pPr indent="-342900" lvl="1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>
                <a:solidFill>
                  <a:srgbClr val="FF0000"/>
                </a:solidFill>
              </a:rPr>
              <a:t>R3 receives</a:t>
            </a:r>
            <a:r>
              <a:rPr lang="en-US"/>
              <a:t> an update </a:t>
            </a:r>
            <a:r>
              <a:rPr lang="en-US">
                <a:solidFill>
                  <a:srgbClr val="FF9900"/>
                </a:solidFill>
              </a:rPr>
              <a:t>from R2</a:t>
            </a:r>
            <a:r>
              <a:rPr lang="en-US"/>
              <a:t> about network </a:t>
            </a:r>
            <a:r>
              <a:rPr lang="en-US">
                <a:solidFill>
                  <a:srgbClr val="FF0000"/>
                </a:solidFill>
              </a:rPr>
              <a:t>10.1.0.0 (new)</a:t>
            </a:r>
            <a:r>
              <a:rPr lang="en-US"/>
              <a:t> and </a:t>
            </a:r>
            <a:r>
              <a:rPr lang="en-US">
                <a:solidFill>
                  <a:srgbClr val="FF0000"/>
                </a:solidFill>
              </a:rPr>
              <a:t>adds it to its routing table.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4" name="Google Shape;63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2" name="Google Shape;65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0" name="Google Shape;660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8" name="Google Shape;66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45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45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45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45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45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45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45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45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5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6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4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6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0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5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1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4" name="Google Shape;54;p51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5" name="Google Shape;55;p51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6" name="Google Shape;56;p51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7" name="Google Shape;57;p5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2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2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63" name="Google Shape;63;p52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64" name="Google Shape;64;p5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3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3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53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1" name="Google Shape;71;p5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4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4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4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8" name="Google Shape;78;p5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5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4" name="Google Shape;84;p5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6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6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6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6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92" name="Google Shape;92;p56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5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7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7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5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8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8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8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8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7" name="Google Shape;107;p58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5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9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9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4" name="Google Shape;114;p59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5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60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1" name="Google Shape;121;p6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6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1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1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7" name="Google Shape;127;p6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4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44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44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44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44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44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44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4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44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Relationship Id="rId4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12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36" name="Google Shape;13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"/>
          <p:cNvSpPr txBox="1"/>
          <p:nvPr>
            <p:ph type="ctrTitle"/>
          </p:nvPr>
        </p:nvSpPr>
        <p:spPr>
          <a:xfrm>
            <a:off x="2928400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</a:t>
            </a:r>
            <a:br>
              <a:rPr lang="en-US"/>
            </a:br>
            <a:r>
              <a:rPr lang="en-US" sz="3200"/>
              <a:t>Routing Algorithm</a:t>
            </a:r>
            <a:br>
              <a:rPr lang="en-US" sz="2800"/>
            </a:br>
            <a:r>
              <a:rPr b="1" i="1" lang="en-US" sz="2400"/>
              <a:t>Distance Vector Routing</a:t>
            </a:r>
            <a:endParaRPr b="1" i="1"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 txBox="1"/>
          <p:nvPr>
            <p:ph type="title"/>
          </p:nvPr>
        </p:nvSpPr>
        <p:spPr>
          <a:xfrm>
            <a:off x="1591925" y="545536"/>
            <a:ext cx="10018713" cy="122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44" name="Google Shape;144;p2"/>
          <p:cNvSpPr txBox="1"/>
          <p:nvPr>
            <p:ph idx="1" type="body"/>
          </p:nvPr>
        </p:nvSpPr>
        <p:spPr>
          <a:xfrm>
            <a:off x="1591925" y="1768839"/>
            <a:ext cx="10018713" cy="4751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9092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55"/>
              <a:buFont typeface="Arial"/>
              <a:buChar char="•"/>
            </a:pPr>
            <a:r>
              <a:rPr lang="en-US" sz="3900"/>
              <a:t>understand principles behind network layer services:</a:t>
            </a:r>
            <a:endParaRPr/>
          </a:p>
          <a:p>
            <a:pPr indent="-322262" lvl="1" marL="742950" rtl="0" algn="l">
              <a:lnSpc>
                <a:spcPct val="100000"/>
              </a:lnSpc>
              <a:spcBef>
                <a:spcPts val="1195"/>
              </a:spcBef>
              <a:spcAft>
                <a:spcPts val="0"/>
              </a:spcAft>
              <a:buSzPts val="5075"/>
              <a:buFont typeface="Arial"/>
              <a:buChar char="•"/>
            </a:pPr>
            <a:r>
              <a:rPr lang="en-US" sz="4000"/>
              <a:t>routing algorithms</a:t>
            </a:r>
            <a:endParaRPr sz="2800"/>
          </a:p>
          <a:p>
            <a:pPr indent="-285750" lvl="2" marL="1200150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SzPts val="4350"/>
              <a:buChar char="•"/>
            </a:pPr>
            <a:r>
              <a:rPr b="1" lang="en-US" sz="3600"/>
              <a:t>distance vector</a:t>
            </a:r>
            <a:endParaRPr sz="2400"/>
          </a:p>
          <a:p>
            <a:pPr indent="-285750" lvl="2" marL="1200150" rtl="0" algn="l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SzPts val="4350"/>
              <a:buChar char="•"/>
            </a:pPr>
            <a:r>
              <a:rPr b="1" lang="en-US" sz="3600"/>
              <a:t>link state</a:t>
            </a:r>
            <a:endParaRPr b="1" sz="3600"/>
          </a:p>
          <a:p>
            <a:pPr indent="0" lvl="0" marL="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145" name="Google Shape;145;p2"/>
          <p:cNvSpPr txBox="1"/>
          <p:nvPr>
            <p:ph idx="12" type="sldNum"/>
          </p:nvPr>
        </p:nvSpPr>
        <p:spPr>
          <a:xfrm>
            <a:off x="11176708" y="6047013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 txBox="1"/>
          <p:nvPr>
            <p:ph type="title"/>
          </p:nvPr>
        </p:nvSpPr>
        <p:spPr>
          <a:xfrm>
            <a:off x="1484310" y="124098"/>
            <a:ext cx="10018713" cy="9181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Autonomous Systems</a:t>
            </a:r>
            <a:endParaRPr/>
          </a:p>
        </p:txBody>
      </p:sp>
      <p:sp>
        <p:nvSpPr>
          <p:cNvPr id="152" name="Google Shape;152;p4"/>
          <p:cNvSpPr txBox="1"/>
          <p:nvPr>
            <p:ph idx="1" type="body"/>
          </p:nvPr>
        </p:nvSpPr>
        <p:spPr>
          <a:xfrm>
            <a:off x="1340619" y="1338489"/>
            <a:ext cx="10018713" cy="4711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94640" lvl="0" marL="2857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3200">
                <a:latin typeface="Arimo"/>
                <a:ea typeface="Arimo"/>
                <a:cs typeface="Arimo"/>
                <a:sym typeface="Arimo"/>
              </a:rPr>
              <a:t>Internet is divided into autonomous systems (AS). </a:t>
            </a:r>
            <a:endParaRPr sz="3200">
              <a:latin typeface="Arimo"/>
              <a:ea typeface="Arimo"/>
              <a:cs typeface="Arimo"/>
              <a:sym typeface="Arimo"/>
            </a:endParaRPr>
          </a:p>
          <a:p>
            <a:pPr indent="-294640" lvl="0" marL="285750" rtl="0" algn="just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56756"/>
              <a:buChar char="•"/>
            </a:pPr>
            <a:r>
              <a:rPr lang="en-US" sz="3200">
                <a:latin typeface="Arimo"/>
                <a:ea typeface="Arimo"/>
                <a:cs typeface="Arimo"/>
                <a:sym typeface="Arimo"/>
              </a:rPr>
              <a:t>An AS = a group of networks and routers controlled by one organization. </a:t>
            </a:r>
            <a:endParaRPr sz="3200">
              <a:latin typeface="Arimo"/>
              <a:ea typeface="Arimo"/>
              <a:cs typeface="Arimo"/>
              <a:sym typeface="Arimo"/>
            </a:endParaRPr>
          </a:p>
          <a:p>
            <a:pPr indent="0" lvl="0" marL="285750" rtl="0" algn="just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 sz="3200">
              <a:latin typeface="Arimo"/>
              <a:ea typeface="Arimo"/>
              <a:cs typeface="Arimo"/>
              <a:sym typeface="Arimo"/>
            </a:endParaRPr>
          </a:p>
          <a:p>
            <a:pPr indent="-294640" lvl="0" marL="285750" rtl="0" algn="just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56756"/>
              <a:buChar char="•"/>
            </a:pPr>
            <a:r>
              <a:rPr lang="en-US" sz="3200">
                <a:latin typeface="Arimo"/>
                <a:ea typeface="Arimo"/>
                <a:cs typeface="Arimo"/>
                <a:sym typeface="Arimo"/>
              </a:rPr>
              <a:t>Routing </a:t>
            </a:r>
            <a:r>
              <a:rPr b="1" i="1" lang="en-US" sz="3200">
                <a:solidFill>
                  <a:srgbClr val="7D28CD"/>
                </a:solidFill>
                <a:latin typeface="Arimo"/>
                <a:ea typeface="Arimo"/>
                <a:cs typeface="Arimo"/>
                <a:sym typeface="Arimo"/>
              </a:rPr>
              <a:t>inside</a:t>
            </a:r>
            <a:r>
              <a:rPr lang="en-US" sz="3200">
                <a:latin typeface="Arimo"/>
                <a:ea typeface="Arimo"/>
                <a:cs typeface="Arimo"/>
                <a:sym typeface="Arimo"/>
              </a:rPr>
              <a:t> an autonomous systems(AS) is called </a:t>
            </a:r>
            <a:r>
              <a:rPr b="1" lang="en-US" sz="3200">
                <a:solidFill>
                  <a:srgbClr val="1186C3"/>
                </a:solidFill>
                <a:latin typeface="Arimo"/>
                <a:ea typeface="Arimo"/>
                <a:cs typeface="Arimo"/>
                <a:sym typeface="Arimo"/>
              </a:rPr>
              <a:t>intra-domain routing</a:t>
            </a:r>
            <a:r>
              <a:rPr lang="en-US" sz="3200">
                <a:solidFill>
                  <a:srgbClr val="1186C3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r>
              <a:rPr lang="en-US" sz="3200">
                <a:latin typeface="Arimo"/>
                <a:ea typeface="Arimo"/>
                <a:cs typeface="Arimo"/>
                <a:sym typeface="Arimo"/>
              </a:rPr>
              <a:t> </a:t>
            </a:r>
            <a:endParaRPr sz="3200">
              <a:latin typeface="Arimo"/>
              <a:ea typeface="Arimo"/>
              <a:cs typeface="Arimo"/>
              <a:sym typeface="Arimo"/>
            </a:endParaRPr>
          </a:p>
          <a:p>
            <a:pPr indent="0" lvl="0" marL="285750" rtl="0" algn="just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 sz="3200">
              <a:latin typeface="Arimo"/>
              <a:ea typeface="Arimo"/>
              <a:cs typeface="Arimo"/>
              <a:sym typeface="Arimo"/>
            </a:endParaRPr>
          </a:p>
          <a:p>
            <a:pPr indent="-294640" lvl="0" marL="285750" rtl="0" algn="just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56756"/>
              <a:buChar char="•"/>
            </a:pPr>
            <a:r>
              <a:rPr lang="en-US" sz="3200">
                <a:latin typeface="Arimo"/>
                <a:ea typeface="Arimo"/>
                <a:cs typeface="Arimo"/>
                <a:sym typeface="Arimo"/>
              </a:rPr>
              <a:t>Routing </a:t>
            </a:r>
            <a:r>
              <a:rPr b="1" i="1" lang="en-US" sz="3200">
                <a:solidFill>
                  <a:srgbClr val="7D28CD"/>
                </a:solidFill>
                <a:latin typeface="Arimo"/>
                <a:ea typeface="Arimo"/>
                <a:cs typeface="Arimo"/>
                <a:sym typeface="Arimo"/>
              </a:rPr>
              <a:t>between</a:t>
            </a:r>
            <a:r>
              <a:rPr lang="en-US" sz="3200">
                <a:latin typeface="Arimo"/>
                <a:ea typeface="Arimo"/>
                <a:cs typeface="Arimo"/>
                <a:sym typeface="Arimo"/>
              </a:rPr>
              <a:t> autonomous systems(AS) is called </a:t>
            </a:r>
            <a:r>
              <a:rPr b="1" lang="en-US" sz="3200">
                <a:solidFill>
                  <a:srgbClr val="1186C3"/>
                </a:solidFill>
                <a:latin typeface="Arimo"/>
                <a:ea typeface="Arimo"/>
                <a:cs typeface="Arimo"/>
                <a:sym typeface="Arimo"/>
              </a:rPr>
              <a:t>inter-domain routing.</a:t>
            </a:r>
            <a:endParaRPr b="1" sz="3200">
              <a:solidFill>
                <a:srgbClr val="1186C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/>
          <p:nvPr>
            <p:ph type="title"/>
          </p:nvPr>
        </p:nvSpPr>
        <p:spPr>
          <a:xfrm>
            <a:off x="1484310" y="263524"/>
            <a:ext cx="10018713" cy="955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Autonomous Systems</a:t>
            </a:r>
            <a:endParaRPr/>
          </a:p>
        </p:txBody>
      </p:sp>
      <p:sp>
        <p:nvSpPr>
          <p:cNvPr id="160" name="Google Shape;160;p5"/>
          <p:cNvSpPr txBox="1"/>
          <p:nvPr>
            <p:ph idx="12" type="sldNum"/>
          </p:nvPr>
        </p:nvSpPr>
        <p:spPr>
          <a:xfrm>
            <a:off x="10951856" y="6049693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1" name="Google Shape;1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3527" y="1460827"/>
            <a:ext cx="8624616" cy="477142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9368850" y="2323475"/>
            <a:ext cx="13790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RIP/ OSPF</a:t>
            </a:r>
            <a:endParaRPr b="1" i="0" sz="1800" u="none" cap="none" strike="noStrike">
              <a:solidFill>
                <a:schemeClr val="accen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>
            <p:ph type="title"/>
          </p:nvPr>
        </p:nvSpPr>
        <p:spPr>
          <a:xfrm>
            <a:off x="1591925" y="128309"/>
            <a:ext cx="10018713" cy="9384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Popular Routing Protocols</a:t>
            </a:r>
            <a:endParaRPr/>
          </a:p>
        </p:txBody>
      </p:sp>
      <p:sp>
        <p:nvSpPr>
          <p:cNvPr id="169" name="Google Shape;169;p3"/>
          <p:cNvSpPr txBox="1"/>
          <p:nvPr>
            <p:ph idx="12" type="sldNum"/>
          </p:nvPr>
        </p:nvSpPr>
        <p:spPr>
          <a:xfrm>
            <a:off x="11290174" y="612355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0" name="Google Shape;1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uting Protocols » CS Taleem" id="171" name="Google Shape;17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3932" y="1087638"/>
            <a:ext cx="7432765" cy="521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>
            <p:ph type="title"/>
          </p:nvPr>
        </p:nvSpPr>
        <p:spPr>
          <a:xfrm>
            <a:off x="1433578" y="0"/>
            <a:ext cx="10018713" cy="122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Routing Algorithms</a:t>
            </a:r>
            <a:endParaRPr/>
          </a:p>
        </p:txBody>
      </p:sp>
      <p:sp>
        <p:nvSpPr>
          <p:cNvPr id="178" name="Google Shape;178;p6"/>
          <p:cNvSpPr txBox="1"/>
          <p:nvPr>
            <p:ph idx="1" type="body"/>
          </p:nvPr>
        </p:nvSpPr>
        <p:spPr>
          <a:xfrm>
            <a:off x="755903" y="1572896"/>
            <a:ext cx="7016497" cy="4278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14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3600"/>
              <a:t>Given a set of routers and links connecting the routers.</a:t>
            </a:r>
            <a:endParaRPr/>
          </a:p>
          <a:p>
            <a:pPr indent="0" lvl="0" marL="28575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 sz="3600"/>
          </a:p>
          <a:p>
            <a:pPr indent="-331470" lvl="0" marL="28575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Char char="•"/>
            </a:pPr>
            <a:r>
              <a:rPr lang="en-US" sz="3600"/>
              <a:t>Routing algorithm finds a “</a:t>
            </a:r>
            <a:r>
              <a:rPr lang="en-US" sz="3600">
                <a:solidFill>
                  <a:srgbClr val="FF0000"/>
                </a:solidFill>
              </a:rPr>
              <a:t>good</a:t>
            </a:r>
            <a:r>
              <a:rPr lang="en-US" sz="3600"/>
              <a:t>” path from the source to destination router.</a:t>
            </a:r>
            <a:endParaRPr/>
          </a:p>
          <a:p>
            <a:pPr indent="0" lvl="0" marL="28575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 sz="3600"/>
          </a:p>
          <a:p>
            <a:pPr indent="-331470" lvl="0" marL="28575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ct val="156756"/>
              <a:buChar char="•"/>
            </a:pPr>
            <a:r>
              <a:rPr lang="en-US" sz="3600"/>
              <a:t>Good path = Least cost path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 txBox="1"/>
          <p:nvPr>
            <p:ph idx="12" type="sldNum"/>
          </p:nvPr>
        </p:nvSpPr>
        <p:spPr>
          <a:xfrm>
            <a:off x="11176708" y="6047013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0" name="Google Shape;18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2314375"/>
            <a:ext cx="4171668" cy="274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 txBox="1"/>
          <p:nvPr>
            <p:ph type="title"/>
          </p:nvPr>
        </p:nvSpPr>
        <p:spPr>
          <a:xfrm>
            <a:off x="1157995" y="140166"/>
            <a:ext cx="10018713" cy="122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Routing Algorithm classification</a:t>
            </a:r>
            <a:endParaRPr/>
          </a:p>
        </p:txBody>
      </p:sp>
      <p:sp>
        <p:nvSpPr>
          <p:cNvPr id="188" name="Google Shape;188;p8"/>
          <p:cNvSpPr txBox="1"/>
          <p:nvPr>
            <p:ph idx="1" type="body"/>
          </p:nvPr>
        </p:nvSpPr>
        <p:spPr>
          <a:xfrm>
            <a:off x="1310045" y="1346052"/>
            <a:ext cx="10018800" cy="5394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ct val="145000"/>
              <a:buFont typeface="Arial"/>
              <a:buNone/>
            </a:pPr>
            <a:r>
              <a:rPr b="1" lang="en-US" sz="3900">
                <a:solidFill>
                  <a:srgbClr val="7D28CD"/>
                </a:solidFill>
              </a:rPr>
              <a:t>Global:</a:t>
            </a:r>
            <a:endParaRPr/>
          </a:p>
          <a:p>
            <a:pPr indent="-394373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/>
              <a:t>Every router knows the whole network (all nodes, all links, and their costs).</a:t>
            </a:r>
            <a:endParaRPr sz="3800"/>
          </a:p>
          <a:p>
            <a:pPr indent="-394373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/>
              <a:t>Each router builds a complete map (topology).</a:t>
            </a:r>
            <a:endParaRPr sz="3800"/>
          </a:p>
          <a:p>
            <a:pPr indent="-394373" lvl="0" marL="457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/>
              <a:t>Uses </a:t>
            </a:r>
            <a:r>
              <a:rPr b="1" lang="en-US" sz="3300">
                <a:solidFill>
                  <a:srgbClr val="1186C3"/>
                </a:solidFill>
              </a:rPr>
              <a:t>link state algorithms </a:t>
            </a:r>
            <a:r>
              <a:rPr lang="en-US" sz="3300"/>
              <a:t>(like Dijkstra’s shortest path).</a:t>
            </a:r>
            <a:endParaRPr sz="3800"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20000"/>
              <a:buNone/>
            </a:pPr>
            <a:br>
              <a:rPr lang="en-US" sz="3200"/>
            </a:br>
            <a:r>
              <a:rPr b="1" lang="en-US" sz="3900">
                <a:solidFill>
                  <a:srgbClr val="7D28CD"/>
                </a:solidFill>
              </a:rPr>
              <a:t>Decentralized:</a:t>
            </a:r>
            <a:r>
              <a:rPr b="1" lang="en-US" sz="2600">
                <a:solidFill>
                  <a:srgbClr val="7D28CD"/>
                </a:solidFill>
              </a:rPr>
              <a:t> </a:t>
            </a:r>
            <a:endParaRPr b="1" sz="3000">
              <a:solidFill>
                <a:srgbClr val="7D28CD"/>
              </a:solidFill>
            </a:endParaRPr>
          </a:p>
          <a:p>
            <a:pPr indent="-394373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/>
              <a:t>Each router only knows about its neighbors and the cost to reach them.</a:t>
            </a:r>
            <a:endParaRPr sz="3800"/>
          </a:p>
          <a:p>
            <a:pPr indent="-394373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/>
              <a:t>Routers share information with neighbors and update step by step.</a:t>
            </a:r>
            <a:endParaRPr sz="3800"/>
          </a:p>
          <a:p>
            <a:pPr indent="-394373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lang="en-US" sz="3300"/>
              <a:t>Uses </a:t>
            </a:r>
            <a:r>
              <a:rPr b="1" lang="en-US" sz="3300">
                <a:solidFill>
                  <a:srgbClr val="1186C3"/>
                </a:solidFill>
              </a:rPr>
              <a:t>distance vector algorithms</a:t>
            </a:r>
            <a:r>
              <a:rPr lang="en-US" sz="3300"/>
              <a:t> (like Bellman-Ford).</a:t>
            </a:r>
            <a:endParaRPr sz="3800"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5241"/>
              <a:buNone/>
            </a:pPr>
            <a:br>
              <a:rPr lang="en-US" sz="3200"/>
            </a:br>
            <a:endParaRPr b="1">
              <a:solidFill>
                <a:srgbClr val="1186C3"/>
              </a:solidFill>
            </a:endParaRPr>
          </a:p>
        </p:txBody>
      </p:sp>
      <p:sp>
        <p:nvSpPr>
          <p:cNvPr id="189" name="Google Shape;189;p8"/>
          <p:cNvSpPr txBox="1"/>
          <p:nvPr>
            <p:ph idx="12" type="sldNum"/>
          </p:nvPr>
        </p:nvSpPr>
        <p:spPr>
          <a:xfrm>
            <a:off x="11176708" y="6047013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0" name="Google Shape;1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Distance Vector Algorithm</a:t>
            </a:r>
            <a:endParaRPr/>
          </a:p>
        </p:txBody>
      </p:sp>
      <p:sp>
        <p:nvSpPr>
          <p:cNvPr id="196" name="Google Shape;196;p12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"/>
          <p:cNvSpPr txBox="1"/>
          <p:nvPr>
            <p:ph idx="4294967295" type="title"/>
          </p:nvPr>
        </p:nvSpPr>
        <p:spPr>
          <a:xfrm>
            <a:off x="1484310" y="0"/>
            <a:ext cx="10018713" cy="1115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400"/>
              <a:t>Distance vector algorithm </a:t>
            </a:r>
            <a:endParaRPr sz="4400"/>
          </a:p>
        </p:txBody>
      </p:sp>
      <p:sp>
        <p:nvSpPr>
          <p:cNvPr id="203" name="Google Shape;203;p7"/>
          <p:cNvSpPr txBox="1"/>
          <p:nvPr>
            <p:ph idx="4294967295" type="body"/>
          </p:nvPr>
        </p:nvSpPr>
        <p:spPr>
          <a:xfrm>
            <a:off x="1126653" y="1066088"/>
            <a:ext cx="10376369" cy="5609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Based on </a:t>
            </a:r>
            <a:r>
              <a:rPr b="1" lang="en-US" sz="3600"/>
              <a:t>Bellman-Ford Algorithm</a:t>
            </a:r>
            <a:r>
              <a:rPr lang="en-US" sz="3600"/>
              <a:t>.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Each router finds </a:t>
            </a:r>
            <a:r>
              <a:rPr b="1" lang="en-US" sz="3600"/>
              <a:t>shortest paths</a:t>
            </a:r>
            <a:r>
              <a:rPr lang="en-US" sz="3600"/>
              <a:t> to all destinations.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Shortest path cost can be: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Hop count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Link delay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Bandwidth</a:t>
            </a:r>
            <a:endParaRPr sz="3200"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Uses a </a:t>
            </a:r>
            <a:r>
              <a:rPr b="1" lang="en-US" sz="3600"/>
              <a:t>weighted network (topology)</a:t>
            </a:r>
            <a:r>
              <a:rPr lang="en-US" sz="3600"/>
              <a:t>.</a:t>
            </a:r>
            <a:endParaRPr/>
          </a:p>
          <a:p>
            <a:pPr indent="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istance Vector Routing Algorithm | Example | Gate Vidyalay" id="205" name="Google Shape;20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57" y="2677386"/>
            <a:ext cx="3593465" cy="280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 txBox="1"/>
          <p:nvPr>
            <p:ph idx="4294967295" type="title"/>
          </p:nvPr>
        </p:nvSpPr>
        <p:spPr>
          <a:xfrm>
            <a:off x="1366745" y="0"/>
            <a:ext cx="10018713" cy="1115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/>
              <a:t>How Does It Work?</a:t>
            </a:r>
            <a:endParaRPr/>
          </a:p>
        </p:txBody>
      </p:sp>
      <p:sp>
        <p:nvSpPr>
          <p:cNvPr id="212" name="Google Shape;212;p9"/>
          <p:cNvSpPr txBox="1"/>
          <p:nvPr>
            <p:ph idx="4294967295" type="body"/>
          </p:nvPr>
        </p:nvSpPr>
        <p:spPr>
          <a:xfrm>
            <a:off x="880985" y="1358856"/>
            <a:ext cx="9825202" cy="42812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Each router keeps a </a:t>
            </a:r>
            <a:r>
              <a:rPr b="1" lang="en-US" sz="3600">
                <a:solidFill>
                  <a:srgbClr val="1186C3"/>
                </a:solidFill>
              </a:rPr>
              <a:t>Distance Vector (table)</a:t>
            </a:r>
            <a:r>
              <a:rPr lang="en-US" sz="3600"/>
              <a:t>.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Router </a:t>
            </a:r>
            <a:r>
              <a:rPr b="1" lang="en-US" sz="3600">
                <a:solidFill>
                  <a:srgbClr val="1186C3"/>
                </a:solidFill>
              </a:rPr>
              <a:t>shares its table</a:t>
            </a:r>
            <a:r>
              <a:rPr lang="en-US" sz="3600">
                <a:solidFill>
                  <a:srgbClr val="1186C3"/>
                </a:solidFill>
              </a:rPr>
              <a:t> </a:t>
            </a:r>
            <a:r>
              <a:rPr lang="en-US" sz="3600"/>
              <a:t>with neighbors regularly.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When a router gets a table from a neighbor, it </a:t>
            </a:r>
            <a:r>
              <a:rPr b="1" lang="en-US" sz="3600">
                <a:solidFill>
                  <a:srgbClr val="1186C3"/>
                </a:solidFill>
              </a:rPr>
              <a:t>updates its own table</a:t>
            </a:r>
            <a:r>
              <a:rPr lang="en-US" sz="3600">
                <a:solidFill>
                  <a:srgbClr val="1186C3"/>
                </a:solidFill>
              </a:rPr>
              <a:t> </a:t>
            </a:r>
            <a:r>
              <a:rPr lang="en-US" sz="3600"/>
              <a:t>using the Bellman-Ford rule.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600"/>
              <a:t>Repeat until all routers know the shortest paths.</a:t>
            </a:r>
            <a:endParaRPr sz="3600"/>
          </a:p>
        </p:txBody>
      </p:sp>
      <p:sp>
        <p:nvSpPr>
          <p:cNvPr id="213" name="Google Shape;213;p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Distance Vector Routing (DVR) Protocol ..." id="219" name="Google Shape;219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stance Vector Routing Algorithm | Example | Gate Vidyalay" id="220" name="Google Shape;22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1066" y="2180997"/>
            <a:ext cx="3593465" cy="280739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1" name="Google Shape;221;p10"/>
          <p:cNvGraphicFramePr/>
          <p:nvPr/>
        </p:nvGraphicFramePr>
        <p:xfrm>
          <a:off x="1483360" y="9525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{508C1001-B7D6-470B-A617-D53509635189}</a:tableStyleId>
              </a:tblPr>
              <a:tblGrid>
                <a:gridCol w="969550"/>
                <a:gridCol w="969550"/>
              </a:tblGrid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Node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Distance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2" name="Google Shape;222;p10"/>
          <p:cNvSpPr txBox="1"/>
          <p:nvPr/>
        </p:nvSpPr>
        <p:spPr>
          <a:xfrm>
            <a:off x="1483360" y="613954"/>
            <a:ext cx="16517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NODE D Table</a:t>
            </a:r>
            <a:endParaRPr b="1" i="0" sz="16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3" name="Google Shape;223;p10"/>
          <p:cNvGraphicFramePr/>
          <p:nvPr/>
        </p:nvGraphicFramePr>
        <p:xfrm>
          <a:off x="7616820" y="9525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{508C1001-B7D6-470B-A617-D53509635189}</a:tableStyleId>
              </a:tblPr>
              <a:tblGrid>
                <a:gridCol w="969550"/>
                <a:gridCol w="969550"/>
              </a:tblGrid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Node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Distance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No Info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6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4" name="Google Shape;224;p10"/>
          <p:cNvSpPr txBox="1"/>
          <p:nvPr/>
        </p:nvSpPr>
        <p:spPr>
          <a:xfrm>
            <a:off x="7616820" y="613954"/>
            <a:ext cx="165172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NODE C Table</a:t>
            </a:r>
            <a:endParaRPr b="1" i="0" sz="16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/>
          <p:nvPr>
            <p:ph idx="4294967295" type="title"/>
          </p:nvPr>
        </p:nvSpPr>
        <p:spPr>
          <a:xfrm>
            <a:off x="1327556" y="398419"/>
            <a:ext cx="10018713" cy="820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Periodic Updates of Distance Vector</a:t>
            </a:r>
            <a:endParaRPr/>
          </a:p>
        </p:txBody>
      </p:sp>
      <p:sp>
        <p:nvSpPr>
          <p:cNvPr id="231" name="Google Shape;231;p2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" name="Google Shape;232;p26"/>
          <p:cNvSpPr/>
          <p:nvPr/>
        </p:nvSpPr>
        <p:spPr>
          <a:xfrm>
            <a:off x="1327555" y="1469542"/>
            <a:ext cx="9174981" cy="4806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Routers regularly send their </a:t>
            </a:r>
            <a:r>
              <a:rPr b="1" i="0" lang="en-US" sz="32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entire routing table</a:t>
            </a:r>
            <a:r>
              <a:rPr b="0" i="0" lang="en-US" sz="32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to neighbors (e.g., every 30 seconds in RIP). </a:t>
            </a:r>
            <a:endParaRPr/>
          </a:p>
          <a:p>
            <a:pPr indent="-16255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This is </a:t>
            </a:r>
            <a:r>
              <a:rPr b="1" i="0" lang="en-US" sz="32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simple but inefficient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/>
          </a:p>
          <a:p>
            <a:pPr indent="-16255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Each Router is only aware of the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:</a:t>
            </a:r>
            <a:endParaRPr/>
          </a:p>
          <a:p>
            <a:pPr indent="-457200" lvl="3" marL="1768475" marR="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Clr>
                <a:srgbClr val="7D28CD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The addresses of its </a:t>
            </a:r>
            <a:r>
              <a:rPr b="1" i="0" lang="en-US" sz="32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own interfaces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/>
          </a:p>
          <a:p>
            <a:pPr indent="-457200" lvl="3" marL="1768475" marR="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Clr>
                <a:srgbClr val="7D28CD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The addresses of </a:t>
            </a:r>
            <a:r>
              <a:rPr b="1" i="0" lang="en-US" sz="32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neighbors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running the same routing protocol.</a:t>
            </a:r>
            <a:endParaRPr b="0" i="0" sz="32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04.jpg" id="237" name="Google Shape;23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905001"/>
            <a:ext cx="7747000" cy="4297363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7"/>
          <p:cNvSpPr txBox="1"/>
          <p:nvPr>
            <p:ph idx="4294967295" type="title"/>
          </p:nvPr>
        </p:nvSpPr>
        <p:spPr>
          <a:xfrm>
            <a:off x="1552550" y="547041"/>
            <a:ext cx="10018713" cy="413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Operation of Distance Vector</a:t>
            </a:r>
            <a:endParaRPr/>
          </a:p>
        </p:txBody>
      </p:sp>
      <p:sp>
        <p:nvSpPr>
          <p:cNvPr id="239" name="Google Shape;239;p27"/>
          <p:cNvSpPr txBox="1"/>
          <p:nvPr>
            <p:ph idx="4294967295" type="body"/>
          </p:nvPr>
        </p:nvSpPr>
        <p:spPr>
          <a:xfrm>
            <a:off x="1676400" y="1295400"/>
            <a:ext cx="8839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lang="en-US">
                <a:solidFill>
                  <a:srgbClr val="FF0000"/>
                </a:solidFill>
              </a:rPr>
              <a:t>Periodic Updates: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</p:txBody>
      </p:sp>
      <p:grpSp>
        <p:nvGrpSpPr>
          <p:cNvPr id="240" name="Google Shape;240;p27"/>
          <p:cNvGrpSpPr/>
          <p:nvPr/>
        </p:nvGrpSpPr>
        <p:grpSpPr>
          <a:xfrm>
            <a:off x="2895600" y="1295400"/>
            <a:ext cx="5715000" cy="1067082"/>
            <a:chOff x="1371600" y="1295400"/>
            <a:chExt cx="5715000" cy="1067082"/>
          </a:xfrm>
        </p:grpSpPr>
        <p:cxnSp>
          <p:nvCxnSpPr>
            <p:cNvPr id="241" name="Google Shape;241;p27"/>
            <p:cNvCxnSpPr>
              <a:stCxn id="242" idx="1"/>
            </p:cNvCxnSpPr>
            <p:nvPr/>
          </p:nvCxnSpPr>
          <p:spPr>
            <a:xfrm flipH="1">
              <a:off x="1371600" y="1526382"/>
              <a:ext cx="1981200" cy="836100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42" name="Google Shape;242;p27"/>
            <p:cNvSpPr txBox="1"/>
            <p:nvPr/>
          </p:nvSpPr>
          <p:spPr>
            <a:xfrm>
              <a:off x="3352800" y="1295400"/>
              <a:ext cx="3733800" cy="46196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R1 Update Timer expires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" name="Google Shape;243;p27"/>
          <p:cNvGrpSpPr/>
          <p:nvPr/>
        </p:nvGrpSpPr>
        <p:grpSpPr>
          <a:xfrm>
            <a:off x="2438400" y="1828801"/>
            <a:ext cx="7467600" cy="4729163"/>
            <a:chOff x="914400" y="1828800"/>
            <a:chExt cx="7467600" cy="4728865"/>
          </a:xfrm>
        </p:grpSpPr>
        <p:sp>
          <p:nvSpPr>
            <p:cNvPr id="244" name="Google Shape;244;p27"/>
            <p:cNvSpPr txBox="1"/>
            <p:nvPr/>
          </p:nvSpPr>
          <p:spPr>
            <a:xfrm>
              <a:off x="5943600" y="1828800"/>
              <a:ext cx="2438400" cy="461934"/>
            </a:xfrm>
            <a:prstGeom prst="rect">
              <a:avLst/>
            </a:prstGeom>
            <a:solidFill>
              <a:srgbClr val="003300"/>
            </a:solidFill>
            <a:ln cap="flat" cmpd="sng" w="25400">
              <a:solidFill>
                <a:srgbClr val="66FF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Neighbour of R1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7"/>
            <p:cNvSpPr txBox="1"/>
            <p:nvPr/>
          </p:nvSpPr>
          <p:spPr>
            <a:xfrm>
              <a:off x="914400" y="6095731"/>
              <a:ext cx="2438400" cy="461934"/>
            </a:xfrm>
            <a:prstGeom prst="rect">
              <a:avLst/>
            </a:prstGeom>
            <a:solidFill>
              <a:srgbClr val="003300"/>
            </a:solidFill>
            <a:ln cap="flat" cmpd="sng" w="25400">
              <a:solidFill>
                <a:srgbClr val="66FF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Neighbour of R1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p27"/>
          <p:cNvGrpSpPr/>
          <p:nvPr/>
        </p:nvGrpSpPr>
        <p:grpSpPr>
          <a:xfrm>
            <a:off x="4343400" y="3200400"/>
            <a:ext cx="4191000" cy="2743200"/>
            <a:chOff x="2819400" y="3200400"/>
            <a:chExt cx="4191000" cy="2743200"/>
          </a:xfrm>
        </p:grpSpPr>
        <p:sp>
          <p:nvSpPr>
            <p:cNvPr id="247" name="Google Shape;247;p27"/>
            <p:cNvSpPr/>
            <p:nvPr/>
          </p:nvSpPr>
          <p:spPr>
            <a:xfrm rot="-5400000">
              <a:off x="4419600" y="3962400"/>
              <a:ext cx="381000" cy="3581400"/>
            </a:xfrm>
            <a:prstGeom prst="rect">
              <a:avLst/>
            </a:prstGeom>
            <a:solidFill>
              <a:srgbClr val="99CCFF">
                <a:alpha val="5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7"/>
            <p:cNvSpPr/>
            <p:nvPr/>
          </p:nvSpPr>
          <p:spPr>
            <a:xfrm>
              <a:off x="6705600" y="3200400"/>
              <a:ext cx="304800" cy="2057400"/>
            </a:xfrm>
            <a:prstGeom prst="rect">
              <a:avLst/>
            </a:prstGeom>
            <a:solidFill>
              <a:srgbClr val="99CCFF">
                <a:alpha val="5019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7"/>
            <p:cNvSpPr txBox="1"/>
            <p:nvPr/>
          </p:nvSpPr>
          <p:spPr>
            <a:xfrm>
              <a:off x="3505200" y="3733800"/>
              <a:ext cx="2971800" cy="830263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99C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R1 is unaware of R3 and its networks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" name="Google Shape;250;p27"/>
          <p:cNvGrpSpPr/>
          <p:nvPr/>
        </p:nvGrpSpPr>
        <p:grpSpPr>
          <a:xfrm>
            <a:off x="1423987" y="2755899"/>
            <a:ext cx="4343400" cy="2055813"/>
            <a:chOff x="152400" y="2590800"/>
            <a:chExt cx="4343400" cy="2056606"/>
          </a:xfrm>
        </p:grpSpPr>
        <p:cxnSp>
          <p:nvCxnSpPr>
            <p:cNvPr id="251" name="Google Shape;251;p27"/>
            <p:cNvCxnSpPr/>
            <p:nvPr/>
          </p:nvCxnSpPr>
          <p:spPr>
            <a:xfrm>
              <a:off x="2819400" y="3124200"/>
              <a:ext cx="16764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2" name="Google Shape;252;p27"/>
            <p:cNvCxnSpPr/>
            <p:nvPr/>
          </p:nvCxnSpPr>
          <p:spPr>
            <a:xfrm rot="5400000">
              <a:off x="1981994" y="3961606"/>
              <a:ext cx="1370806" cy="794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53" name="Google Shape;253;p27"/>
            <p:cNvSpPr txBox="1"/>
            <p:nvPr/>
          </p:nvSpPr>
          <p:spPr>
            <a:xfrm>
              <a:off x="152400" y="2971947"/>
              <a:ext cx="1828800" cy="1200613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Updates sent.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Broadcast!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dv05.jpg" id="254" name="Google Shape;254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05200" y="2590800"/>
              <a:ext cx="685800" cy="4331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dv05.jpg" id="255" name="Google Shape;255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28800" y="3505200"/>
              <a:ext cx="685800" cy="4331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6" name="Google Shape;256;p2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"/>
          <p:cNvSpPr txBox="1"/>
          <p:nvPr>
            <p:ph idx="4294967295" type="title"/>
          </p:nvPr>
        </p:nvSpPr>
        <p:spPr>
          <a:xfrm>
            <a:off x="1484311" y="685800"/>
            <a:ext cx="10018713" cy="10611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Distance Vector Routing Protocols</a:t>
            </a:r>
            <a:endParaRPr/>
          </a:p>
        </p:txBody>
      </p:sp>
      <p:sp>
        <p:nvSpPr>
          <p:cNvPr id="262" name="Google Shape;262;p28"/>
          <p:cNvSpPr/>
          <p:nvPr/>
        </p:nvSpPr>
        <p:spPr>
          <a:xfrm>
            <a:off x="2438400" y="1447800"/>
            <a:ext cx="74676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Network Discovery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v10.jpg" id="263" name="Google Shape;26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2971800"/>
            <a:ext cx="7880350" cy="30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"/>
          <p:cNvSpPr txBox="1"/>
          <p:nvPr>
            <p:ph idx="4294967295"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Cold Start</a:t>
            </a:r>
            <a:endParaRPr/>
          </a:p>
        </p:txBody>
      </p:sp>
      <p:sp>
        <p:nvSpPr>
          <p:cNvPr id="270" name="Google Shape;270;p29"/>
          <p:cNvSpPr txBox="1"/>
          <p:nvPr>
            <p:ph idx="4294967295" type="body"/>
          </p:nvPr>
        </p:nvSpPr>
        <p:spPr>
          <a:xfrm>
            <a:off x="1676400" y="3048000"/>
            <a:ext cx="8839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>
                <a:solidFill>
                  <a:srgbClr val="7D28CD"/>
                </a:solidFill>
              </a:rPr>
              <a:t>Network Discovery:</a:t>
            </a:r>
            <a:endParaRPr b="1" sz="2800">
              <a:solidFill>
                <a:srgbClr val="7D28CD"/>
              </a:solidFill>
            </a:endParaRPr>
          </a:p>
          <a:p>
            <a:pPr indent="-288925" lvl="1" marL="855663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Is part of the process of the routing protocol algorithm that enables routers to </a:t>
            </a:r>
            <a:r>
              <a:rPr lang="en-US" sz="2800">
                <a:solidFill>
                  <a:srgbClr val="1186C3"/>
                </a:solidFill>
              </a:rPr>
              <a:t>learn about remote networks for the first time.</a:t>
            </a:r>
            <a:endParaRPr>
              <a:solidFill>
                <a:srgbClr val="1186C3"/>
              </a:solidFill>
            </a:endParaRPr>
          </a:p>
        </p:txBody>
      </p:sp>
      <p:pic>
        <p:nvPicPr>
          <p:cNvPr descr="dv11.jpg" id="271" name="Google Shape;27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0"/>
            <a:ext cx="883920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277" name="Google Shape;27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0"/>
          <p:cNvSpPr txBox="1"/>
          <p:nvPr>
            <p:ph idx="4294967295" type="title"/>
          </p:nvPr>
        </p:nvSpPr>
        <p:spPr>
          <a:xfrm>
            <a:off x="1543843" y="381001"/>
            <a:ext cx="10018713" cy="458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Cold Start</a:t>
            </a:r>
            <a:endParaRPr/>
          </a:p>
        </p:txBody>
      </p:sp>
      <p:sp>
        <p:nvSpPr>
          <p:cNvPr id="279" name="Google Shape;279;p30"/>
          <p:cNvSpPr txBox="1"/>
          <p:nvPr>
            <p:ph idx="4294967295" type="body"/>
          </p:nvPr>
        </p:nvSpPr>
        <p:spPr>
          <a:xfrm>
            <a:off x="1676400" y="4800600"/>
            <a:ext cx="9275456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63636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238474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b="1" lang="en-US" sz="2800">
                <a:solidFill>
                  <a:srgbClr val="7D28CD"/>
                </a:solidFill>
              </a:rPr>
              <a:t>When a router powers up: </a:t>
            </a:r>
            <a:endParaRPr b="1" sz="2800">
              <a:solidFill>
                <a:srgbClr val="7D28CD"/>
              </a:solidFill>
            </a:endParaRPr>
          </a:p>
          <a:p>
            <a:pPr indent="-221440" lvl="1" marL="8556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Knows nothing about the network topology.</a:t>
            </a:r>
            <a:endParaRPr sz="2600"/>
          </a:p>
          <a:p>
            <a:pPr indent="-221440" lvl="1" marL="8556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Knows only the information saved in NVRAM.</a:t>
            </a:r>
            <a:endParaRPr sz="2600"/>
          </a:p>
          <a:p>
            <a:pPr indent="-221440" lvl="1" marL="8556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Sends updates about its known networks out all ports. </a:t>
            </a:r>
            <a:endParaRPr sz="26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grpSp>
        <p:nvGrpSpPr>
          <p:cNvPr id="280" name="Google Shape;280;p30"/>
          <p:cNvGrpSpPr/>
          <p:nvPr/>
        </p:nvGrpSpPr>
        <p:grpSpPr>
          <a:xfrm>
            <a:off x="2057400" y="3505200"/>
            <a:ext cx="2438400" cy="182880"/>
            <a:chOff x="533400" y="3505200"/>
            <a:chExt cx="2438400" cy="182880"/>
          </a:xfrm>
        </p:grpSpPr>
        <p:sp>
          <p:nvSpPr>
            <p:cNvPr id="281" name="Google Shape;281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4" name="Google Shape;284;p30"/>
          <p:cNvGrpSpPr/>
          <p:nvPr/>
        </p:nvGrpSpPr>
        <p:grpSpPr>
          <a:xfrm>
            <a:off x="2057400" y="3733800"/>
            <a:ext cx="2438400" cy="210312"/>
            <a:chOff x="533400" y="3505200"/>
            <a:chExt cx="2438400" cy="182880"/>
          </a:xfrm>
        </p:grpSpPr>
        <p:sp>
          <p:nvSpPr>
            <p:cNvPr id="285" name="Google Shape;285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p30"/>
          <p:cNvGrpSpPr/>
          <p:nvPr/>
        </p:nvGrpSpPr>
        <p:grpSpPr>
          <a:xfrm>
            <a:off x="2057400" y="4038600"/>
            <a:ext cx="2438400" cy="182880"/>
            <a:chOff x="533400" y="3505200"/>
            <a:chExt cx="2438400" cy="182880"/>
          </a:xfrm>
        </p:grpSpPr>
        <p:sp>
          <p:nvSpPr>
            <p:cNvPr id="289" name="Google Shape;289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" name="Google Shape;292;p30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293" name="Google Shape;293;p30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6" name="Google Shape;296;p30"/>
          <p:cNvGrpSpPr/>
          <p:nvPr/>
        </p:nvGrpSpPr>
        <p:grpSpPr>
          <a:xfrm>
            <a:off x="4876800" y="3505200"/>
            <a:ext cx="2438400" cy="182880"/>
            <a:chOff x="533400" y="3505200"/>
            <a:chExt cx="2438400" cy="182880"/>
          </a:xfrm>
        </p:grpSpPr>
        <p:sp>
          <p:nvSpPr>
            <p:cNvPr id="297" name="Google Shape;297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p30"/>
          <p:cNvGrpSpPr/>
          <p:nvPr/>
        </p:nvGrpSpPr>
        <p:grpSpPr>
          <a:xfrm>
            <a:off x="4876800" y="3733800"/>
            <a:ext cx="2438400" cy="210312"/>
            <a:chOff x="533400" y="3505200"/>
            <a:chExt cx="2438400" cy="182880"/>
          </a:xfrm>
        </p:grpSpPr>
        <p:sp>
          <p:nvSpPr>
            <p:cNvPr id="301" name="Google Shape;301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4" name="Google Shape;304;p30"/>
          <p:cNvGrpSpPr/>
          <p:nvPr/>
        </p:nvGrpSpPr>
        <p:grpSpPr>
          <a:xfrm>
            <a:off x="4876800" y="4038600"/>
            <a:ext cx="2438400" cy="182880"/>
            <a:chOff x="533400" y="3505200"/>
            <a:chExt cx="2438400" cy="182880"/>
          </a:xfrm>
        </p:grpSpPr>
        <p:sp>
          <p:nvSpPr>
            <p:cNvPr id="305" name="Google Shape;305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4876800" y="4343400"/>
            <a:ext cx="2438400" cy="152400"/>
            <a:chOff x="533400" y="4267200"/>
            <a:chExt cx="2438400" cy="152400"/>
          </a:xfrm>
        </p:grpSpPr>
        <p:sp>
          <p:nvSpPr>
            <p:cNvPr id="309" name="Google Shape;309;p30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0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0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2" name="Google Shape;312;p30"/>
          <p:cNvGrpSpPr/>
          <p:nvPr/>
        </p:nvGrpSpPr>
        <p:grpSpPr>
          <a:xfrm>
            <a:off x="7772400" y="3505200"/>
            <a:ext cx="2438400" cy="182880"/>
            <a:chOff x="533400" y="3505200"/>
            <a:chExt cx="2438400" cy="182880"/>
          </a:xfrm>
        </p:grpSpPr>
        <p:sp>
          <p:nvSpPr>
            <p:cNvPr id="313" name="Google Shape;313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6" name="Google Shape;316;p30"/>
          <p:cNvGrpSpPr/>
          <p:nvPr/>
        </p:nvGrpSpPr>
        <p:grpSpPr>
          <a:xfrm>
            <a:off x="7772400" y="3733800"/>
            <a:ext cx="2438400" cy="210312"/>
            <a:chOff x="533400" y="3505200"/>
            <a:chExt cx="2438400" cy="182880"/>
          </a:xfrm>
        </p:grpSpPr>
        <p:sp>
          <p:nvSpPr>
            <p:cNvPr id="317" name="Google Shape;317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0" name="Google Shape;320;p30"/>
          <p:cNvGrpSpPr/>
          <p:nvPr/>
        </p:nvGrpSpPr>
        <p:grpSpPr>
          <a:xfrm>
            <a:off x="7772400" y="4038600"/>
            <a:ext cx="2438400" cy="182880"/>
            <a:chOff x="533400" y="3505200"/>
            <a:chExt cx="2438400" cy="182880"/>
          </a:xfrm>
        </p:grpSpPr>
        <p:sp>
          <p:nvSpPr>
            <p:cNvPr id="321" name="Google Shape;321;p30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0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4" name="Google Shape;324;p30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325" name="Google Shape;325;p30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30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8" name="Google Shape;328;p30"/>
          <p:cNvGrpSpPr/>
          <p:nvPr/>
        </p:nvGrpSpPr>
        <p:grpSpPr>
          <a:xfrm>
            <a:off x="1981200" y="1981200"/>
            <a:ext cx="8229600" cy="838200"/>
            <a:chOff x="457200" y="1981200"/>
            <a:chExt cx="8229600" cy="838200"/>
          </a:xfrm>
        </p:grpSpPr>
        <p:sp>
          <p:nvSpPr>
            <p:cNvPr id="329" name="Google Shape;329;p30"/>
            <p:cNvSpPr/>
            <p:nvPr/>
          </p:nvSpPr>
          <p:spPr>
            <a:xfrm>
              <a:off x="914400" y="1981200"/>
              <a:ext cx="1066800" cy="838200"/>
            </a:xfrm>
            <a:prstGeom prst="ellipse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0" name="Google Shape;330;p30"/>
            <p:cNvCxnSpPr/>
            <p:nvPr/>
          </p:nvCxnSpPr>
          <p:spPr>
            <a:xfrm>
              <a:off x="1981200" y="2057400"/>
              <a:ext cx="9906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31" name="Google Shape;331;p30"/>
            <p:cNvCxnSpPr/>
            <p:nvPr/>
          </p:nvCxnSpPr>
          <p:spPr>
            <a:xfrm rot="10800000">
              <a:off x="457200" y="2057400"/>
              <a:ext cx="4572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32" name="Google Shape;332;p30"/>
            <p:cNvSpPr/>
            <p:nvPr/>
          </p:nvSpPr>
          <p:spPr>
            <a:xfrm>
              <a:off x="4038600" y="1981200"/>
              <a:ext cx="990600" cy="838200"/>
            </a:xfrm>
            <a:prstGeom prst="ellipse">
              <a:avLst/>
            </a:prstGeom>
            <a:noFill/>
            <a:ln cap="flat" cmpd="sng" w="38100">
              <a:solidFill>
                <a:srgbClr val="531A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3" name="Google Shape;333;p30"/>
            <p:cNvCxnSpPr/>
            <p:nvPr/>
          </p:nvCxnSpPr>
          <p:spPr>
            <a:xfrm>
              <a:off x="5105400" y="2743200"/>
              <a:ext cx="990600" cy="1588"/>
            </a:xfrm>
            <a:prstGeom prst="straightConnector1">
              <a:avLst/>
            </a:prstGeom>
            <a:noFill/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34" name="Google Shape;334;p30"/>
            <p:cNvCxnSpPr/>
            <p:nvPr/>
          </p:nvCxnSpPr>
          <p:spPr>
            <a:xfrm rot="10800000">
              <a:off x="2819400" y="2743200"/>
              <a:ext cx="1066800" cy="1588"/>
            </a:xfrm>
            <a:prstGeom prst="straightConnector1">
              <a:avLst/>
            </a:prstGeom>
            <a:noFill/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35" name="Google Shape;335;p30"/>
            <p:cNvSpPr/>
            <p:nvPr/>
          </p:nvSpPr>
          <p:spPr>
            <a:xfrm>
              <a:off x="7162800" y="1981200"/>
              <a:ext cx="990600" cy="838200"/>
            </a:xfrm>
            <a:prstGeom prst="ellipse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6" name="Google Shape;336;p30"/>
            <p:cNvCxnSpPr/>
            <p:nvPr/>
          </p:nvCxnSpPr>
          <p:spPr>
            <a:xfrm>
              <a:off x="8305800" y="2057400"/>
              <a:ext cx="381000" cy="1588"/>
            </a:xfrm>
            <a:prstGeom prst="straightConnector1">
              <a:avLst/>
            </a:prstGeom>
            <a:noFill/>
            <a:ln cap="flat" cmpd="sng" w="50800">
              <a:solidFill>
                <a:srgbClr val="008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37" name="Google Shape;337;p30"/>
            <p:cNvCxnSpPr/>
            <p:nvPr/>
          </p:nvCxnSpPr>
          <p:spPr>
            <a:xfrm rot="10800000">
              <a:off x="6019800" y="2057400"/>
              <a:ext cx="1143000" cy="1588"/>
            </a:xfrm>
            <a:prstGeom prst="straightConnector1">
              <a:avLst/>
            </a:prstGeom>
            <a:noFill/>
            <a:ln cap="flat" cmpd="sng" w="50800">
              <a:solidFill>
                <a:srgbClr val="008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38" name="Google Shape;338;p3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343" name="Google Shape;34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1"/>
          <p:cNvSpPr txBox="1"/>
          <p:nvPr>
            <p:ph idx="4294967295" type="title"/>
          </p:nvPr>
        </p:nvSpPr>
        <p:spPr>
          <a:xfrm>
            <a:off x="1594513" y="457200"/>
            <a:ext cx="10018713" cy="487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grpSp>
        <p:nvGrpSpPr>
          <p:cNvPr id="345" name="Google Shape;345;p31"/>
          <p:cNvGrpSpPr/>
          <p:nvPr/>
        </p:nvGrpSpPr>
        <p:grpSpPr>
          <a:xfrm>
            <a:off x="2057400" y="4038600"/>
            <a:ext cx="2438400" cy="182880"/>
            <a:chOff x="533400" y="3505200"/>
            <a:chExt cx="2438400" cy="182880"/>
          </a:xfrm>
        </p:grpSpPr>
        <p:sp>
          <p:nvSpPr>
            <p:cNvPr id="346" name="Google Shape;346;p31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31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1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9" name="Google Shape;349;p31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350" name="Google Shape;350;p31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1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1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3" name="Google Shape;353;p31"/>
          <p:cNvGrpSpPr/>
          <p:nvPr/>
        </p:nvGrpSpPr>
        <p:grpSpPr>
          <a:xfrm>
            <a:off x="4876800" y="4038600"/>
            <a:ext cx="2438400" cy="182880"/>
            <a:chOff x="533400" y="3505200"/>
            <a:chExt cx="2438400" cy="182880"/>
          </a:xfrm>
        </p:grpSpPr>
        <p:sp>
          <p:nvSpPr>
            <p:cNvPr id="354" name="Google Shape;354;p31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1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1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7" name="Google Shape;357;p31"/>
          <p:cNvGrpSpPr/>
          <p:nvPr/>
        </p:nvGrpSpPr>
        <p:grpSpPr>
          <a:xfrm>
            <a:off x="4876800" y="4343400"/>
            <a:ext cx="2438400" cy="152400"/>
            <a:chOff x="533400" y="4267200"/>
            <a:chExt cx="2438400" cy="152400"/>
          </a:xfrm>
        </p:grpSpPr>
        <p:sp>
          <p:nvSpPr>
            <p:cNvPr id="358" name="Google Shape;358;p31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1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1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1" name="Google Shape;361;p31"/>
          <p:cNvGrpSpPr/>
          <p:nvPr/>
        </p:nvGrpSpPr>
        <p:grpSpPr>
          <a:xfrm>
            <a:off x="7772400" y="4038600"/>
            <a:ext cx="2438400" cy="182880"/>
            <a:chOff x="533400" y="3505200"/>
            <a:chExt cx="2438400" cy="182880"/>
          </a:xfrm>
        </p:grpSpPr>
        <p:sp>
          <p:nvSpPr>
            <p:cNvPr id="362" name="Google Shape;362;p31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1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1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5" name="Google Shape;365;p31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366" name="Google Shape;366;p31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1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31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9" name="Google Shape;369;p31"/>
          <p:cNvSpPr/>
          <p:nvPr/>
        </p:nvSpPr>
        <p:spPr>
          <a:xfrm>
            <a:off x="2362200" y="1981200"/>
            <a:ext cx="1219200" cy="838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31"/>
          <p:cNvCxnSpPr/>
          <p:nvPr/>
        </p:nvCxnSpPr>
        <p:spPr>
          <a:xfrm rot="10800000">
            <a:off x="1981200" y="2057400"/>
            <a:ext cx="381000" cy="1588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71" name="Google Shape;371;p31"/>
          <p:cNvGrpSpPr/>
          <p:nvPr/>
        </p:nvGrpSpPr>
        <p:grpSpPr>
          <a:xfrm>
            <a:off x="3581400" y="1981201"/>
            <a:ext cx="1524000" cy="307777"/>
            <a:chOff x="2057400" y="1981201"/>
            <a:chExt cx="1219200" cy="307777"/>
          </a:xfrm>
        </p:grpSpPr>
        <p:cxnSp>
          <p:nvCxnSpPr>
            <p:cNvPr id="372" name="Google Shape;372;p31"/>
            <p:cNvCxnSpPr/>
            <p:nvPr/>
          </p:nvCxnSpPr>
          <p:spPr>
            <a:xfrm>
              <a:off x="2057400" y="2133600"/>
              <a:ext cx="12192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73" name="Google Shape;373;p31"/>
            <p:cNvSpPr txBox="1"/>
            <p:nvPr/>
          </p:nvSpPr>
          <p:spPr>
            <a:xfrm>
              <a:off x="2209800" y="1981201"/>
              <a:ext cx="838200" cy="307777"/>
            </a:xfrm>
            <a:prstGeom prst="rect">
              <a:avLst/>
            </a:prstGeom>
            <a:solidFill>
              <a:srgbClr val="800000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10.1.0.0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4" name="Google Shape;374;p3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idx="4294967295" type="title"/>
          </p:nvPr>
        </p:nvSpPr>
        <p:spPr>
          <a:xfrm>
            <a:off x="1484311" y="685801"/>
            <a:ext cx="10018713" cy="1046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grpSp>
        <p:nvGrpSpPr>
          <p:cNvPr id="380" name="Google Shape;380;p32"/>
          <p:cNvGrpSpPr/>
          <p:nvPr/>
        </p:nvGrpSpPr>
        <p:grpSpPr>
          <a:xfrm>
            <a:off x="1687513" y="1974851"/>
            <a:ext cx="8839200" cy="3432175"/>
            <a:chOff x="96" y="823"/>
            <a:chExt cx="5568" cy="2162"/>
          </a:xfrm>
        </p:grpSpPr>
        <p:pic>
          <p:nvPicPr>
            <p:cNvPr descr="dv10.jpg" id="381" name="Google Shape;381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" y="823"/>
              <a:ext cx="5568" cy="216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2" name="Google Shape;382;p32"/>
            <p:cNvGrpSpPr/>
            <p:nvPr/>
          </p:nvGrpSpPr>
          <p:grpSpPr>
            <a:xfrm>
              <a:off x="336" y="2736"/>
              <a:ext cx="1536" cy="96"/>
              <a:chOff x="533400" y="4267200"/>
              <a:chExt cx="2438400" cy="152400"/>
            </a:xfrm>
          </p:grpSpPr>
          <p:sp>
            <p:nvSpPr>
              <p:cNvPr id="383" name="Google Shape;383;p32"/>
              <p:cNvSpPr/>
              <p:nvPr/>
            </p:nvSpPr>
            <p:spPr>
              <a:xfrm>
                <a:off x="5334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32"/>
              <p:cNvSpPr/>
              <p:nvPr/>
            </p:nvSpPr>
            <p:spPr>
              <a:xfrm>
                <a:off x="16002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32"/>
              <p:cNvSpPr/>
              <p:nvPr/>
            </p:nvSpPr>
            <p:spPr>
              <a:xfrm>
                <a:off x="2590800" y="4267200"/>
                <a:ext cx="3810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6" name="Google Shape;386;p32"/>
            <p:cNvGrpSpPr/>
            <p:nvPr/>
          </p:nvGrpSpPr>
          <p:grpSpPr>
            <a:xfrm>
              <a:off x="2112" y="2544"/>
              <a:ext cx="1536" cy="115"/>
              <a:chOff x="533400" y="3505200"/>
              <a:chExt cx="2438400" cy="182880"/>
            </a:xfrm>
          </p:grpSpPr>
          <p:sp>
            <p:nvSpPr>
              <p:cNvPr id="387" name="Google Shape;387;p32"/>
              <p:cNvSpPr/>
              <p:nvPr/>
            </p:nvSpPr>
            <p:spPr>
              <a:xfrm>
                <a:off x="5334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32"/>
              <p:cNvSpPr/>
              <p:nvPr/>
            </p:nvSpPr>
            <p:spPr>
              <a:xfrm>
                <a:off x="16002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32"/>
              <p:cNvSpPr/>
              <p:nvPr/>
            </p:nvSpPr>
            <p:spPr>
              <a:xfrm>
                <a:off x="2590800" y="3505200"/>
                <a:ext cx="3810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0" name="Google Shape;390;p32"/>
            <p:cNvGrpSpPr/>
            <p:nvPr/>
          </p:nvGrpSpPr>
          <p:grpSpPr>
            <a:xfrm>
              <a:off x="2112" y="2736"/>
              <a:ext cx="1536" cy="96"/>
              <a:chOff x="533400" y="4267200"/>
              <a:chExt cx="2438400" cy="152400"/>
            </a:xfrm>
          </p:grpSpPr>
          <p:sp>
            <p:nvSpPr>
              <p:cNvPr id="391" name="Google Shape;391;p32"/>
              <p:cNvSpPr/>
              <p:nvPr/>
            </p:nvSpPr>
            <p:spPr>
              <a:xfrm>
                <a:off x="5334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32"/>
              <p:cNvSpPr/>
              <p:nvPr/>
            </p:nvSpPr>
            <p:spPr>
              <a:xfrm>
                <a:off x="16002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32"/>
              <p:cNvSpPr/>
              <p:nvPr/>
            </p:nvSpPr>
            <p:spPr>
              <a:xfrm>
                <a:off x="2590800" y="4267200"/>
                <a:ext cx="3810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32"/>
            <p:cNvGrpSpPr/>
            <p:nvPr/>
          </p:nvGrpSpPr>
          <p:grpSpPr>
            <a:xfrm>
              <a:off x="3936" y="2544"/>
              <a:ext cx="1536" cy="115"/>
              <a:chOff x="533400" y="3505200"/>
              <a:chExt cx="2438400" cy="182880"/>
            </a:xfrm>
          </p:grpSpPr>
          <p:sp>
            <p:nvSpPr>
              <p:cNvPr id="395" name="Google Shape;395;p32"/>
              <p:cNvSpPr/>
              <p:nvPr/>
            </p:nvSpPr>
            <p:spPr>
              <a:xfrm>
                <a:off x="5334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32"/>
              <p:cNvSpPr/>
              <p:nvPr/>
            </p:nvSpPr>
            <p:spPr>
              <a:xfrm>
                <a:off x="16002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32"/>
              <p:cNvSpPr/>
              <p:nvPr/>
            </p:nvSpPr>
            <p:spPr>
              <a:xfrm>
                <a:off x="2590800" y="3505200"/>
                <a:ext cx="3810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8" name="Google Shape;398;p32"/>
            <p:cNvGrpSpPr/>
            <p:nvPr/>
          </p:nvGrpSpPr>
          <p:grpSpPr>
            <a:xfrm>
              <a:off x="3936" y="2736"/>
              <a:ext cx="1536" cy="96"/>
              <a:chOff x="533400" y="4267200"/>
              <a:chExt cx="2438400" cy="152400"/>
            </a:xfrm>
          </p:grpSpPr>
          <p:sp>
            <p:nvSpPr>
              <p:cNvPr id="399" name="Google Shape;399;p32"/>
              <p:cNvSpPr/>
              <p:nvPr/>
            </p:nvSpPr>
            <p:spPr>
              <a:xfrm>
                <a:off x="5334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32"/>
              <p:cNvSpPr/>
              <p:nvPr/>
            </p:nvSpPr>
            <p:spPr>
              <a:xfrm>
                <a:off x="16002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32"/>
              <p:cNvSpPr/>
              <p:nvPr/>
            </p:nvSpPr>
            <p:spPr>
              <a:xfrm>
                <a:off x="2590800" y="4267200"/>
                <a:ext cx="3810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2" name="Google Shape;402;p32"/>
            <p:cNvSpPr/>
            <p:nvPr/>
          </p:nvSpPr>
          <p:spPr>
            <a:xfrm>
              <a:off x="2448" y="1248"/>
              <a:ext cx="816" cy="528"/>
            </a:xfrm>
            <a:prstGeom prst="ellipse">
              <a:avLst/>
            </a:prstGeom>
            <a:noFill/>
            <a:ln cap="flat" cmpd="sng" w="38100">
              <a:solidFill>
                <a:srgbClr val="531A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3" name="Google Shape;403;p32"/>
            <p:cNvGrpSpPr/>
            <p:nvPr/>
          </p:nvGrpSpPr>
          <p:grpSpPr>
            <a:xfrm>
              <a:off x="336" y="2544"/>
              <a:ext cx="1536" cy="115"/>
              <a:chOff x="533400" y="3505200"/>
              <a:chExt cx="2438400" cy="182880"/>
            </a:xfrm>
          </p:grpSpPr>
          <p:sp>
            <p:nvSpPr>
              <p:cNvPr id="404" name="Google Shape;404;p32"/>
              <p:cNvSpPr/>
              <p:nvPr/>
            </p:nvSpPr>
            <p:spPr>
              <a:xfrm>
                <a:off x="5334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32"/>
              <p:cNvSpPr/>
              <p:nvPr/>
            </p:nvSpPr>
            <p:spPr>
              <a:xfrm>
                <a:off x="1600200" y="3505200"/>
                <a:ext cx="6858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32"/>
              <p:cNvSpPr/>
              <p:nvPr/>
            </p:nvSpPr>
            <p:spPr>
              <a:xfrm>
                <a:off x="2590800" y="3505200"/>
                <a:ext cx="381000" cy="18288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7" name="Google Shape;407;p32"/>
            <p:cNvGrpSpPr/>
            <p:nvPr/>
          </p:nvGrpSpPr>
          <p:grpSpPr>
            <a:xfrm>
              <a:off x="1296" y="1249"/>
              <a:ext cx="912" cy="194"/>
              <a:chOff x="2057400" y="1981201"/>
              <a:chExt cx="1219200" cy="307777"/>
            </a:xfrm>
          </p:grpSpPr>
          <p:cxnSp>
            <p:nvCxnSpPr>
              <p:cNvPr id="408" name="Google Shape;408;p32"/>
              <p:cNvCxnSpPr/>
              <p:nvPr/>
            </p:nvCxnSpPr>
            <p:spPr>
              <a:xfrm>
                <a:off x="2057400" y="2133600"/>
                <a:ext cx="1219200" cy="1588"/>
              </a:xfrm>
              <a:prstGeom prst="straightConnector1">
                <a:avLst/>
              </a:prstGeom>
              <a:noFill/>
              <a:ln cap="flat" cmpd="sng" w="50800">
                <a:solidFill>
                  <a:srgbClr val="FF0000">
                    <a:alpha val="49019"/>
                  </a:srgbClr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409" name="Google Shape;409;p32"/>
              <p:cNvSpPr txBox="1"/>
              <p:nvPr/>
            </p:nvSpPr>
            <p:spPr>
              <a:xfrm>
                <a:off x="2209800" y="1981201"/>
                <a:ext cx="838200" cy="307777"/>
              </a:xfrm>
              <a:prstGeom prst="rect">
                <a:avLst/>
              </a:prstGeom>
              <a:solidFill>
                <a:srgbClr val="800000">
                  <a:alpha val="49019"/>
                </a:srgbClr>
              </a:solidFill>
              <a:ln cap="flat" cmpd="sng" w="25400">
                <a:solidFill>
                  <a:srgbClr val="FF0000">
                    <a:alpha val="49019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10.1.0.0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0" name="Google Shape;410;p32"/>
            <p:cNvGrpSpPr/>
            <p:nvPr/>
          </p:nvGrpSpPr>
          <p:grpSpPr>
            <a:xfrm>
              <a:off x="1536" y="1681"/>
              <a:ext cx="912" cy="194"/>
              <a:chOff x="2438400" y="2590800"/>
              <a:chExt cx="1295400" cy="307777"/>
            </a:xfrm>
          </p:grpSpPr>
          <p:cxnSp>
            <p:nvCxnSpPr>
              <p:cNvPr id="411" name="Google Shape;411;p32"/>
              <p:cNvCxnSpPr/>
              <p:nvPr/>
            </p:nvCxnSpPr>
            <p:spPr>
              <a:xfrm rot="10800000">
                <a:off x="2438400" y="2743200"/>
                <a:ext cx="1295400" cy="1587"/>
              </a:xfrm>
              <a:prstGeom prst="straightConnector1">
                <a:avLst/>
              </a:prstGeom>
              <a:noFill/>
              <a:ln cap="flat" cmpd="sng" w="50800">
                <a:solidFill>
                  <a:srgbClr val="7D28CD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412" name="Google Shape;412;p32"/>
              <p:cNvSpPr txBox="1"/>
              <p:nvPr/>
            </p:nvSpPr>
            <p:spPr>
              <a:xfrm>
                <a:off x="2743784" y="2590800"/>
                <a:ext cx="838033" cy="307777"/>
              </a:xfrm>
              <a:prstGeom prst="rect">
                <a:avLst/>
              </a:prstGeom>
              <a:solidFill>
                <a:srgbClr val="531A88"/>
              </a:solidFill>
              <a:ln cap="flat" cmpd="sng" w="2540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10.3.0.0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3" name="Google Shape;413;p32"/>
            <p:cNvGrpSpPr/>
            <p:nvPr/>
          </p:nvGrpSpPr>
          <p:grpSpPr>
            <a:xfrm>
              <a:off x="3312" y="1681"/>
              <a:ext cx="912" cy="194"/>
              <a:chOff x="5257800" y="2590800"/>
              <a:chExt cx="1295400" cy="307777"/>
            </a:xfrm>
          </p:grpSpPr>
          <p:cxnSp>
            <p:nvCxnSpPr>
              <p:cNvPr id="414" name="Google Shape;414;p32"/>
              <p:cNvCxnSpPr/>
              <p:nvPr/>
            </p:nvCxnSpPr>
            <p:spPr>
              <a:xfrm>
                <a:off x="5257800" y="2743200"/>
                <a:ext cx="1295400" cy="1587"/>
              </a:xfrm>
              <a:prstGeom prst="straightConnector1">
                <a:avLst/>
              </a:prstGeom>
              <a:noFill/>
              <a:ln cap="flat" cmpd="sng" w="50800">
                <a:solidFill>
                  <a:srgbClr val="531A88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415" name="Google Shape;415;p32"/>
              <p:cNvSpPr txBox="1"/>
              <p:nvPr/>
            </p:nvSpPr>
            <p:spPr>
              <a:xfrm>
                <a:off x="5486483" y="2590800"/>
                <a:ext cx="838033" cy="307777"/>
              </a:xfrm>
              <a:prstGeom prst="rect">
                <a:avLst/>
              </a:prstGeom>
              <a:solidFill>
                <a:srgbClr val="531A88"/>
              </a:solidFill>
              <a:ln cap="flat" cmpd="sng" w="2540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10.2.0.0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16" name="Google Shape;416;p3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3"/>
          <p:cNvSpPr txBox="1"/>
          <p:nvPr>
            <p:ph idx="4294967295" type="title"/>
          </p:nvPr>
        </p:nvSpPr>
        <p:spPr>
          <a:xfrm>
            <a:off x="1484311" y="685801"/>
            <a:ext cx="10018713" cy="916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cxnSp>
        <p:nvCxnSpPr>
          <p:cNvPr id="422" name="Google Shape;422;p33"/>
          <p:cNvCxnSpPr/>
          <p:nvPr/>
        </p:nvCxnSpPr>
        <p:spPr>
          <a:xfrm>
            <a:off x="9753600" y="2133600"/>
            <a:ext cx="457200" cy="1588"/>
          </a:xfrm>
          <a:prstGeom prst="straightConnector1">
            <a:avLst/>
          </a:prstGeom>
          <a:noFill/>
          <a:ln cap="flat" cmpd="sng" w="50800">
            <a:solidFill>
              <a:srgbClr val="0080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423" name="Google Shape;423;p33"/>
          <p:cNvGrpSpPr/>
          <p:nvPr/>
        </p:nvGrpSpPr>
        <p:grpSpPr>
          <a:xfrm>
            <a:off x="1676400" y="2184401"/>
            <a:ext cx="8839200" cy="3432175"/>
            <a:chOff x="96" y="816"/>
            <a:chExt cx="5568" cy="2162"/>
          </a:xfrm>
        </p:grpSpPr>
        <p:pic>
          <p:nvPicPr>
            <p:cNvPr descr="dv10.jpg" id="424" name="Google Shape;424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" y="816"/>
              <a:ext cx="5568" cy="216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25" name="Google Shape;425;p33"/>
            <p:cNvGrpSpPr/>
            <p:nvPr/>
          </p:nvGrpSpPr>
          <p:grpSpPr>
            <a:xfrm>
              <a:off x="3936" y="2736"/>
              <a:ext cx="1536" cy="96"/>
              <a:chOff x="533400" y="4267200"/>
              <a:chExt cx="2438400" cy="152400"/>
            </a:xfrm>
          </p:grpSpPr>
          <p:sp>
            <p:nvSpPr>
              <p:cNvPr id="426" name="Google Shape;426;p33"/>
              <p:cNvSpPr/>
              <p:nvPr/>
            </p:nvSpPr>
            <p:spPr>
              <a:xfrm>
                <a:off x="5334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33"/>
              <p:cNvSpPr/>
              <p:nvPr/>
            </p:nvSpPr>
            <p:spPr>
              <a:xfrm>
                <a:off x="1600200" y="4267200"/>
                <a:ext cx="6858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33"/>
              <p:cNvSpPr/>
              <p:nvPr/>
            </p:nvSpPr>
            <p:spPr>
              <a:xfrm>
                <a:off x="2590800" y="4267200"/>
                <a:ext cx="381000" cy="152400"/>
              </a:xfrm>
              <a:prstGeom prst="rect">
                <a:avLst/>
              </a:prstGeom>
              <a:solidFill>
                <a:schemeClr val="lt1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9" name="Google Shape;429;p33"/>
            <p:cNvGrpSpPr/>
            <p:nvPr/>
          </p:nvGrpSpPr>
          <p:grpSpPr>
            <a:xfrm>
              <a:off x="336" y="1248"/>
              <a:ext cx="5136" cy="1584"/>
              <a:chOff x="336" y="1248"/>
              <a:chExt cx="5136" cy="1584"/>
            </a:xfrm>
          </p:grpSpPr>
          <p:grpSp>
            <p:nvGrpSpPr>
              <p:cNvPr id="430" name="Google Shape;430;p33"/>
              <p:cNvGrpSpPr/>
              <p:nvPr/>
            </p:nvGrpSpPr>
            <p:grpSpPr>
              <a:xfrm>
                <a:off x="336" y="2544"/>
                <a:ext cx="1536" cy="115"/>
                <a:chOff x="533400" y="3505200"/>
                <a:chExt cx="2438400" cy="182880"/>
              </a:xfrm>
            </p:grpSpPr>
            <p:sp>
              <p:nvSpPr>
                <p:cNvPr id="431" name="Google Shape;431;p33"/>
                <p:cNvSpPr/>
                <p:nvPr/>
              </p:nvSpPr>
              <p:spPr>
                <a:xfrm>
                  <a:off x="5334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" name="Google Shape;432;p33"/>
                <p:cNvSpPr/>
                <p:nvPr/>
              </p:nvSpPr>
              <p:spPr>
                <a:xfrm>
                  <a:off x="16002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3" name="Google Shape;433;p33"/>
                <p:cNvSpPr/>
                <p:nvPr/>
              </p:nvSpPr>
              <p:spPr>
                <a:xfrm>
                  <a:off x="2590800" y="3505200"/>
                  <a:ext cx="381000" cy="18288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4" name="Google Shape;434;p33"/>
              <p:cNvGrpSpPr/>
              <p:nvPr/>
            </p:nvGrpSpPr>
            <p:grpSpPr>
              <a:xfrm>
                <a:off x="336" y="2736"/>
                <a:ext cx="1536" cy="96"/>
                <a:chOff x="533400" y="4267200"/>
                <a:chExt cx="2438400" cy="152400"/>
              </a:xfrm>
            </p:grpSpPr>
            <p:sp>
              <p:nvSpPr>
                <p:cNvPr id="435" name="Google Shape;435;p33"/>
                <p:cNvSpPr/>
                <p:nvPr/>
              </p:nvSpPr>
              <p:spPr>
                <a:xfrm>
                  <a:off x="5334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6" name="Google Shape;436;p33"/>
                <p:cNvSpPr/>
                <p:nvPr/>
              </p:nvSpPr>
              <p:spPr>
                <a:xfrm>
                  <a:off x="16002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" name="Google Shape;437;p33"/>
                <p:cNvSpPr/>
                <p:nvPr/>
              </p:nvSpPr>
              <p:spPr>
                <a:xfrm>
                  <a:off x="2590800" y="4267200"/>
                  <a:ext cx="381000" cy="152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8" name="Google Shape;438;p33"/>
              <p:cNvGrpSpPr/>
              <p:nvPr/>
            </p:nvGrpSpPr>
            <p:grpSpPr>
              <a:xfrm>
                <a:off x="2112" y="2544"/>
                <a:ext cx="1536" cy="115"/>
                <a:chOff x="533400" y="3505200"/>
                <a:chExt cx="2438400" cy="182880"/>
              </a:xfrm>
            </p:grpSpPr>
            <p:sp>
              <p:nvSpPr>
                <p:cNvPr id="439" name="Google Shape;439;p33"/>
                <p:cNvSpPr/>
                <p:nvPr/>
              </p:nvSpPr>
              <p:spPr>
                <a:xfrm>
                  <a:off x="5334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0" name="Google Shape;440;p33"/>
                <p:cNvSpPr/>
                <p:nvPr/>
              </p:nvSpPr>
              <p:spPr>
                <a:xfrm>
                  <a:off x="16002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1" name="Google Shape;441;p33"/>
                <p:cNvSpPr/>
                <p:nvPr/>
              </p:nvSpPr>
              <p:spPr>
                <a:xfrm>
                  <a:off x="2590800" y="3505200"/>
                  <a:ext cx="381000" cy="18288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2" name="Google Shape;442;p33"/>
              <p:cNvGrpSpPr/>
              <p:nvPr/>
            </p:nvGrpSpPr>
            <p:grpSpPr>
              <a:xfrm>
                <a:off x="2112" y="2736"/>
                <a:ext cx="1536" cy="96"/>
                <a:chOff x="533400" y="4267200"/>
                <a:chExt cx="2438400" cy="152400"/>
              </a:xfrm>
            </p:grpSpPr>
            <p:sp>
              <p:nvSpPr>
                <p:cNvPr id="443" name="Google Shape;443;p33"/>
                <p:cNvSpPr/>
                <p:nvPr/>
              </p:nvSpPr>
              <p:spPr>
                <a:xfrm>
                  <a:off x="5334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" name="Google Shape;444;p33"/>
                <p:cNvSpPr/>
                <p:nvPr/>
              </p:nvSpPr>
              <p:spPr>
                <a:xfrm>
                  <a:off x="1600200" y="4267200"/>
                  <a:ext cx="685800" cy="152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5" name="Google Shape;445;p33"/>
                <p:cNvSpPr/>
                <p:nvPr/>
              </p:nvSpPr>
              <p:spPr>
                <a:xfrm>
                  <a:off x="2590800" y="4267200"/>
                  <a:ext cx="381000" cy="152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46" name="Google Shape;446;p33"/>
              <p:cNvGrpSpPr/>
              <p:nvPr/>
            </p:nvGrpSpPr>
            <p:grpSpPr>
              <a:xfrm>
                <a:off x="3936" y="2544"/>
                <a:ext cx="1536" cy="115"/>
                <a:chOff x="533400" y="3505200"/>
                <a:chExt cx="2438400" cy="182880"/>
              </a:xfrm>
            </p:grpSpPr>
            <p:sp>
              <p:nvSpPr>
                <p:cNvPr id="447" name="Google Shape;447;p33"/>
                <p:cNvSpPr/>
                <p:nvPr/>
              </p:nvSpPr>
              <p:spPr>
                <a:xfrm>
                  <a:off x="5334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8" name="Google Shape;448;p33"/>
                <p:cNvSpPr/>
                <p:nvPr/>
              </p:nvSpPr>
              <p:spPr>
                <a:xfrm>
                  <a:off x="1600200" y="3505200"/>
                  <a:ext cx="685800" cy="18288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9" name="Google Shape;449;p33"/>
                <p:cNvSpPr/>
                <p:nvPr/>
              </p:nvSpPr>
              <p:spPr>
                <a:xfrm>
                  <a:off x="2590800" y="3505200"/>
                  <a:ext cx="381000" cy="18288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381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0" name="Google Shape;450;p33"/>
              <p:cNvSpPr/>
              <p:nvPr/>
            </p:nvSpPr>
            <p:spPr>
              <a:xfrm>
                <a:off x="4464" y="1248"/>
                <a:ext cx="720" cy="528"/>
              </a:xfrm>
              <a:prstGeom prst="ellipse">
                <a:avLst/>
              </a:prstGeom>
              <a:noFill/>
              <a:ln cap="flat" cmpd="sng" w="38100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51" name="Google Shape;451;p33"/>
              <p:cNvGrpSpPr/>
              <p:nvPr/>
            </p:nvGrpSpPr>
            <p:grpSpPr>
              <a:xfrm>
                <a:off x="1296" y="1249"/>
                <a:ext cx="816" cy="194"/>
                <a:chOff x="2057400" y="1981201"/>
                <a:chExt cx="1219200" cy="307777"/>
              </a:xfrm>
            </p:grpSpPr>
            <p:cxnSp>
              <p:nvCxnSpPr>
                <p:cNvPr id="452" name="Google Shape;452;p33"/>
                <p:cNvCxnSpPr/>
                <p:nvPr/>
              </p:nvCxnSpPr>
              <p:spPr>
                <a:xfrm>
                  <a:off x="2057400" y="2133600"/>
                  <a:ext cx="1219200" cy="1588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rgbClr val="FF0000">
                      <a:alpha val="49019"/>
                    </a:srgbClr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sp>
              <p:nvSpPr>
                <p:cNvPr id="453" name="Google Shape;453;p33"/>
                <p:cNvSpPr txBox="1"/>
                <p:nvPr/>
              </p:nvSpPr>
              <p:spPr>
                <a:xfrm>
                  <a:off x="2209799" y="1981201"/>
                  <a:ext cx="838200" cy="307777"/>
                </a:xfrm>
                <a:prstGeom prst="rect">
                  <a:avLst/>
                </a:prstGeom>
                <a:solidFill>
                  <a:srgbClr val="800000">
                    <a:alpha val="49019"/>
                  </a:srgbClr>
                </a:solidFill>
                <a:ln cap="flat" cmpd="sng" w="25400">
                  <a:solidFill>
                    <a:srgbClr val="FF0000">
                      <a:alpha val="49019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1" i="0" lang="en-US" sz="1400" u="none" cap="none" strike="noStrike">
                      <a:solidFill>
                        <a:srgbClr val="FFFF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10.1.0.0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4" name="Google Shape;454;p33"/>
              <p:cNvGrpSpPr/>
              <p:nvPr/>
            </p:nvGrpSpPr>
            <p:grpSpPr>
              <a:xfrm>
                <a:off x="1488" y="1681"/>
                <a:ext cx="864" cy="194"/>
                <a:chOff x="2438400" y="2590800"/>
                <a:chExt cx="1295400" cy="307777"/>
              </a:xfrm>
            </p:grpSpPr>
            <p:cxnSp>
              <p:nvCxnSpPr>
                <p:cNvPr id="455" name="Google Shape;455;p33"/>
                <p:cNvCxnSpPr/>
                <p:nvPr/>
              </p:nvCxnSpPr>
              <p:spPr>
                <a:xfrm rot="10800000">
                  <a:off x="2438400" y="2743200"/>
                  <a:ext cx="1295400" cy="1588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rgbClr val="00B0F0">
                      <a:alpha val="49019"/>
                    </a:srgbClr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sp>
              <p:nvSpPr>
                <p:cNvPr id="456" name="Google Shape;456;p33"/>
                <p:cNvSpPr txBox="1"/>
                <p:nvPr/>
              </p:nvSpPr>
              <p:spPr>
                <a:xfrm>
                  <a:off x="2742759" y="2590800"/>
                  <a:ext cx="838111" cy="307777"/>
                </a:xfrm>
                <a:prstGeom prst="rect">
                  <a:avLst/>
                </a:prstGeom>
                <a:solidFill>
                  <a:srgbClr val="531A88">
                    <a:alpha val="49019"/>
                  </a:srgbClr>
                </a:solidFill>
                <a:ln cap="flat" cmpd="sng" w="25400">
                  <a:solidFill>
                    <a:srgbClr val="00B0F0">
                      <a:alpha val="49019"/>
                    </a:srgbClr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1" i="0" lang="en-US" sz="1400" u="none" cap="none" strike="noStrike">
                      <a:solidFill>
                        <a:srgbClr val="FFFF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10.3.0.0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7" name="Google Shape;457;p33"/>
              <p:cNvGrpSpPr/>
              <p:nvPr/>
            </p:nvGrpSpPr>
            <p:grpSpPr>
              <a:xfrm>
                <a:off x="3312" y="1681"/>
                <a:ext cx="912" cy="194"/>
                <a:chOff x="5257799" y="2590800"/>
                <a:chExt cx="1295400" cy="307777"/>
              </a:xfrm>
            </p:grpSpPr>
            <p:cxnSp>
              <p:nvCxnSpPr>
                <p:cNvPr id="458" name="Google Shape;458;p33"/>
                <p:cNvCxnSpPr/>
                <p:nvPr/>
              </p:nvCxnSpPr>
              <p:spPr>
                <a:xfrm>
                  <a:off x="5257799" y="2743200"/>
                  <a:ext cx="1295400" cy="1588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rgbClr val="531A88">
                      <a:alpha val="49019"/>
                    </a:srgbClr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sp>
              <p:nvSpPr>
                <p:cNvPr id="459" name="Google Shape;459;p33"/>
                <p:cNvSpPr txBox="1"/>
                <p:nvPr/>
              </p:nvSpPr>
              <p:spPr>
                <a:xfrm>
                  <a:off x="5486483" y="2590800"/>
                  <a:ext cx="838033" cy="307777"/>
                </a:xfrm>
                <a:prstGeom prst="rect">
                  <a:avLst/>
                </a:prstGeom>
                <a:solidFill>
                  <a:srgbClr val="531A88">
                    <a:alpha val="49019"/>
                  </a:srgbClr>
                </a:solidFill>
                <a:ln cap="flat" cmpd="sng" w="25400">
                  <a:solidFill>
                    <a:srgbClr val="00B0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1" i="0" lang="en-US" sz="1400" u="none" cap="none" strike="noStrike">
                      <a:solidFill>
                        <a:srgbClr val="FFFF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10.2.0.0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0" name="Google Shape;460;p33"/>
              <p:cNvGrpSpPr/>
              <p:nvPr/>
            </p:nvGrpSpPr>
            <p:grpSpPr>
              <a:xfrm>
                <a:off x="3600" y="1249"/>
                <a:ext cx="960" cy="194"/>
                <a:chOff x="5715000" y="1981200"/>
                <a:chExt cx="1295400" cy="307777"/>
              </a:xfrm>
            </p:grpSpPr>
            <p:cxnSp>
              <p:nvCxnSpPr>
                <p:cNvPr id="461" name="Google Shape;461;p33"/>
                <p:cNvCxnSpPr/>
                <p:nvPr/>
              </p:nvCxnSpPr>
              <p:spPr>
                <a:xfrm rot="10800000">
                  <a:off x="5715000" y="2133600"/>
                  <a:ext cx="1295400" cy="1588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rgbClr val="008000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sp>
              <p:nvSpPr>
                <p:cNvPr id="462" name="Google Shape;462;p33"/>
                <p:cNvSpPr txBox="1"/>
                <p:nvPr/>
              </p:nvSpPr>
              <p:spPr>
                <a:xfrm>
                  <a:off x="6019958" y="1981200"/>
                  <a:ext cx="837962" cy="307777"/>
                </a:xfrm>
                <a:prstGeom prst="rect">
                  <a:avLst/>
                </a:prstGeom>
                <a:solidFill>
                  <a:srgbClr val="008000"/>
                </a:solidFill>
                <a:ln cap="flat" cmpd="sng" w="25400">
                  <a:solidFill>
                    <a:srgbClr val="66FF6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1" i="0" lang="en-US" sz="1400" u="none" cap="none" strike="noStrike">
                      <a:solidFill>
                        <a:srgbClr val="FFFF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10.4.0.0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63" name="Google Shape;463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4"/>
          <p:cNvSpPr txBox="1"/>
          <p:nvPr>
            <p:ph idx="4294967295" type="title"/>
          </p:nvPr>
        </p:nvSpPr>
        <p:spPr>
          <a:xfrm>
            <a:off x="1676400" y="457200"/>
            <a:ext cx="10018713" cy="487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pic>
        <p:nvPicPr>
          <p:cNvPr descr="dv10.jpg" id="469" name="Google Shape;46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0" name="Google Shape;470;p34"/>
          <p:cNvGrpSpPr/>
          <p:nvPr/>
        </p:nvGrpSpPr>
        <p:grpSpPr>
          <a:xfrm>
            <a:off x="2057400" y="4038600"/>
            <a:ext cx="2438400" cy="182880"/>
            <a:chOff x="533400" y="3505200"/>
            <a:chExt cx="2438400" cy="182880"/>
          </a:xfrm>
        </p:grpSpPr>
        <p:sp>
          <p:nvSpPr>
            <p:cNvPr id="471" name="Google Shape;471;p34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34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34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4" name="Google Shape;474;p34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475" name="Google Shape;475;p34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34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34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8" name="Google Shape;478;p34"/>
          <p:cNvGrpSpPr/>
          <p:nvPr/>
        </p:nvGrpSpPr>
        <p:grpSpPr>
          <a:xfrm>
            <a:off x="4876800" y="4038600"/>
            <a:ext cx="2438400" cy="182880"/>
            <a:chOff x="533400" y="3505200"/>
            <a:chExt cx="2438400" cy="182880"/>
          </a:xfrm>
        </p:grpSpPr>
        <p:sp>
          <p:nvSpPr>
            <p:cNvPr id="479" name="Google Shape;479;p34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34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4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2" name="Google Shape;482;p34"/>
          <p:cNvGrpSpPr/>
          <p:nvPr/>
        </p:nvGrpSpPr>
        <p:grpSpPr>
          <a:xfrm>
            <a:off x="4876800" y="4343400"/>
            <a:ext cx="2438400" cy="152400"/>
            <a:chOff x="533400" y="4267200"/>
            <a:chExt cx="2438400" cy="152400"/>
          </a:xfrm>
        </p:grpSpPr>
        <p:sp>
          <p:nvSpPr>
            <p:cNvPr id="483" name="Google Shape;483;p34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34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34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6" name="Google Shape;486;p34"/>
          <p:cNvGrpSpPr/>
          <p:nvPr/>
        </p:nvGrpSpPr>
        <p:grpSpPr>
          <a:xfrm>
            <a:off x="7772400" y="4038600"/>
            <a:ext cx="2438400" cy="182880"/>
            <a:chOff x="533400" y="3505200"/>
            <a:chExt cx="2438400" cy="182880"/>
          </a:xfrm>
        </p:grpSpPr>
        <p:sp>
          <p:nvSpPr>
            <p:cNvPr id="487" name="Google Shape;487;p34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34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34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0" name="Google Shape;490;p34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491" name="Google Shape;491;p34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34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34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4" name="Google Shape;494;p34"/>
          <p:cNvGrpSpPr/>
          <p:nvPr/>
        </p:nvGrpSpPr>
        <p:grpSpPr>
          <a:xfrm>
            <a:off x="3962400" y="2667000"/>
            <a:ext cx="1295400" cy="304800"/>
            <a:chOff x="2438400" y="2590800"/>
            <a:chExt cx="1295400" cy="304800"/>
          </a:xfrm>
        </p:grpSpPr>
        <p:cxnSp>
          <p:nvCxnSpPr>
            <p:cNvPr id="495" name="Google Shape;495;p34"/>
            <p:cNvCxnSpPr/>
            <p:nvPr/>
          </p:nvCxnSpPr>
          <p:spPr>
            <a:xfrm rot="10800000">
              <a:off x="2438400" y="2743200"/>
              <a:ext cx="1295400" cy="1588"/>
            </a:xfrm>
            <a:prstGeom prst="straightConnector1">
              <a:avLst/>
            </a:prstGeom>
            <a:noFill/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96" name="Google Shape;496;p34"/>
            <p:cNvSpPr txBox="1"/>
            <p:nvPr/>
          </p:nvSpPr>
          <p:spPr>
            <a:xfrm>
              <a:off x="2743200" y="2590800"/>
              <a:ext cx="838200" cy="304800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10.3.0.0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7" name="Google Shape;497;p34"/>
          <p:cNvSpPr/>
          <p:nvPr/>
        </p:nvSpPr>
        <p:spPr>
          <a:xfrm>
            <a:off x="2362200" y="1981200"/>
            <a:ext cx="1219200" cy="838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8" name="Google Shape;498;p34"/>
          <p:cNvGrpSpPr/>
          <p:nvPr/>
        </p:nvGrpSpPr>
        <p:grpSpPr>
          <a:xfrm>
            <a:off x="6781800" y="1981200"/>
            <a:ext cx="2971800" cy="990600"/>
            <a:chOff x="5257800" y="1981200"/>
            <a:chExt cx="2971800" cy="990600"/>
          </a:xfrm>
        </p:grpSpPr>
        <p:grpSp>
          <p:nvGrpSpPr>
            <p:cNvPr id="499" name="Google Shape;499;p34"/>
            <p:cNvGrpSpPr/>
            <p:nvPr/>
          </p:nvGrpSpPr>
          <p:grpSpPr>
            <a:xfrm>
              <a:off x="5257800" y="2667000"/>
              <a:ext cx="1295400" cy="304800"/>
              <a:chOff x="5257800" y="2590800"/>
              <a:chExt cx="1295400" cy="304800"/>
            </a:xfrm>
          </p:grpSpPr>
          <p:cxnSp>
            <p:nvCxnSpPr>
              <p:cNvPr id="500" name="Google Shape;500;p34"/>
              <p:cNvCxnSpPr/>
              <p:nvPr/>
            </p:nvCxnSpPr>
            <p:spPr>
              <a:xfrm>
                <a:off x="5257800" y="2743200"/>
                <a:ext cx="1295400" cy="1588"/>
              </a:xfrm>
              <a:prstGeom prst="straightConnector1">
                <a:avLst/>
              </a:prstGeom>
              <a:noFill/>
              <a:ln cap="flat" cmpd="sng" w="50800">
                <a:solidFill>
                  <a:srgbClr val="531A88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501" name="Google Shape;501;p34"/>
              <p:cNvSpPr txBox="1"/>
              <p:nvPr/>
            </p:nvSpPr>
            <p:spPr>
              <a:xfrm>
                <a:off x="5486400" y="2590800"/>
                <a:ext cx="838200" cy="304800"/>
              </a:xfrm>
              <a:prstGeom prst="rect">
                <a:avLst/>
              </a:prstGeom>
              <a:solidFill>
                <a:srgbClr val="531A88"/>
              </a:solidFill>
              <a:ln cap="flat" cmpd="sng" w="2540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10.2.0.0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2" name="Google Shape;502;p34"/>
            <p:cNvSpPr/>
            <p:nvPr/>
          </p:nvSpPr>
          <p:spPr>
            <a:xfrm>
              <a:off x="7086600" y="1981200"/>
              <a:ext cx="1143000" cy="838200"/>
            </a:xfrm>
            <a:prstGeom prst="ellipse">
              <a:avLst/>
            </a:prstGeom>
            <a:noFill/>
            <a:ln cap="flat" cmpd="sng" w="3810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3" name="Google Shape;503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508" name="Google Shape;50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5"/>
          <p:cNvSpPr txBox="1"/>
          <p:nvPr>
            <p:ph idx="4294967295" type="title"/>
          </p:nvPr>
        </p:nvSpPr>
        <p:spPr>
          <a:xfrm>
            <a:off x="1620043" y="292101"/>
            <a:ext cx="10018713" cy="455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Initial Exchange of Routing Information</a:t>
            </a:r>
            <a:endParaRPr/>
          </a:p>
        </p:txBody>
      </p:sp>
      <p:sp>
        <p:nvSpPr>
          <p:cNvPr id="510" name="Google Shape;510;p35"/>
          <p:cNvSpPr txBox="1"/>
          <p:nvPr>
            <p:ph idx="4294967295" type="body"/>
          </p:nvPr>
        </p:nvSpPr>
        <p:spPr>
          <a:xfrm>
            <a:off x="1676400" y="4800600"/>
            <a:ext cx="883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grpSp>
        <p:nvGrpSpPr>
          <p:cNvPr id="511" name="Google Shape;511;p35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512" name="Google Shape;512;p35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5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5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5" name="Google Shape;515;p35"/>
          <p:cNvGrpSpPr/>
          <p:nvPr/>
        </p:nvGrpSpPr>
        <p:grpSpPr>
          <a:xfrm>
            <a:off x="4876800" y="4038600"/>
            <a:ext cx="2438400" cy="182880"/>
            <a:chOff x="533400" y="3505200"/>
            <a:chExt cx="2438400" cy="182880"/>
          </a:xfrm>
        </p:grpSpPr>
        <p:sp>
          <p:nvSpPr>
            <p:cNvPr id="516" name="Google Shape;516;p35"/>
            <p:cNvSpPr/>
            <p:nvPr/>
          </p:nvSpPr>
          <p:spPr>
            <a:xfrm>
              <a:off x="5334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5"/>
            <p:cNvSpPr/>
            <p:nvPr/>
          </p:nvSpPr>
          <p:spPr>
            <a:xfrm>
              <a:off x="1600200" y="3505200"/>
              <a:ext cx="6858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35"/>
            <p:cNvSpPr/>
            <p:nvPr/>
          </p:nvSpPr>
          <p:spPr>
            <a:xfrm>
              <a:off x="2590800" y="3505200"/>
              <a:ext cx="381000" cy="1828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9" name="Google Shape;519;p35"/>
          <p:cNvGrpSpPr/>
          <p:nvPr/>
        </p:nvGrpSpPr>
        <p:grpSpPr>
          <a:xfrm>
            <a:off x="4876800" y="4343400"/>
            <a:ext cx="2438400" cy="152400"/>
            <a:chOff x="533400" y="4267200"/>
            <a:chExt cx="2438400" cy="152400"/>
          </a:xfrm>
        </p:grpSpPr>
        <p:sp>
          <p:nvSpPr>
            <p:cNvPr id="520" name="Google Shape;520;p35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35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35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3" name="Google Shape;523;p35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524" name="Google Shape;524;p35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35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35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7" name="Google Shape;527;p35"/>
          <p:cNvSpPr/>
          <p:nvPr/>
        </p:nvSpPr>
        <p:spPr>
          <a:xfrm>
            <a:off x="5410200" y="1981200"/>
            <a:ext cx="1295400" cy="838200"/>
          </a:xfrm>
          <a:prstGeom prst="ellipse">
            <a:avLst/>
          </a:prstGeom>
          <a:noFill/>
          <a:ln cap="flat" cmpd="sng" w="38100">
            <a:solidFill>
              <a:srgbClr val="531A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8" name="Google Shape;528;p35"/>
          <p:cNvGrpSpPr/>
          <p:nvPr/>
        </p:nvGrpSpPr>
        <p:grpSpPr>
          <a:xfrm>
            <a:off x="3581400" y="1981201"/>
            <a:ext cx="1219200" cy="304800"/>
            <a:chOff x="2057400" y="1981201"/>
            <a:chExt cx="1219200" cy="304800"/>
          </a:xfrm>
        </p:grpSpPr>
        <p:cxnSp>
          <p:nvCxnSpPr>
            <p:cNvPr id="529" name="Google Shape;529;p35"/>
            <p:cNvCxnSpPr/>
            <p:nvPr/>
          </p:nvCxnSpPr>
          <p:spPr>
            <a:xfrm>
              <a:off x="2057400" y="2133600"/>
              <a:ext cx="12192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30" name="Google Shape;530;p35"/>
            <p:cNvSpPr txBox="1"/>
            <p:nvPr/>
          </p:nvSpPr>
          <p:spPr>
            <a:xfrm>
              <a:off x="2209800" y="1981201"/>
              <a:ext cx="838200" cy="304800"/>
            </a:xfrm>
            <a:prstGeom prst="rect">
              <a:avLst/>
            </a:prstGeom>
            <a:solidFill>
              <a:srgbClr val="990000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10.1.0.0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1" name="Google Shape;531;p35"/>
          <p:cNvGrpSpPr/>
          <p:nvPr/>
        </p:nvGrpSpPr>
        <p:grpSpPr>
          <a:xfrm>
            <a:off x="7086600" y="1981201"/>
            <a:ext cx="1447800" cy="307777"/>
            <a:chOff x="5715000" y="1981200"/>
            <a:chExt cx="1295400" cy="307777"/>
          </a:xfrm>
        </p:grpSpPr>
        <p:cxnSp>
          <p:nvCxnSpPr>
            <p:cNvPr id="532" name="Google Shape;532;p35"/>
            <p:cNvCxnSpPr/>
            <p:nvPr/>
          </p:nvCxnSpPr>
          <p:spPr>
            <a:xfrm rot="10800000">
              <a:off x="5715000" y="2133600"/>
              <a:ext cx="1295400" cy="1588"/>
            </a:xfrm>
            <a:prstGeom prst="straightConnector1">
              <a:avLst/>
            </a:prstGeom>
            <a:noFill/>
            <a:ln cap="flat" cmpd="sng" w="50800">
              <a:solidFill>
                <a:srgbClr val="008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33" name="Google Shape;533;p35"/>
            <p:cNvSpPr txBox="1"/>
            <p:nvPr/>
          </p:nvSpPr>
          <p:spPr>
            <a:xfrm>
              <a:off x="6020385" y="1981200"/>
              <a:ext cx="838033" cy="307777"/>
            </a:xfrm>
            <a:prstGeom prst="rect">
              <a:avLst/>
            </a:prstGeom>
            <a:solidFill>
              <a:srgbClr val="008000"/>
            </a:solidFill>
            <a:ln cap="flat" cmpd="sng" w="25400">
              <a:solidFill>
                <a:srgbClr val="66FF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10.4.0.0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4" name="Google Shape;534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539" name="Google Shape;53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6"/>
          <p:cNvSpPr txBox="1"/>
          <p:nvPr>
            <p:ph idx="4294967295" type="title"/>
          </p:nvPr>
        </p:nvSpPr>
        <p:spPr>
          <a:xfrm>
            <a:off x="1638300" y="457200"/>
            <a:ext cx="10018713" cy="6873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sp>
        <p:nvSpPr>
          <p:cNvPr id="541" name="Google Shape;541;p36"/>
          <p:cNvSpPr txBox="1"/>
          <p:nvPr>
            <p:ph idx="4294967295" type="body"/>
          </p:nvPr>
        </p:nvSpPr>
        <p:spPr>
          <a:xfrm>
            <a:off x="1676400" y="4800600"/>
            <a:ext cx="883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grpSp>
        <p:nvGrpSpPr>
          <p:cNvPr id="542" name="Google Shape;542;p36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543" name="Google Shape;543;p36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36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6" name="Google Shape;546;p36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547" name="Google Shape;547;p36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36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36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0" name="Google Shape;550;p36"/>
          <p:cNvSpPr/>
          <p:nvPr/>
        </p:nvSpPr>
        <p:spPr>
          <a:xfrm>
            <a:off x="2362200" y="1981200"/>
            <a:ext cx="1219200" cy="838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1" name="Google Shape;551;p36"/>
          <p:cNvGrpSpPr/>
          <p:nvPr/>
        </p:nvGrpSpPr>
        <p:grpSpPr>
          <a:xfrm>
            <a:off x="3581400" y="1981201"/>
            <a:ext cx="1219200" cy="304800"/>
            <a:chOff x="2057400" y="1981201"/>
            <a:chExt cx="1219200" cy="304800"/>
          </a:xfrm>
        </p:grpSpPr>
        <p:cxnSp>
          <p:nvCxnSpPr>
            <p:cNvPr id="552" name="Google Shape;552;p36"/>
            <p:cNvCxnSpPr/>
            <p:nvPr/>
          </p:nvCxnSpPr>
          <p:spPr>
            <a:xfrm>
              <a:off x="2057400" y="2133600"/>
              <a:ext cx="1219200" cy="1588"/>
            </a:xfrm>
            <a:prstGeom prst="straightConnector1">
              <a:avLst/>
            </a:prstGeom>
            <a:noFill/>
            <a:ln cap="flat" cmpd="sng" w="508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53" name="Google Shape;553;p36"/>
            <p:cNvSpPr txBox="1"/>
            <p:nvPr/>
          </p:nvSpPr>
          <p:spPr>
            <a:xfrm>
              <a:off x="2209800" y="1981201"/>
              <a:ext cx="838200" cy="304800"/>
            </a:xfrm>
            <a:prstGeom prst="rect">
              <a:avLst/>
            </a:prstGeom>
            <a:solidFill>
              <a:srgbClr val="990000"/>
            </a:solidFill>
            <a:ln cap="flat" cmpd="sng" w="25400">
              <a:solidFill>
                <a:srgbClr val="FF0000">
                  <a:alpha val="4901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10.1.0.0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4" name="Google Shape;554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559" name="Google Shape;55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37"/>
          <p:cNvSpPr txBox="1"/>
          <p:nvPr>
            <p:ph idx="4294967295" type="title"/>
          </p:nvPr>
        </p:nvSpPr>
        <p:spPr>
          <a:xfrm>
            <a:off x="1620043" y="497229"/>
            <a:ext cx="10018713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sp>
        <p:nvSpPr>
          <p:cNvPr id="561" name="Google Shape;561;p37"/>
          <p:cNvSpPr txBox="1"/>
          <p:nvPr>
            <p:ph idx="4294967295" type="body"/>
          </p:nvPr>
        </p:nvSpPr>
        <p:spPr>
          <a:xfrm>
            <a:off x="1676400" y="5006975"/>
            <a:ext cx="88392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0160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grpSp>
        <p:nvGrpSpPr>
          <p:cNvPr id="562" name="Google Shape;562;p37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563" name="Google Shape;563;p37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37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37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6" name="Google Shape;566;p37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567" name="Google Shape;567;p37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7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37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0" name="Google Shape;570;p37"/>
          <p:cNvSpPr/>
          <p:nvPr/>
        </p:nvSpPr>
        <p:spPr>
          <a:xfrm>
            <a:off x="5486400" y="1981200"/>
            <a:ext cx="1143000" cy="838200"/>
          </a:xfrm>
          <a:prstGeom prst="ellipse">
            <a:avLst/>
          </a:prstGeom>
          <a:noFill/>
          <a:ln cap="flat" cmpd="sng" w="38100">
            <a:solidFill>
              <a:srgbClr val="531A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1" name="Google Shape;571;p37"/>
          <p:cNvGrpSpPr/>
          <p:nvPr/>
        </p:nvGrpSpPr>
        <p:grpSpPr>
          <a:xfrm>
            <a:off x="4648200" y="2743201"/>
            <a:ext cx="1371600" cy="307777"/>
            <a:chOff x="1981200" y="2667000"/>
            <a:chExt cx="1295400" cy="307777"/>
          </a:xfrm>
        </p:grpSpPr>
        <p:cxnSp>
          <p:nvCxnSpPr>
            <p:cNvPr id="572" name="Google Shape;572;p37"/>
            <p:cNvCxnSpPr/>
            <p:nvPr/>
          </p:nvCxnSpPr>
          <p:spPr>
            <a:xfrm rot="10800000">
              <a:off x="1981200" y="2819400"/>
              <a:ext cx="1295400" cy="1588"/>
            </a:xfrm>
            <a:prstGeom prst="straightConnector1">
              <a:avLst/>
            </a:prstGeom>
            <a:solidFill>
              <a:srgbClr val="531A88"/>
            </a:solidFill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73" name="Google Shape;573;p37"/>
            <p:cNvSpPr txBox="1"/>
            <p:nvPr/>
          </p:nvSpPr>
          <p:spPr>
            <a:xfrm>
              <a:off x="2285560" y="2667000"/>
              <a:ext cx="838111" cy="307777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10.4.0.0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4" name="Google Shape;574;p37"/>
          <p:cNvGrpSpPr/>
          <p:nvPr/>
        </p:nvGrpSpPr>
        <p:grpSpPr>
          <a:xfrm>
            <a:off x="3352800" y="2743201"/>
            <a:ext cx="1371600" cy="307777"/>
            <a:chOff x="1981200" y="2667000"/>
            <a:chExt cx="1295400" cy="307777"/>
          </a:xfrm>
        </p:grpSpPr>
        <p:cxnSp>
          <p:nvCxnSpPr>
            <p:cNvPr id="575" name="Google Shape;575;p37"/>
            <p:cNvCxnSpPr/>
            <p:nvPr/>
          </p:nvCxnSpPr>
          <p:spPr>
            <a:xfrm rot="10800000">
              <a:off x="1981200" y="2819400"/>
              <a:ext cx="1295400" cy="1588"/>
            </a:xfrm>
            <a:prstGeom prst="straightConnector1">
              <a:avLst/>
            </a:prstGeom>
            <a:solidFill>
              <a:srgbClr val="531A88"/>
            </a:solidFill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76" name="Google Shape;576;p37"/>
            <p:cNvSpPr txBox="1"/>
            <p:nvPr/>
          </p:nvSpPr>
          <p:spPr>
            <a:xfrm>
              <a:off x="2285560" y="2667000"/>
              <a:ext cx="838111" cy="307777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10.3.0.0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7" name="Google Shape;577;p37"/>
          <p:cNvGrpSpPr/>
          <p:nvPr/>
        </p:nvGrpSpPr>
        <p:grpSpPr>
          <a:xfrm>
            <a:off x="6096000" y="2743201"/>
            <a:ext cx="2743200" cy="307777"/>
            <a:chOff x="4724400" y="2743200"/>
            <a:chExt cx="2590800" cy="307777"/>
          </a:xfrm>
        </p:grpSpPr>
        <p:grpSp>
          <p:nvGrpSpPr>
            <p:cNvPr id="578" name="Google Shape;578;p37"/>
            <p:cNvGrpSpPr/>
            <p:nvPr/>
          </p:nvGrpSpPr>
          <p:grpSpPr>
            <a:xfrm>
              <a:off x="6019800" y="2743200"/>
              <a:ext cx="1295400" cy="307777"/>
              <a:chOff x="5257800" y="2590800"/>
              <a:chExt cx="1295400" cy="307777"/>
            </a:xfrm>
          </p:grpSpPr>
          <p:cxnSp>
            <p:nvCxnSpPr>
              <p:cNvPr id="579" name="Google Shape;579;p37"/>
              <p:cNvCxnSpPr/>
              <p:nvPr/>
            </p:nvCxnSpPr>
            <p:spPr>
              <a:xfrm>
                <a:off x="5257800" y="2743200"/>
                <a:ext cx="1295400" cy="1588"/>
              </a:xfrm>
              <a:prstGeom prst="straightConnector1">
                <a:avLst/>
              </a:prstGeom>
              <a:noFill/>
              <a:ln cap="flat" cmpd="sng" w="50800">
                <a:solidFill>
                  <a:srgbClr val="531A88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580" name="Google Shape;580;p37"/>
              <p:cNvSpPr txBox="1"/>
              <p:nvPr/>
            </p:nvSpPr>
            <p:spPr>
              <a:xfrm>
                <a:off x="5485694" y="2590800"/>
                <a:ext cx="839611" cy="307777"/>
              </a:xfrm>
              <a:prstGeom prst="rect">
                <a:avLst/>
              </a:prstGeom>
              <a:solidFill>
                <a:srgbClr val="531A88"/>
              </a:solidFill>
              <a:ln cap="flat" cmpd="sng" w="2540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10.2.0.0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1" name="Google Shape;581;p37"/>
            <p:cNvGrpSpPr/>
            <p:nvPr/>
          </p:nvGrpSpPr>
          <p:grpSpPr>
            <a:xfrm>
              <a:off x="4724400" y="2743200"/>
              <a:ext cx="1295400" cy="307777"/>
              <a:chOff x="5257800" y="2590800"/>
              <a:chExt cx="1295400" cy="307777"/>
            </a:xfrm>
          </p:grpSpPr>
          <p:cxnSp>
            <p:nvCxnSpPr>
              <p:cNvPr id="582" name="Google Shape;582;p37"/>
              <p:cNvCxnSpPr/>
              <p:nvPr/>
            </p:nvCxnSpPr>
            <p:spPr>
              <a:xfrm>
                <a:off x="5257800" y="2743200"/>
                <a:ext cx="1295400" cy="1588"/>
              </a:xfrm>
              <a:prstGeom prst="straightConnector1">
                <a:avLst/>
              </a:prstGeom>
              <a:noFill/>
              <a:ln cap="flat" cmpd="sng" w="50800">
                <a:solidFill>
                  <a:srgbClr val="531A88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583" name="Google Shape;583;p37"/>
              <p:cNvSpPr txBox="1"/>
              <p:nvPr/>
            </p:nvSpPr>
            <p:spPr>
              <a:xfrm>
                <a:off x="5485694" y="2590800"/>
                <a:ext cx="839611" cy="307777"/>
              </a:xfrm>
              <a:prstGeom prst="rect">
                <a:avLst/>
              </a:prstGeom>
              <a:solidFill>
                <a:srgbClr val="531A88"/>
              </a:solidFill>
              <a:ln cap="flat" cmpd="sng" w="25400">
                <a:solidFill>
                  <a:srgbClr val="00B0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1" i="0" lang="en-US" sz="1400" u="none" cap="none" strike="noStrike">
                    <a:solidFill>
                      <a:srgbClr val="FFFF00"/>
                    </a:solidFill>
                    <a:latin typeface="Arial"/>
                    <a:ea typeface="Arial"/>
                    <a:cs typeface="Arial"/>
                    <a:sym typeface="Arial"/>
                  </a:rPr>
                  <a:t>10.1.0.0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84" name="Google Shape;584;p37"/>
          <p:cNvGrpSpPr/>
          <p:nvPr/>
        </p:nvGrpSpPr>
        <p:grpSpPr>
          <a:xfrm>
            <a:off x="3581400" y="1752600"/>
            <a:ext cx="4876800" cy="1068388"/>
            <a:chOff x="2057400" y="1752600"/>
            <a:chExt cx="4876800" cy="1067594"/>
          </a:xfrm>
        </p:grpSpPr>
        <p:cxnSp>
          <p:nvCxnSpPr>
            <p:cNvPr id="585" name="Google Shape;585;p37"/>
            <p:cNvCxnSpPr/>
            <p:nvPr/>
          </p:nvCxnSpPr>
          <p:spPr>
            <a:xfrm flipH="1" rot="-5400000">
              <a:off x="2894806" y="2134394"/>
              <a:ext cx="686594" cy="685006"/>
            </a:xfrm>
            <a:prstGeom prst="straightConnector1">
              <a:avLst/>
            </a:prstGeom>
            <a:noFill/>
            <a:ln cap="flat" cmpd="sng" w="50800">
              <a:solidFill>
                <a:srgbClr val="9900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86" name="Google Shape;586;p37"/>
            <p:cNvSpPr txBox="1"/>
            <p:nvPr/>
          </p:nvSpPr>
          <p:spPr>
            <a:xfrm>
              <a:off x="2057400" y="1752600"/>
              <a:ext cx="914400" cy="399813"/>
            </a:xfrm>
            <a:prstGeom prst="rect">
              <a:avLst/>
            </a:prstGeom>
            <a:solidFill>
              <a:srgbClr val="660033"/>
            </a:solidFill>
            <a:ln cap="flat" cmpd="sng" w="254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7" name="Google Shape;587;p37"/>
            <p:cNvCxnSpPr/>
            <p:nvPr/>
          </p:nvCxnSpPr>
          <p:spPr>
            <a:xfrm rot="5400000">
              <a:off x="5524500" y="2247900"/>
              <a:ext cx="609600" cy="533400"/>
            </a:xfrm>
            <a:prstGeom prst="straightConnector1">
              <a:avLst/>
            </a:prstGeom>
            <a:noFill/>
            <a:ln cap="flat" cmpd="sng" w="50800">
              <a:solidFill>
                <a:srgbClr val="9900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88" name="Google Shape;588;p37"/>
            <p:cNvSpPr txBox="1"/>
            <p:nvPr/>
          </p:nvSpPr>
          <p:spPr>
            <a:xfrm>
              <a:off x="6019800" y="1828743"/>
              <a:ext cx="914400" cy="399813"/>
            </a:xfrm>
            <a:prstGeom prst="rect">
              <a:avLst/>
            </a:prstGeom>
            <a:solidFill>
              <a:srgbClr val="660033"/>
            </a:solidFill>
            <a:ln cap="flat" cmpd="sng" w="25400">
              <a:solidFill>
                <a:srgbClr val="99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NEW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9" name="Google Shape;589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594" name="Google Shape;59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38"/>
          <p:cNvSpPr txBox="1"/>
          <p:nvPr>
            <p:ph idx="4294967295" type="title"/>
          </p:nvPr>
        </p:nvSpPr>
        <p:spPr>
          <a:xfrm>
            <a:off x="1676400" y="454024"/>
            <a:ext cx="10018713" cy="609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grpSp>
        <p:nvGrpSpPr>
          <p:cNvPr id="596" name="Google Shape;596;p38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597" name="Google Shape;597;p38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38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38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0" name="Google Shape;600;p38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601" name="Google Shape;601;p38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38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38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4" name="Google Shape;604;p38"/>
          <p:cNvSpPr/>
          <p:nvPr/>
        </p:nvSpPr>
        <p:spPr>
          <a:xfrm>
            <a:off x="8610600" y="1981200"/>
            <a:ext cx="1143000" cy="838200"/>
          </a:xfrm>
          <a:prstGeom prst="ellipse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5" name="Google Shape;605;p38"/>
          <p:cNvGrpSpPr/>
          <p:nvPr/>
        </p:nvGrpSpPr>
        <p:grpSpPr>
          <a:xfrm>
            <a:off x="6934200" y="1981201"/>
            <a:ext cx="1600200" cy="307777"/>
            <a:chOff x="5715000" y="1981200"/>
            <a:chExt cx="1295400" cy="307777"/>
          </a:xfrm>
        </p:grpSpPr>
        <p:cxnSp>
          <p:nvCxnSpPr>
            <p:cNvPr id="606" name="Google Shape;606;p38"/>
            <p:cNvCxnSpPr/>
            <p:nvPr/>
          </p:nvCxnSpPr>
          <p:spPr>
            <a:xfrm rot="10800000">
              <a:off x="5715000" y="2133600"/>
              <a:ext cx="1295400" cy="1588"/>
            </a:xfrm>
            <a:prstGeom prst="straightConnector1">
              <a:avLst/>
            </a:prstGeom>
            <a:noFill/>
            <a:ln cap="flat" cmpd="sng" w="50800">
              <a:solidFill>
                <a:srgbClr val="008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07" name="Google Shape;607;p38"/>
            <p:cNvSpPr txBox="1"/>
            <p:nvPr/>
          </p:nvSpPr>
          <p:spPr>
            <a:xfrm>
              <a:off x="6019574" y="1981200"/>
              <a:ext cx="837898" cy="307777"/>
            </a:xfrm>
            <a:prstGeom prst="rect">
              <a:avLst/>
            </a:prstGeom>
            <a:solidFill>
              <a:srgbClr val="008000"/>
            </a:solidFill>
            <a:ln cap="flat" cmpd="sng" w="25400">
              <a:solidFill>
                <a:srgbClr val="66FF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10.4.0.0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8" name="Google Shape;608;p38"/>
          <p:cNvSpPr/>
          <p:nvPr/>
        </p:nvSpPr>
        <p:spPr>
          <a:xfrm>
            <a:off x="1676400" y="4800600"/>
            <a:ext cx="883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177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09" name="Google Shape;609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614" name="Google Shape;61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9"/>
          <p:cNvSpPr txBox="1"/>
          <p:nvPr>
            <p:ph idx="4294967295" type="title"/>
          </p:nvPr>
        </p:nvSpPr>
        <p:spPr>
          <a:xfrm>
            <a:off x="1512886" y="383977"/>
            <a:ext cx="10018713" cy="609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grpSp>
        <p:nvGrpSpPr>
          <p:cNvPr id="616" name="Google Shape;616;p39"/>
          <p:cNvGrpSpPr/>
          <p:nvPr/>
        </p:nvGrpSpPr>
        <p:grpSpPr>
          <a:xfrm>
            <a:off x="2057400" y="4343400"/>
            <a:ext cx="2438400" cy="152400"/>
            <a:chOff x="533400" y="4267200"/>
            <a:chExt cx="2438400" cy="152400"/>
          </a:xfrm>
        </p:grpSpPr>
        <p:sp>
          <p:nvSpPr>
            <p:cNvPr id="617" name="Google Shape;617;p39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39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39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0" name="Google Shape;620;p39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621" name="Google Shape;621;p39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9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39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4" name="Google Shape;624;p39"/>
          <p:cNvSpPr/>
          <p:nvPr/>
        </p:nvSpPr>
        <p:spPr>
          <a:xfrm>
            <a:off x="2362200" y="1981200"/>
            <a:ext cx="1219200" cy="838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5" name="Google Shape;625;p39"/>
          <p:cNvGrpSpPr/>
          <p:nvPr/>
        </p:nvGrpSpPr>
        <p:grpSpPr>
          <a:xfrm>
            <a:off x="4724400" y="2743201"/>
            <a:ext cx="1447800" cy="307777"/>
            <a:chOff x="1981200" y="2667000"/>
            <a:chExt cx="1295400" cy="307777"/>
          </a:xfrm>
        </p:grpSpPr>
        <p:cxnSp>
          <p:nvCxnSpPr>
            <p:cNvPr id="626" name="Google Shape;626;p39"/>
            <p:cNvCxnSpPr/>
            <p:nvPr/>
          </p:nvCxnSpPr>
          <p:spPr>
            <a:xfrm rot="10800000">
              <a:off x="1981200" y="2819400"/>
              <a:ext cx="1295400" cy="1588"/>
            </a:xfrm>
            <a:prstGeom prst="straightConnector1">
              <a:avLst/>
            </a:prstGeom>
            <a:solidFill>
              <a:srgbClr val="531A88"/>
            </a:solidFill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27" name="Google Shape;627;p39"/>
            <p:cNvSpPr txBox="1"/>
            <p:nvPr/>
          </p:nvSpPr>
          <p:spPr>
            <a:xfrm>
              <a:off x="2286585" y="2667000"/>
              <a:ext cx="838033" cy="307777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10.4.0.0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8" name="Google Shape;628;p39"/>
          <p:cNvGrpSpPr/>
          <p:nvPr/>
        </p:nvGrpSpPr>
        <p:grpSpPr>
          <a:xfrm>
            <a:off x="3276600" y="2743201"/>
            <a:ext cx="1447800" cy="307777"/>
            <a:chOff x="1981200" y="2667000"/>
            <a:chExt cx="1295400" cy="307777"/>
          </a:xfrm>
        </p:grpSpPr>
        <p:cxnSp>
          <p:nvCxnSpPr>
            <p:cNvPr id="629" name="Google Shape;629;p39"/>
            <p:cNvCxnSpPr/>
            <p:nvPr/>
          </p:nvCxnSpPr>
          <p:spPr>
            <a:xfrm rot="10800000">
              <a:off x="1981200" y="2819400"/>
              <a:ext cx="1295400" cy="1588"/>
            </a:xfrm>
            <a:prstGeom prst="straightConnector1">
              <a:avLst/>
            </a:prstGeom>
            <a:solidFill>
              <a:srgbClr val="531A88"/>
            </a:solidFill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30" name="Google Shape;630;p39"/>
            <p:cNvSpPr txBox="1"/>
            <p:nvPr/>
          </p:nvSpPr>
          <p:spPr>
            <a:xfrm>
              <a:off x="2286585" y="2667000"/>
              <a:ext cx="838033" cy="307777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10.3.0.0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1" name="Google Shape;631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636" name="Google Shape;63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954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0"/>
          <p:cNvSpPr txBox="1"/>
          <p:nvPr>
            <p:ph idx="4294967295" type="title"/>
          </p:nvPr>
        </p:nvSpPr>
        <p:spPr>
          <a:xfrm>
            <a:off x="1676400" y="444304"/>
            <a:ext cx="10018713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grpSp>
        <p:nvGrpSpPr>
          <p:cNvPr id="638" name="Google Shape;638;p40"/>
          <p:cNvGrpSpPr/>
          <p:nvPr/>
        </p:nvGrpSpPr>
        <p:grpSpPr>
          <a:xfrm>
            <a:off x="7772400" y="4343400"/>
            <a:ext cx="2438400" cy="152400"/>
            <a:chOff x="533400" y="4267200"/>
            <a:chExt cx="2438400" cy="152400"/>
          </a:xfrm>
        </p:grpSpPr>
        <p:sp>
          <p:nvSpPr>
            <p:cNvPr id="639" name="Google Shape;639;p40"/>
            <p:cNvSpPr/>
            <p:nvPr/>
          </p:nvSpPr>
          <p:spPr>
            <a:xfrm>
              <a:off x="5334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40"/>
            <p:cNvSpPr/>
            <p:nvPr/>
          </p:nvSpPr>
          <p:spPr>
            <a:xfrm>
              <a:off x="1600200" y="4267200"/>
              <a:ext cx="6858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40"/>
            <p:cNvSpPr/>
            <p:nvPr/>
          </p:nvSpPr>
          <p:spPr>
            <a:xfrm>
              <a:off x="2590800" y="4267200"/>
              <a:ext cx="381000" cy="152400"/>
            </a:xfrm>
            <a:prstGeom prst="rect">
              <a:avLst/>
            </a:prstGeom>
            <a:solidFill>
              <a:schemeClr val="lt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2" name="Google Shape;642;p40"/>
          <p:cNvSpPr/>
          <p:nvPr/>
        </p:nvSpPr>
        <p:spPr>
          <a:xfrm>
            <a:off x="8610600" y="1981200"/>
            <a:ext cx="1143000" cy="838200"/>
          </a:xfrm>
          <a:prstGeom prst="ellipse">
            <a:avLst/>
          </a:prstGeom>
          <a:noFill/>
          <a:ln cap="flat" cmpd="sng" w="38100">
            <a:solidFill>
              <a:srgbClr val="006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3" name="Google Shape;643;p40"/>
          <p:cNvGrpSpPr/>
          <p:nvPr/>
        </p:nvGrpSpPr>
        <p:grpSpPr>
          <a:xfrm>
            <a:off x="7391400" y="2743201"/>
            <a:ext cx="1447800" cy="307777"/>
            <a:chOff x="5257800" y="2590800"/>
            <a:chExt cx="1295400" cy="307777"/>
          </a:xfrm>
        </p:grpSpPr>
        <p:cxnSp>
          <p:nvCxnSpPr>
            <p:cNvPr id="644" name="Google Shape;644;p40"/>
            <p:cNvCxnSpPr/>
            <p:nvPr/>
          </p:nvCxnSpPr>
          <p:spPr>
            <a:xfrm>
              <a:off x="5257800" y="2743200"/>
              <a:ext cx="1295400" cy="1588"/>
            </a:xfrm>
            <a:prstGeom prst="straightConnector1">
              <a:avLst/>
            </a:prstGeom>
            <a:noFill/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45" name="Google Shape;645;p40"/>
            <p:cNvSpPr txBox="1"/>
            <p:nvPr/>
          </p:nvSpPr>
          <p:spPr>
            <a:xfrm>
              <a:off x="5486484" y="2590800"/>
              <a:ext cx="838033" cy="307777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10.2.0.0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6" name="Google Shape;646;p40"/>
          <p:cNvGrpSpPr/>
          <p:nvPr/>
        </p:nvGrpSpPr>
        <p:grpSpPr>
          <a:xfrm>
            <a:off x="6096000" y="2743201"/>
            <a:ext cx="1371600" cy="307777"/>
            <a:chOff x="5257800" y="2590800"/>
            <a:chExt cx="1295400" cy="307777"/>
          </a:xfrm>
        </p:grpSpPr>
        <p:cxnSp>
          <p:nvCxnSpPr>
            <p:cNvPr id="647" name="Google Shape;647;p40"/>
            <p:cNvCxnSpPr/>
            <p:nvPr/>
          </p:nvCxnSpPr>
          <p:spPr>
            <a:xfrm>
              <a:off x="5257800" y="2743200"/>
              <a:ext cx="1295400" cy="1588"/>
            </a:xfrm>
            <a:prstGeom prst="straightConnector1">
              <a:avLst/>
            </a:prstGeom>
            <a:noFill/>
            <a:ln cap="flat" cmpd="sng" w="50800">
              <a:solidFill>
                <a:srgbClr val="531A88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48" name="Google Shape;648;p40"/>
            <p:cNvSpPr txBox="1"/>
            <p:nvPr/>
          </p:nvSpPr>
          <p:spPr>
            <a:xfrm>
              <a:off x="5485694" y="2590800"/>
              <a:ext cx="839611" cy="307777"/>
            </a:xfrm>
            <a:prstGeom prst="rect">
              <a:avLst/>
            </a:prstGeom>
            <a:solidFill>
              <a:srgbClr val="531A88"/>
            </a:solidFill>
            <a:ln cap="flat" cmpd="sng" w="25400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10.1.0.0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9" name="Google Shape;649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v10.jpg" id="654" name="Google Shape;65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485901"/>
            <a:ext cx="8839200" cy="343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1"/>
          <p:cNvSpPr txBox="1"/>
          <p:nvPr>
            <p:ph idx="4294967295" type="title"/>
          </p:nvPr>
        </p:nvSpPr>
        <p:spPr>
          <a:xfrm>
            <a:off x="1676400" y="571500"/>
            <a:ext cx="10018713" cy="657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Next Exchange of Routing Information</a:t>
            </a:r>
            <a:endParaRPr/>
          </a:p>
        </p:txBody>
      </p:sp>
      <p:sp>
        <p:nvSpPr>
          <p:cNvPr id="656" name="Google Shape;656;p41"/>
          <p:cNvSpPr txBox="1"/>
          <p:nvPr>
            <p:ph idx="4294967295" type="body"/>
          </p:nvPr>
        </p:nvSpPr>
        <p:spPr>
          <a:xfrm>
            <a:off x="1558835" y="5175252"/>
            <a:ext cx="9609908" cy="13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Tahoma"/>
              <a:buChar char="•"/>
            </a:pPr>
            <a:r>
              <a:rPr lang="en-US" sz="2400"/>
              <a:t>The network has</a:t>
            </a:r>
            <a:r>
              <a:rPr lang="en-US" sz="2400">
                <a:solidFill>
                  <a:srgbClr val="FFFF00"/>
                </a:solidFill>
              </a:rPr>
              <a:t> </a:t>
            </a:r>
            <a:r>
              <a:rPr b="1" lang="en-US" sz="2400">
                <a:solidFill>
                  <a:srgbClr val="FF0000"/>
                </a:solidFill>
              </a:rPr>
              <a:t>CONVERGED!</a:t>
            </a:r>
            <a:endParaRPr b="1" sz="2400"/>
          </a:p>
          <a:p>
            <a:pPr indent="-342900" lvl="2" marL="796925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Font typeface="Tahoma"/>
              <a:buChar char="•"/>
            </a:pPr>
            <a:r>
              <a:rPr lang="en-US" sz="2400"/>
              <a:t>All routers now know about all of the networks attached to all of their neighbouring routers.</a:t>
            </a:r>
            <a:endParaRPr sz="24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657" name="Google Shape;657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2"/>
          <p:cNvSpPr txBox="1"/>
          <p:nvPr>
            <p:ph idx="4294967295" type="title"/>
          </p:nvPr>
        </p:nvSpPr>
        <p:spPr>
          <a:xfrm>
            <a:off x="1655761" y="485775"/>
            <a:ext cx="10018713" cy="385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Convergence</a:t>
            </a:r>
            <a:endParaRPr/>
          </a:p>
        </p:txBody>
      </p:sp>
      <p:sp>
        <p:nvSpPr>
          <p:cNvPr id="663" name="Google Shape;663;p42"/>
          <p:cNvSpPr txBox="1"/>
          <p:nvPr>
            <p:ph idx="4294967295" type="body"/>
          </p:nvPr>
        </p:nvSpPr>
        <p:spPr>
          <a:xfrm>
            <a:off x="1819276" y="1200150"/>
            <a:ext cx="8839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amount of time it</a:t>
            </a:r>
            <a:br>
              <a:rPr lang="en-US"/>
            </a:br>
            <a:r>
              <a:rPr lang="en-US"/>
              <a:t>takes for a network to</a:t>
            </a:r>
            <a:br>
              <a:rPr lang="en-US"/>
            </a:br>
            <a:r>
              <a:rPr lang="en-US"/>
              <a:t>converge is </a:t>
            </a:r>
            <a:r>
              <a:rPr lang="en-US">
                <a:solidFill>
                  <a:srgbClr val="FF0000"/>
                </a:solidFill>
              </a:rPr>
              <a:t>directly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proportional to the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size of that network.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Routing protocols are</a:t>
            </a:r>
            <a:br>
              <a:rPr lang="en-US"/>
            </a:br>
            <a:r>
              <a:rPr lang="en-US"/>
              <a:t>compared based on</a:t>
            </a:r>
            <a:br>
              <a:rPr lang="en-US"/>
            </a:br>
            <a:r>
              <a:rPr lang="en-US"/>
              <a:t>how fast they can</a:t>
            </a:r>
            <a:br>
              <a:rPr lang="en-US"/>
            </a:br>
            <a:r>
              <a:rPr lang="en-US"/>
              <a:t>propagate this information - their </a:t>
            </a:r>
            <a:r>
              <a:rPr lang="en-US">
                <a:solidFill>
                  <a:srgbClr val="FF0000"/>
                </a:solidFill>
              </a:rPr>
              <a:t>speed to convergence.</a:t>
            </a:r>
            <a:br>
              <a:rPr lang="en-US">
                <a:solidFill>
                  <a:srgbClr val="FF0000"/>
                </a:solidFill>
              </a:rPr>
            </a:br>
            <a:endParaRPr>
              <a:solidFill>
                <a:srgbClr val="FF0000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 network is not completely operable until it has converged. </a:t>
            </a:r>
            <a:endParaRPr/>
          </a:p>
          <a:p>
            <a:pPr indent="-288925" lvl="1" marL="8556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Network administrators prefer routing protocols with shorter convergence times.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descr="dv12.jpg" id="664" name="Google Shape;66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9101" y="1200150"/>
            <a:ext cx="4957763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3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Mehnaz Seraj</dc:creator>
</cp:coreProperties>
</file>
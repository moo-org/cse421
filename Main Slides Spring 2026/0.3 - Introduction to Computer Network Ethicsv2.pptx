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9144000"/>
  <p:embeddedFontLst>
    <p:embeddedFont>
      <p:font typeface="Corbel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jAJxUmf97BmTdEAj0J3zUJ+h+O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Corbel-bold.fntdata"/><Relationship Id="rId12" Type="http://schemas.openxmlformats.org/officeDocument/2006/relationships/slide" Target="slides/slide7.xml"/><Relationship Id="rId34" Type="http://schemas.openxmlformats.org/officeDocument/2006/relationships/font" Target="fonts/Corbel-regular.fntdata"/><Relationship Id="rId15" Type="http://schemas.openxmlformats.org/officeDocument/2006/relationships/slide" Target="slides/slide10.xml"/><Relationship Id="rId37" Type="http://schemas.openxmlformats.org/officeDocument/2006/relationships/font" Target="fonts/Corbel-boldItalic.fntdata"/><Relationship Id="rId14" Type="http://schemas.openxmlformats.org/officeDocument/2006/relationships/slide" Target="slides/slide9.xml"/><Relationship Id="rId36" Type="http://schemas.openxmlformats.org/officeDocument/2006/relationships/font" Target="fonts/Corbel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2e19ad22b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2e19ad22b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b2e19ad22b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2e19ad22b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2e19ad22b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b2e19ad22b_0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2e19ad22b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2e19ad22b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2e19ad22b_0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2e19ad22b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2e19ad22b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b2e19ad22b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2e19ad22b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b2e19ad22b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b2e19ad22b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2e19ad22b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b2e19ad22b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b2e19ad22b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2e19ad22b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b2e19ad22b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b2e19ad22b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2e19ad22b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b2e19ad22b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b2e19ad22b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2e19ad22b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b2e19ad22b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b2e19ad22b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2e19ad22b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3b2e19ad22b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2e19ad22b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b2e19ad22b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b2e19ad22b_0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1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31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31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31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31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31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31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3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3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34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8" name="Google Shape;58;p35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9" name="Google Shape;59;p35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0" name="Google Shape;60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38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9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9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9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0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0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0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1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1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2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2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2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2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42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3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3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4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4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4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44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5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5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45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6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7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7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4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0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30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30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30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30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30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30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3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3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3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3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hyperlink" Target="http://www.acm.org/about/code-of-ethic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Introduction to Computer Network Ethics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0.3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type="title"/>
          </p:nvPr>
        </p:nvSpPr>
        <p:spPr>
          <a:xfrm>
            <a:off x="1256842" y="286113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Objectives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 txBox="1"/>
          <p:nvPr>
            <p:ph idx="1" type="body"/>
          </p:nvPr>
        </p:nvSpPr>
        <p:spPr>
          <a:xfrm>
            <a:off x="1484310" y="1505813"/>
            <a:ext cx="10018713" cy="4285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Understand what </a:t>
            </a:r>
            <a:r>
              <a:rPr b="1" lang="en-US" sz="36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morality</a:t>
            </a:r>
            <a:r>
              <a:rPr lang="en-US" sz="36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US" sz="360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ethics</a:t>
            </a:r>
            <a:r>
              <a:rPr lang="en-US" sz="3600">
                <a:latin typeface="Arial"/>
                <a:ea typeface="Arial"/>
                <a:cs typeface="Arial"/>
                <a:sym typeface="Arial"/>
              </a:rPr>
              <a:t> mean</a:t>
            </a:r>
            <a:br>
              <a:rPr lang="en-US" sz="3600">
                <a:latin typeface="Arial"/>
                <a:ea typeface="Arial"/>
                <a:cs typeface="Arial"/>
                <a:sym typeface="Arial"/>
              </a:rPr>
            </a:b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Learn why </a:t>
            </a:r>
            <a:r>
              <a:rPr b="1" lang="en-US" sz="36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ethics matter in computer networks</a:t>
            </a:r>
            <a:br>
              <a:rPr b="1" lang="en-US" sz="36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360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Char char="•"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Understand </a:t>
            </a:r>
            <a:r>
              <a:rPr b="1" lang="en-US" sz="360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responsible behavior online</a:t>
            </a:r>
            <a:endParaRPr b="1" sz="3600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/>
          <p:nvPr/>
        </p:nvSpPr>
        <p:spPr>
          <a:xfrm>
            <a:off x="1676400" y="447667"/>
            <a:ext cx="9352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Morality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8"/>
          <p:cNvSpPr/>
          <p:nvPr/>
        </p:nvSpPr>
        <p:spPr>
          <a:xfrm>
            <a:off x="1384125" y="1773225"/>
            <a:ext cx="10486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Morality means </a:t>
            </a:r>
            <a:r>
              <a:rPr b="1" lang="en-US" sz="3600">
                <a:solidFill>
                  <a:schemeClr val="dk1"/>
                </a:solidFill>
              </a:rPr>
              <a:t>knowing right and wrong</a:t>
            </a:r>
            <a:br>
              <a:rPr b="1" lang="en-US" sz="3600">
                <a:solidFill>
                  <a:schemeClr val="dk1"/>
                </a:solidFill>
              </a:rPr>
            </a:br>
            <a:endParaRPr b="1"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It guides how people </a:t>
            </a:r>
            <a:r>
              <a:rPr b="1" lang="en-US" sz="3600">
                <a:solidFill>
                  <a:schemeClr val="dk1"/>
                </a:solidFill>
              </a:rPr>
              <a:t>should behave</a:t>
            </a:r>
            <a:br>
              <a:rPr b="1" lang="en-US" sz="3600">
                <a:solidFill>
                  <a:schemeClr val="dk1"/>
                </a:solidFill>
              </a:rPr>
            </a:br>
            <a:endParaRPr b="1"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Morality depends on </a:t>
            </a:r>
            <a:r>
              <a:rPr b="1" lang="en-US" sz="3600">
                <a:solidFill>
                  <a:schemeClr val="dk1"/>
                </a:solidFill>
              </a:rPr>
              <a:t>culture, place, and time</a:t>
            </a:r>
            <a:br>
              <a:rPr b="1" lang="en-US" sz="3600">
                <a:solidFill>
                  <a:schemeClr val="dk1"/>
                </a:solidFill>
              </a:rPr>
            </a:br>
            <a:endParaRPr b="1"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What is right in one society may be wrong in another</a:t>
            </a:r>
            <a:endParaRPr sz="3600">
              <a:solidFill>
                <a:schemeClr val="dk1"/>
              </a:solidFill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3600">
              <a:solidFill>
                <a:srgbClr val="1155CC"/>
              </a:solidFill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/>
          <p:nvPr/>
        </p:nvSpPr>
        <p:spPr>
          <a:xfrm>
            <a:off x="1676400" y="447667"/>
            <a:ext cx="9352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Ethics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9"/>
          <p:cNvSpPr/>
          <p:nvPr/>
        </p:nvSpPr>
        <p:spPr>
          <a:xfrm>
            <a:off x="1676400" y="1773226"/>
            <a:ext cx="10170600" cy="4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Ethics is the </a:t>
            </a:r>
            <a:r>
              <a:rPr b="1" lang="en-US" sz="3600">
                <a:solidFill>
                  <a:schemeClr val="dk1"/>
                </a:solidFill>
              </a:rPr>
              <a:t>study of right and wrong actions</a:t>
            </a:r>
            <a:br>
              <a:rPr b="1" lang="en-US" sz="3600">
                <a:solidFill>
                  <a:schemeClr val="dk1"/>
                </a:solidFill>
              </a:rPr>
            </a:br>
            <a:endParaRPr b="1"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It helps us </a:t>
            </a:r>
            <a:r>
              <a:rPr b="1" lang="en-US" sz="3600">
                <a:solidFill>
                  <a:schemeClr val="dk1"/>
                </a:solidFill>
              </a:rPr>
              <a:t>decide what is fair and correct</a:t>
            </a:r>
            <a:br>
              <a:rPr b="1" lang="en-US" sz="3600">
                <a:solidFill>
                  <a:schemeClr val="dk1"/>
                </a:solidFill>
              </a:rPr>
            </a:br>
            <a:endParaRPr b="1"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Ethics builds </a:t>
            </a:r>
            <a:r>
              <a:rPr b="1" lang="en-US" sz="3600">
                <a:solidFill>
                  <a:schemeClr val="dk1"/>
                </a:solidFill>
              </a:rPr>
              <a:t>trust and cooperation</a:t>
            </a:r>
            <a:r>
              <a:rPr lang="en-US" sz="3600">
                <a:solidFill>
                  <a:schemeClr val="dk1"/>
                </a:solidFill>
              </a:rPr>
              <a:t> in society</a:t>
            </a:r>
            <a:br>
              <a:rPr lang="en-US" sz="3600">
                <a:solidFill>
                  <a:schemeClr val="dk1"/>
                </a:solidFill>
              </a:rPr>
            </a:b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It helps justify </a:t>
            </a:r>
            <a:r>
              <a:rPr b="1" lang="en-US" sz="3600">
                <a:solidFill>
                  <a:schemeClr val="dk1"/>
                </a:solidFill>
              </a:rPr>
              <a:t>why an action is right or wrong</a:t>
            </a:r>
            <a:endParaRPr b="1" sz="3600">
              <a:solidFill>
                <a:schemeClr val="dk1"/>
              </a:solidFill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2e19ad22b_0_6"/>
          <p:cNvSpPr txBox="1"/>
          <p:nvPr>
            <p:ph type="title"/>
          </p:nvPr>
        </p:nvSpPr>
        <p:spPr>
          <a:xfrm>
            <a:off x="1484300" y="361425"/>
            <a:ext cx="10018800" cy="1044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Morality vs Ethics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b2e19ad22b_0_6"/>
          <p:cNvSpPr txBox="1"/>
          <p:nvPr>
            <p:ph idx="1" type="body"/>
          </p:nvPr>
        </p:nvSpPr>
        <p:spPr>
          <a:xfrm>
            <a:off x="1484300" y="1614100"/>
            <a:ext cx="10018800" cy="4796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Example :</a:t>
            </a:r>
            <a:endParaRPr b="1" sz="360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Morality:</a:t>
            </a:r>
            <a:r>
              <a:rPr lang="en-US" sz="3600">
                <a:latin typeface="Arial"/>
                <a:ea typeface="Arial"/>
                <a:cs typeface="Arial"/>
                <a:sym typeface="Arial"/>
              </a:rPr>
              <a:t> You feel it is wrong to read someone else’s email.</a:t>
            </a:r>
            <a:br>
              <a:rPr lang="en-US" sz="3600">
                <a:latin typeface="Arial"/>
                <a:ea typeface="Arial"/>
                <a:cs typeface="Arial"/>
                <a:sym typeface="Arial"/>
              </a:rPr>
            </a:b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Ethics: </a:t>
            </a:r>
            <a:r>
              <a:rPr lang="en-US" sz="3600">
                <a:latin typeface="Arial"/>
                <a:ea typeface="Arial"/>
                <a:cs typeface="Arial"/>
                <a:sym typeface="Arial"/>
              </a:rPr>
              <a:t>University IT policy clearly states that accessing others’ emails is not allowed.</a:t>
            </a:r>
            <a:endParaRPr sz="3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8"/>
          <p:cNvSpPr/>
          <p:nvPr/>
        </p:nvSpPr>
        <p:spPr>
          <a:xfrm>
            <a:off x="1676400" y="169642"/>
            <a:ext cx="9352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Ethical Theories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8"/>
          <p:cNvSpPr/>
          <p:nvPr/>
        </p:nvSpPr>
        <p:spPr>
          <a:xfrm>
            <a:off x="1514225" y="1253400"/>
            <a:ext cx="10425600" cy="53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</a:rPr>
              <a:t>Ethical theories help us judge actions.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Two main types:</a:t>
            </a:r>
            <a:endParaRPr b="1" sz="30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-US" sz="2800">
                <a:solidFill>
                  <a:srgbClr val="1155CC"/>
                </a:solidFill>
              </a:rPr>
              <a:t>Consequentialist</a:t>
            </a:r>
            <a:r>
              <a:rPr lang="en-US" sz="2800">
                <a:solidFill>
                  <a:srgbClr val="1155CC"/>
                </a:solidFill>
              </a:rPr>
              <a:t>:</a:t>
            </a:r>
            <a:br>
              <a:rPr lang="en-US" sz="2800">
                <a:solidFill>
                  <a:srgbClr val="1155CC"/>
                </a:solidFill>
              </a:rPr>
            </a:br>
            <a:r>
              <a:rPr lang="en-US" sz="2600">
                <a:solidFill>
                  <a:schemeClr val="dk1"/>
                </a:solidFill>
              </a:rPr>
              <a:t> → Looks at the </a:t>
            </a:r>
            <a:r>
              <a:rPr b="1" lang="en-US" sz="2600">
                <a:solidFill>
                  <a:schemeClr val="dk1"/>
                </a:solidFill>
              </a:rPr>
              <a:t>result</a:t>
            </a:r>
            <a:r>
              <a:rPr lang="en-US" sz="2600">
                <a:solidFill>
                  <a:schemeClr val="dk1"/>
                </a:solidFill>
              </a:rPr>
              <a:t> of an action</a:t>
            </a:r>
            <a:br>
              <a:rPr lang="en-US" sz="2600">
                <a:solidFill>
                  <a:schemeClr val="dk1"/>
                </a:solidFill>
              </a:rPr>
            </a:br>
            <a:r>
              <a:rPr lang="en-US" sz="2600">
                <a:solidFill>
                  <a:schemeClr val="dk1"/>
                </a:solidFill>
              </a:rPr>
              <a:t> → Example: “Did this action help more people?”</a:t>
            </a:r>
            <a:br>
              <a:rPr lang="en-US" sz="2600">
                <a:solidFill>
                  <a:schemeClr val="dk1"/>
                </a:solidFill>
              </a:rPr>
            </a:b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-US" sz="2800">
                <a:solidFill>
                  <a:srgbClr val="1155CC"/>
                </a:solidFill>
              </a:rPr>
              <a:t>Deontological</a:t>
            </a:r>
            <a:r>
              <a:rPr lang="en-US" sz="2800">
                <a:solidFill>
                  <a:srgbClr val="1155CC"/>
                </a:solidFill>
              </a:rPr>
              <a:t>:</a:t>
            </a:r>
            <a:br>
              <a:rPr lang="en-US" sz="2800">
                <a:solidFill>
                  <a:srgbClr val="1155CC"/>
                </a:solidFill>
              </a:rPr>
            </a:br>
            <a:r>
              <a:rPr lang="en-US" sz="2600">
                <a:solidFill>
                  <a:schemeClr val="dk1"/>
                </a:solidFill>
              </a:rPr>
              <a:t> → Looks at the </a:t>
            </a:r>
            <a:r>
              <a:rPr b="1" lang="en-US" sz="2600">
                <a:solidFill>
                  <a:schemeClr val="dk1"/>
                </a:solidFill>
              </a:rPr>
              <a:t>intention and rules</a:t>
            </a:r>
            <a:br>
              <a:rPr b="1" lang="en-US" sz="2600">
                <a:solidFill>
                  <a:schemeClr val="dk1"/>
                </a:solidFill>
              </a:rPr>
            </a:br>
            <a:r>
              <a:rPr lang="en-US" sz="2600">
                <a:solidFill>
                  <a:schemeClr val="dk1"/>
                </a:solidFill>
              </a:rPr>
              <a:t> → Example: “Was this action right, even if the result was bad?”</a:t>
            </a:r>
            <a:endParaRPr sz="2600">
              <a:solidFill>
                <a:schemeClr val="dk1"/>
              </a:solidFill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2e19ad22b_0_83"/>
          <p:cNvSpPr txBox="1"/>
          <p:nvPr>
            <p:ph type="title"/>
          </p:nvPr>
        </p:nvSpPr>
        <p:spPr>
          <a:xfrm>
            <a:off x="1345275" y="199250"/>
            <a:ext cx="10018800" cy="85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Examples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b2e19ad22b_0_83"/>
          <p:cNvSpPr txBox="1"/>
          <p:nvPr>
            <p:ph idx="1" type="body"/>
          </p:nvPr>
        </p:nvSpPr>
        <p:spPr>
          <a:xfrm>
            <a:off x="1484300" y="1289725"/>
            <a:ext cx="10018800" cy="514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SzPts val="358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Consequentialist Ethics 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A student shares lecture notes with the whole class before an exam.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This helps many students prepare better.</a:t>
            </a:r>
            <a:br>
              <a:rPr lang="en-US" sz="3000">
                <a:latin typeface="Arial"/>
                <a:ea typeface="Arial"/>
                <a:cs typeface="Arial"/>
                <a:sym typeface="Arial"/>
              </a:rPr>
            </a:b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Thinking (Consequentialist view):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The action is ethical because the </a:t>
            </a: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result helps more people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207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78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2e19ad22b_0_90"/>
          <p:cNvSpPr txBox="1"/>
          <p:nvPr>
            <p:ph idx="1" type="body"/>
          </p:nvPr>
        </p:nvSpPr>
        <p:spPr>
          <a:xfrm>
            <a:off x="1484300" y="1289725"/>
            <a:ext cx="10018800" cy="514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SzPts val="358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Deontological Ethics 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SzPts val="358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A student finds the exam question paper before the exam.</a:t>
            </a:r>
            <a:br>
              <a:rPr lang="en-US" sz="3000">
                <a:latin typeface="Arial"/>
                <a:ea typeface="Arial"/>
                <a:cs typeface="Arial"/>
                <a:sym typeface="Arial"/>
              </a:rPr>
            </a:br>
            <a:r>
              <a:rPr lang="en-US" sz="3000">
                <a:latin typeface="Arial"/>
                <a:ea typeface="Arial"/>
                <a:cs typeface="Arial"/>
                <a:sym typeface="Arial"/>
              </a:rPr>
              <a:t>Even if sharing it could help friends score better, the student does not share it.</a:t>
            </a:r>
            <a:br>
              <a:rPr lang="en-US" sz="3000">
                <a:latin typeface="Arial"/>
                <a:ea typeface="Arial"/>
                <a:cs typeface="Arial"/>
                <a:sym typeface="Arial"/>
              </a:rPr>
            </a:b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Thinking (Deontological view):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The action is ethical because </a:t>
            </a: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sharing is wrong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, even if the result might help others.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780"/>
          </a:p>
        </p:txBody>
      </p:sp>
      <p:sp>
        <p:nvSpPr>
          <p:cNvPr id="198" name="Google Shape;198;g3b2e19ad22b_0_90"/>
          <p:cNvSpPr txBox="1"/>
          <p:nvPr>
            <p:ph type="title"/>
          </p:nvPr>
        </p:nvSpPr>
        <p:spPr>
          <a:xfrm>
            <a:off x="1368425" y="430825"/>
            <a:ext cx="10018800" cy="85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Examples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49"/>
          <p:cNvSpPr/>
          <p:nvPr/>
        </p:nvSpPr>
        <p:spPr>
          <a:xfrm>
            <a:off x="1676400" y="447667"/>
            <a:ext cx="9352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Ethical Principles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9"/>
          <p:cNvSpPr/>
          <p:nvPr/>
        </p:nvSpPr>
        <p:spPr>
          <a:xfrm>
            <a:off x="1384125" y="1773220"/>
            <a:ext cx="9937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dk1"/>
                </a:solidFill>
              </a:rPr>
              <a:t>An action is ethical if: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>
                <a:solidFill>
                  <a:schemeClr val="dk1"/>
                </a:solidFill>
              </a:rPr>
              <a:t>It </a:t>
            </a:r>
            <a:r>
              <a:rPr b="1" lang="en-US" sz="3600">
                <a:solidFill>
                  <a:schemeClr val="dk1"/>
                </a:solidFill>
              </a:rPr>
              <a:t>benefits society</a:t>
            </a:r>
            <a:br>
              <a:rPr b="1" lang="en-US" sz="3600">
                <a:solidFill>
                  <a:schemeClr val="dk1"/>
                </a:solidFill>
              </a:rPr>
            </a:br>
            <a:endParaRPr b="1"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>
                <a:solidFill>
                  <a:schemeClr val="dk1"/>
                </a:solidFill>
              </a:rPr>
              <a:t>It </a:t>
            </a:r>
            <a:r>
              <a:rPr b="1" lang="en-US" sz="3600">
                <a:solidFill>
                  <a:schemeClr val="dk1"/>
                </a:solidFill>
              </a:rPr>
              <a:t>respects people</a:t>
            </a:r>
            <a:r>
              <a:rPr lang="en-US" sz="3600">
                <a:solidFill>
                  <a:schemeClr val="dk1"/>
                </a:solidFill>
              </a:rPr>
              <a:t> and does not use them</a:t>
            </a:r>
            <a:br>
              <a:rPr lang="en-US" sz="3600">
                <a:solidFill>
                  <a:schemeClr val="dk1"/>
                </a:solidFill>
              </a:rPr>
            </a:b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AutoNum type="arabicPeriod"/>
            </a:pPr>
            <a:r>
              <a:rPr lang="en-US" sz="3600">
                <a:solidFill>
                  <a:schemeClr val="dk1"/>
                </a:solidFill>
              </a:rPr>
              <a:t>It is </a:t>
            </a:r>
            <a:r>
              <a:rPr b="1" lang="en-US" sz="3600">
                <a:solidFill>
                  <a:schemeClr val="dk1"/>
                </a:solidFill>
              </a:rPr>
              <a:t>fair to everyone</a:t>
            </a:r>
            <a:br>
              <a:rPr b="1" lang="en-US" sz="3600">
                <a:solidFill>
                  <a:schemeClr val="dk1"/>
                </a:solidFill>
              </a:rPr>
            </a:br>
            <a:endParaRPr b="1" sz="3600">
              <a:solidFill>
                <a:schemeClr val="dk1"/>
              </a:solidFill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50"/>
          <p:cNvSpPr/>
          <p:nvPr/>
        </p:nvSpPr>
        <p:spPr>
          <a:xfrm>
            <a:off x="1676400" y="447667"/>
            <a:ext cx="9352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Professional Codes of Ethics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0"/>
          <p:cNvSpPr/>
          <p:nvPr/>
        </p:nvSpPr>
        <p:spPr>
          <a:xfrm>
            <a:off x="1384125" y="1549300"/>
            <a:ext cx="10807800" cy="5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chemeClr val="dk1"/>
                </a:solidFill>
              </a:rPr>
              <a:t>A code of ethics tells professionals </a:t>
            </a:r>
            <a:r>
              <a:rPr b="1" lang="en-US" sz="2800">
                <a:solidFill>
                  <a:schemeClr val="dk1"/>
                </a:solidFill>
              </a:rPr>
              <a:t>how to behave</a:t>
            </a:r>
            <a:br>
              <a:rPr b="1" lang="en-US" sz="2800">
                <a:solidFill>
                  <a:schemeClr val="dk1"/>
                </a:solidFill>
              </a:rPr>
            </a:b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chemeClr val="dk1"/>
                </a:solidFill>
              </a:rPr>
              <a:t>Helps maintain </a:t>
            </a:r>
            <a:r>
              <a:rPr b="1" lang="en-US" sz="2800">
                <a:solidFill>
                  <a:schemeClr val="dk1"/>
                </a:solidFill>
              </a:rPr>
              <a:t>high standards and trust</a:t>
            </a:r>
            <a:br>
              <a:rPr b="1" lang="en-US" sz="2800">
                <a:solidFill>
                  <a:schemeClr val="dk1"/>
                </a:solidFill>
              </a:rPr>
            </a:b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chemeClr val="dk1"/>
                </a:solidFill>
              </a:rPr>
              <a:t>Guides ethical decision-making</a:t>
            </a:r>
            <a:br>
              <a:rPr lang="en-US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chemeClr val="dk1"/>
                </a:solidFill>
              </a:rPr>
              <a:t>Example: </a:t>
            </a:r>
            <a:r>
              <a:rPr b="1" lang="en-US" sz="2800">
                <a:solidFill>
                  <a:schemeClr val="dk1"/>
                </a:solidFill>
              </a:rPr>
              <a:t>ACM Code of Ethics</a:t>
            </a:r>
            <a:r>
              <a:rPr lang="en-US" sz="2800">
                <a:solidFill>
                  <a:schemeClr val="dk1"/>
                </a:solidFill>
              </a:rPr>
              <a:t> for computing professionals</a:t>
            </a:r>
            <a:endParaRPr sz="2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Association for Computing Machinery’s Code of Ethics can be found here: </a:t>
            </a:r>
            <a:r>
              <a:rPr b="0" i="0" lang="en-US" sz="2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www.acm.org/about/code-of-ethics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1"/>
          <p:cNvSpPr/>
          <p:nvPr/>
        </p:nvSpPr>
        <p:spPr>
          <a:xfrm>
            <a:off x="1792250" y="-8"/>
            <a:ext cx="9352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Ethics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1"/>
          <p:cNvSpPr/>
          <p:nvPr/>
        </p:nvSpPr>
        <p:spPr>
          <a:xfrm>
            <a:off x="1499900" y="1066801"/>
            <a:ext cx="9937500" cy="51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Computer ethics focuses on:</a:t>
            </a:r>
            <a:endParaRPr sz="36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</a:rPr>
              <a:t>Privacy</a:t>
            </a:r>
            <a:r>
              <a:rPr lang="en-US" sz="3000">
                <a:solidFill>
                  <a:schemeClr val="dk1"/>
                </a:solidFill>
              </a:rPr>
              <a:t> – protect personal data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</a:rPr>
              <a:t>Accuracy</a:t>
            </a:r>
            <a:r>
              <a:rPr lang="en-US" sz="3000">
                <a:solidFill>
                  <a:schemeClr val="dk1"/>
                </a:solidFill>
              </a:rPr>
              <a:t> – keep data correct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</a:rPr>
              <a:t>Property</a:t>
            </a:r>
            <a:r>
              <a:rPr lang="en-US" sz="3000">
                <a:solidFill>
                  <a:schemeClr val="dk1"/>
                </a:solidFill>
              </a:rPr>
              <a:t> – respect ownership of software and data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</a:rPr>
              <a:t>Access</a:t>
            </a:r>
            <a:r>
              <a:rPr lang="en-US" sz="3000">
                <a:solidFill>
                  <a:schemeClr val="dk1"/>
                </a:solidFill>
              </a:rPr>
              <a:t> – control who can see or use information</a:t>
            </a:r>
            <a:endParaRPr sz="3000">
              <a:solidFill>
                <a:schemeClr val="dk1"/>
              </a:solidFill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2"/>
          <p:cNvSpPr/>
          <p:nvPr/>
        </p:nvSpPr>
        <p:spPr>
          <a:xfrm>
            <a:off x="1676400" y="447667"/>
            <a:ext cx="9352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Ethics for Computer Professionals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2"/>
          <p:cNvSpPr/>
          <p:nvPr/>
        </p:nvSpPr>
        <p:spPr>
          <a:xfrm>
            <a:off x="1676400" y="1773220"/>
            <a:ext cx="9937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</a:rPr>
              <a:t>Professionals should show:</a:t>
            </a: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</a:rPr>
              <a:t>Competence</a:t>
            </a:r>
            <a:r>
              <a:rPr lang="en-US" sz="3000">
                <a:solidFill>
                  <a:schemeClr val="dk1"/>
                </a:solidFill>
              </a:rPr>
              <a:t> – work only in areas they understand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</a:rPr>
              <a:t>Responsibility</a:t>
            </a:r>
            <a:r>
              <a:rPr lang="en-US" sz="3000">
                <a:solidFill>
                  <a:schemeClr val="dk1"/>
                </a:solidFill>
              </a:rPr>
              <a:t> – protect confidential information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b="1" lang="en-US" sz="3000">
                <a:solidFill>
                  <a:schemeClr val="dk1"/>
                </a:solidFill>
              </a:rPr>
              <a:t>Integrity</a:t>
            </a:r>
            <a:r>
              <a:rPr lang="en-US" sz="3000">
                <a:solidFill>
                  <a:schemeClr val="dk1"/>
                </a:solidFill>
              </a:rPr>
              <a:t> – be honest and fair</a:t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6"/>
          <p:cNvSpPr/>
          <p:nvPr/>
        </p:nvSpPr>
        <p:spPr>
          <a:xfrm>
            <a:off x="1676400" y="447667"/>
            <a:ext cx="9352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Ethics Matter in Networking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1676400" y="1618795"/>
            <a:ext cx="9937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3200">
                <a:solidFill>
                  <a:schemeClr val="dk1"/>
                </a:solidFill>
              </a:rPr>
              <a:t>Unethical actions can cause </a:t>
            </a:r>
            <a:r>
              <a:rPr b="1" lang="en-US" sz="3200">
                <a:solidFill>
                  <a:schemeClr val="dk1"/>
                </a:solidFill>
              </a:rPr>
              <a:t>serious harm</a:t>
            </a:r>
            <a:br>
              <a:rPr b="1" lang="en-US" sz="3200">
                <a:solidFill>
                  <a:schemeClr val="dk1"/>
                </a:solidFill>
              </a:rPr>
            </a:br>
            <a:endParaRPr b="1" sz="32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3200">
                <a:solidFill>
                  <a:schemeClr val="dk1"/>
                </a:solidFill>
              </a:rPr>
              <a:t>Example:</a:t>
            </a:r>
            <a:br>
              <a:rPr lang="en-US" sz="3200">
                <a:solidFill>
                  <a:schemeClr val="dk1"/>
                </a:solidFill>
              </a:rPr>
            </a:br>
            <a:r>
              <a:rPr lang="en-US" sz="3200">
                <a:solidFill>
                  <a:schemeClr val="dk1"/>
                </a:solidFill>
              </a:rPr>
              <a:t> → Sharing a password</a:t>
            </a:r>
            <a:br>
              <a:rPr lang="en-US" sz="3200">
                <a:solidFill>
                  <a:schemeClr val="dk1"/>
                </a:solidFill>
              </a:rPr>
            </a:br>
            <a:r>
              <a:rPr lang="en-US" sz="3200">
                <a:solidFill>
                  <a:schemeClr val="dk1"/>
                </a:solidFill>
              </a:rPr>
              <a:t> → Private data gets leaked</a:t>
            </a:r>
            <a:br>
              <a:rPr lang="en-US" sz="3200">
                <a:solidFill>
                  <a:schemeClr val="dk1"/>
                </a:solidFill>
              </a:rPr>
            </a:br>
            <a:r>
              <a:rPr lang="en-US" sz="3200">
                <a:solidFill>
                  <a:schemeClr val="dk1"/>
                </a:solidFill>
              </a:rPr>
              <a:t> → Trust is broken</a:t>
            </a:r>
            <a:br>
              <a:rPr lang="en-US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3200">
                <a:solidFill>
                  <a:schemeClr val="dk1"/>
                </a:solidFill>
              </a:rPr>
              <a:t>Ethical behavior keeps networks </a:t>
            </a:r>
            <a:r>
              <a:rPr b="1" lang="en-US" sz="3200">
                <a:solidFill>
                  <a:schemeClr val="dk1"/>
                </a:solidFill>
              </a:rPr>
              <a:t>safe and reliable</a:t>
            </a:r>
            <a:endParaRPr b="1" sz="3200">
              <a:solidFill>
                <a:schemeClr val="dk1"/>
              </a:solidFill>
            </a:endParaRPr>
          </a:p>
          <a:p>
            <a:pPr indent="-241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2e19ad22b_0_41"/>
          <p:cNvSpPr txBox="1"/>
          <p:nvPr>
            <p:ph type="title"/>
          </p:nvPr>
        </p:nvSpPr>
        <p:spPr>
          <a:xfrm>
            <a:off x="1484300" y="245600"/>
            <a:ext cx="10018800" cy="67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Think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b2e19ad22b_0_41"/>
          <p:cNvSpPr txBox="1"/>
          <p:nvPr>
            <p:ph idx="1" type="body"/>
          </p:nvPr>
        </p:nvSpPr>
        <p:spPr>
          <a:xfrm>
            <a:off x="1484300" y="1220225"/>
            <a:ext cx="10316400" cy="532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23862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75"/>
              <a:buChar char="●"/>
            </a:pPr>
            <a:r>
              <a:rPr lang="en-US" sz="3075">
                <a:latin typeface="Arial"/>
                <a:ea typeface="Arial"/>
                <a:cs typeface="Arial"/>
                <a:sym typeface="Arial"/>
              </a:rPr>
              <a:t>A student shares university Wi-Fi or LMS access with outsiders.</a:t>
            </a:r>
            <a:br>
              <a:rPr lang="en-US" sz="3075">
                <a:latin typeface="Arial"/>
                <a:ea typeface="Arial"/>
                <a:cs typeface="Arial"/>
                <a:sym typeface="Arial"/>
              </a:rPr>
            </a:br>
            <a:endParaRPr sz="3075">
              <a:latin typeface="Arial"/>
              <a:ea typeface="Arial"/>
              <a:cs typeface="Arial"/>
              <a:sym typeface="Arial"/>
            </a:endParaRPr>
          </a:p>
          <a:p>
            <a:pPr indent="-42386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75"/>
              <a:buChar char="●"/>
            </a:pPr>
            <a:r>
              <a:rPr lang="en-US" sz="3075">
                <a:latin typeface="Arial"/>
                <a:ea typeface="Arial"/>
                <a:cs typeface="Arial"/>
                <a:sym typeface="Arial"/>
              </a:rPr>
              <a:t>During exams, the network becomes slow for everyone.</a:t>
            </a:r>
            <a:br>
              <a:rPr lang="en-US" sz="3075">
                <a:latin typeface="Arial"/>
                <a:ea typeface="Arial"/>
                <a:cs typeface="Arial"/>
                <a:sym typeface="Arial"/>
              </a:rPr>
            </a:br>
            <a:endParaRPr sz="30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-US" sz="3075">
                <a:latin typeface="Arial"/>
                <a:ea typeface="Arial"/>
                <a:cs typeface="Arial"/>
                <a:sym typeface="Arial"/>
              </a:rPr>
              <a:t>Think About This:</a:t>
            </a:r>
            <a:endParaRPr b="1" sz="3075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3075">
                <a:latin typeface="Arial"/>
                <a:ea typeface="Arial"/>
                <a:cs typeface="Arial"/>
                <a:sym typeface="Arial"/>
              </a:rPr>
              <a:t>Is it ethical to share access if it harms other students?</a:t>
            </a:r>
            <a:endParaRPr sz="30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77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2e19ad22b_0_20"/>
          <p:cNvSpPr txBox="1"/>
          <p:nvPr>
            <p:ph idx="1" type="body"/>
          </p:nvPr>
        </p:nvSpPr>
        <p:spPr>
          <a:xfrm>
            <a:off x="1692835" y="1415874"/>
            <a:ext cx="10018800" cy="312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-US" sz="40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>
                <a:latin typeface="Arial"/>
                <a:ea typeface="Arial"/>
                <a:cs typeface="Arial"/>
                <a:sym typeface="Arial"/>
              </a:rPr>
              <a:t>do ethical problems actually happen?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6"/>
          <p:cNvSpPr/>
          <p:nvPr/>
        </p:nvSpPr>
        <p:spPr>
          <a:xfrm>
            <a:off x="1676400" y="447667"/>
            <a:ext cx="9352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dk1"/>
                </a:solidFill>
              </a:rPr>
              <a:t>Internet Privacy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6"/>
          <p:cNvSpPr/>
          <p:nvPr/>
        </p:nvSpPr>
        <p:spPr>
          <a:xfrm>
            <a:off x="1676400" y="2058995"/>
            <a:ext cx="993742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Emails are </a:t>
            </a:r>
            <a:r>
              <a:rPr b="1" lang="en-US" sz="3200">
                <a:solidFill>
                  <a:schemeClr val="dk1"/>
                </a:solidFill>
              </a:rPr>
              <a:t>not fully private</a:t>
            </a:r>
            <a:br>
              <a:rPr b="1" lang="en-US" sz="3200">
                <a:solidFill>
                  <a:schemeClr val="dk1"/>
                </a:solidFill>
              </a:rPr>
            </a:br>
            <a:endParaRPr b="1" sz="32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Copies of emails are stored on many computers</a:t>
            </a:r>
            <a:br>
              <a:rPr lang="en-US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Websites use </a:t>
            </a:r>
            <a:r>
              <a:rPr b="1" lang="en-US" sz="3200">
                <a:solidFill>
                  <a:schemeClr val="dk1"/>
                </a:solidFill>
              </a:rPr>
              <a:t>cookies</a:t>
            </a:r>
            <a:r>
              <a:rPr lang="en-US" sz="3200">
                <a:solidFill>
                  <a:schemeClr val="dk1"/>
                </a:solidFill>
              </a:rPr>
              <a:t> to track activity</a:t>
            </a:r>
            <a:br>
              <a:rPr lang="en-US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b="1" lang="en-US" sz="3200">
                <a:solidFill>
                  <a:schemeClr val="dk1"/>
                </a:solidFill>
              </a:rPr>
              <a:t>Spyware</a:t>
            </a:r>
            <a:r>
              <a:rPr lang="en-US" sz="3200">
                <a:solidFill>
                  <a:schemeClr val="dk1"/>
                </a:solidFill>
              </a:rPr>
              <a:t> secretly collects user information</a:t>
            </a:r>
            <a:endParaRPr sz="32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2e19ad22b_0_48"/>
          <p:cNvSpPr txBox="1"/>
          <p:nvPr>
            <p:ph type="title"/>
          </p:nvPr>
        </p:nvSpPr>
        <p:spPr>
          <a:xfrm>
            <a:off x="1484300" y="245600"/>
            <a:ext cx="10018800" cy="67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Think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b2e19ad22b_0_48"/>
          <p:cNvSpPr txBox="1"/>
          <p:nvPr>
            <p:ph idx="1" type="body"/>
          </p:nvPr>
        </p:nvSpPr>
        <p:spPr>
          <a:xfrm>
            <a:off x="1484300" y="1544600"/>
            <a:ext cx="10316400" cy="463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Many people use shared computers in labs, offices, or cyber cafés.</a:t>
            </a:r>
            <a:br>
              <a:rPr lang="en-US" sz="3000">
                <a:latin typeface="Arial"/>
                <a:ea typeface="Arial"/>
                <a:cs typeface="Arial"/>
                <a:sym typeface="Arial"/>
              </a:rPr>
            </a:b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Forgetting to log out can expose personal email or social media.</a:t>
            </a:r>
            <a:br>
              <a:rPr lang="en-US" sz="3000">
                <a:latin typeface="Arial"/>
                <a:ea typeface="Arial"/>
                <a:cs typeface="Arial"/>
                <a:sym typeface="Arial"/>
              </a:rPr>
            </a:b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Think About This: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If you see someone else’s email already open, what should you do?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30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77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57"/>
          <p:cNvSpPr/>
          <p:nvPr/>
        </p:nvSpPr>
        <p:spPr>
          <a:xfrm>
            <a:off x="1676400" y="447667"/>
            <a:ext cx="9352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Crime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7"/>
          <p:cNvSpPr/>
          <p:nvPr/>
        </p:nvSpPr>
        <p:spPr>
          <a:xfrm>
            <a:off x="1491050" y="1773225"/>
            <a:ext cx="9937500" cy="45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dk1"/>
                </a:solidFill>
              </a:rPr>
              <a:t>Computer crime means </a:t>
            </a:r>
            <a:r>
              <a:rPr b="1" lang="en-US" sz="3600">
                <a:solidFill>
                  <a:schemeClr val="dk1"/>
                </a:solidFill>
              </a:rPr>
              <a:t>using computers for illegal acts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chemeClr val="dk1"/>
                </a:solidFill>
              </a:rPr>
              <a:t>Common criminals: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Employees (most common)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Hackers and crackers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Organized crime groups</a:t>
            </a:r>
            <a:endParaRPr sz="36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8"/>
          <p:cNvSpPr/>
          <p:nvPr/>
        </p:nvSpPr>
        <p:spPr>
          <a:xfrm>
            <a:off x="1676400" y="447667"/>
            <a:ext cx="9352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 of Exploits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8"/>
          <p:cNvSpPr/>
          <p:nvPr/>
        </p:nvSpPr>
        <p:spPr>
          <a:xfrm>
            <a:off x="1676400" y="2058995"/>
            <a:ext cx="993742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Virus</a:t>
            </a:r>
            <a:r>
              <a:rPr lang="en-US" sz="3600">
                <a:solidFill>
                  <a:schemeClr val="dk1"/>
                </a:solidFill>
              </a:rPr>
              <a:t> – spreads with user action</a:t>
            </a:r>
            <a:br>
              <a:rPr lang="en-US" sz="3600">
                <a:solidFill>
                  <a:schemeClr val="dk1"/>
                </a:solidFill>
              </a:rPr>
            </a:b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Worm</a:t>
            </a:r>
            <a:r>
              <a:rPr lang="en-US" sz="3600">
                <a:solidFill>
                  <a:schemeClr val="dk1"/>
                </a:solidFill>
              </a:rPr>
              <a:t> – spreads automatically</a:t>
            </a:r>
            <a:br>
              <a:rPr lang="en-US" sz="3600">
                <a:solidFill>
                  <a:schemeClr val="dk1"/>
                </a:solidFill>
              </a:rPr>
            </a:b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Trojan Horse</a:t>
            </a:r>
            <a:r>
              <a:rPr lang="en-US" sz="3600">
                <a:solidFill>
                  <a:schemeClr val="dk1"/>
                </a:solidFill>
              </a:rPr>
              <a:t> – looks safe but is harmful</a:t>
            </a:r>
            <a:br>
              <a:rPr lang="en-US" sz="3600">
                <a:solidFill>
                  <a:schemeClr val="dk1"/>
                </a:solidFill>
              </a:rPr>
            </a:b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Others: phishing, DDoS, spam, ransomware</a:t>
            </a:r>
            <a:endParaRPr sz="36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2e19ad22b_0_55"/>
          <p:cNvSpPr txBox="1"/>
          <p:nvPr>
            <p:ph type="title"/>
          </p:nvPr>
        </p:nvSpPr>
        <p:spPr>
          <a:xfrm>
            <a:off x="1484300" y="245600"/>
            <a:ext cx="10018800" cy="67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Think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b2e19ad22b_0_55"/>
          <p:cNvSpPr txBox="1"/>
          <p:nvPr>
            <p:ph idx="1" type="body"/>
          </p:nvPr>
        </p:nvSpPr>
        <p:spPr>
          <a:xfrm>
            <a:off x="1484300" y="1544600"/>
            <a:ext cx="10316400" cy="463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Fake “Govt job circular” or “scholarship” emails with links.</a:t>
            </a:r>
            <a:br>
              <a:rPr lang="en-US" sz="3000">
                <a:latin typeface="Arial"/>
                <a:ea typeface="Arial"/>
                <a:cs typeface="Arial"/>
                <a:sym typeface="Arial"/>
              </a:rPr>
            </a:b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Malware spread through USB drives used in computer labs.</a:t>
            </a:r>
            <a:br>
              <a:rPr lang="en-US" sz="3000">
                <a:latin typeface="Arial"/>
                <a:ea typeface="Arial"/>
                <a:cs typeface="Arial"/>
                <a:sym typeface="Arial"/>
              </a:rPr>
            </a:b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Think About This: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How can one careless click affect many users?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30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77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60"/>
          <p:cNvSpPr/>
          <p:nvPr/>
        </p:nvSpPr>
        <p:spPr>
          <a:xfrm>
            <a:off x="1676400" y="447667"/>
            <a:ext cx="9352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</a:t>
            </a:r>
            <a:r>
              <a:rPr lang="en-US" sz="4400">
                <a:solidFill>
                  <a:schemeClr val="dk1"/>
                </a:solidFill>
              </a:rPr>
              <a:t>Stay</a:t>
            </a: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Ethic</a:t>
            </a:r>
            <a:r>
              <a:rPr lang="en-US" sz="4400">
                <a:solidFill>
                  <a:schemeClr val="dk1"/>
                </a:solidFill>
              </a:rPr>
              <a:t>al</a:t>
            </a: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>
                <a:solidFill>
                  <a:schemeClr val="dk1"/>
                </a:solidFill>
              </a:rPr>
              <a:t>Online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60"/>
          <p:cNvSpPr/>
          <p:nvPr/>
        </p:nvSpPr>
        <p:spPr>
          <a:xfrm>
            <a:off x="1676400" y="2058995"/>
            <a:ext cx="993742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Use networks only for </a:t>
            </a:r>
            <a:r>
              <a:rPr b="1" lang="en-US" sz="3600">
                <a:solidFill>
                  <a:schemeClr val="dk1"/>
                </a:solidFill>
              </a:rPr>
              <a:t>study and work</a:t>
            </a:r>
            <a:br>
              <a:rPr b="1" lang="en-US" sz="3600">
                <a:solidFill>
                  <a:schemeClr val="dk1"/>
                </a:solidFill>
              </a:rPr>
            </a:br>
            <a:endParaRPr b="1"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Protect </a:t>
            </a:r>
            <a:r>
              <a:rPr b="1" lang="en-US" sz="3600">
                <a:solidFill>
                  <a:schemeClr val="dk1"/>
                </a:solidFill>
              </a:rPr>
              <a:t>privacy and passwords</a:t>
            </a:r>
            <a:br>
              <a:rPr b="1" lang="en-US" sz="3600">
                <a:solidFill>
                  <a:schemeClr val="dk1"/>
                </a:solidFill>
              </a:rPr>
            </a:br>
            <a:endParaRPr b="1"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Avoid malware and phishing</a:t>
            </a:r>
            <a:br>
              <a:rPr lang="en-US" sz="3600">
                <a:solidFill>
                  <a:schemeClr val="dk1"/>
                </a:solidFill>
              </a:rPr>
            </a:b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Respect </a:t>
            </a:r>
            <a:r>
              <a:rPr b="1" lang="en-US" sz="3600">
                <a:solidFill>
                  <a:schemeClr val="dk1"/>
                </a:solidFill>
              </a:rPr>
              <a:t>copyright and licenses</a:t>
            </a:r>
            <a:br>
              <a:rPr b="1" lang="en-US" sz="3600">
                <a:solidFill>
                  <a:schemeClr val="dk1"/>
                </a:solidFill>
              </a:rPr>
            </a:br>
            <a:endParaRPr b="1"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Report problems quickly</a:t>
            </a:r>
            <a:endParaRPr sz="3600">
              <a:solidFill>
                <a:schemeClr val="dk1"/>
              </a:solidFill>
            </a:endParaRPr>
          </a:p>
          <a:p>
            <a:pPr indent="0" lvl="0" marL="1778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508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2e19ad22b_0_61"/>
          <p:cNvSpPr txBox="1"/>
          <p:nvPr>
            <p:ph type="title"/>
          </p:nvPr>
        </p:nvSpPr>
        <p:spPr>
          <a:xfrm>
            <a:off x="1484300" y="245600"/>
            <a:ext cx="10018800" cy="67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Think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b2e19ad22b_0_61"/>
          <p:cNvSpPr txBox="1"/>
          <p:nvPr>
            <p:ph idx="1" type="body"/>
          </p:nvPr>
        </p:nvSpPr>
        <p:spPr>
          <a:xfrm>
            <a:off x="725950" y="1544600"/>
            <a:ext cx="11074800" cy="463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Downloading movies or software using campus internet.</a:t>
            </a:r>
            <a:br>
              <a:rPr lang="en-US" sz="3200">
                <a:latin typeface="Arial"/>
                <a:ea typeface="Arial"/>
                <a:cs typeface="Arial"/>
                <a:sym typeface="Arial"/>
              </a:rPr>
            </a:b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Using cracked software to finish assignments.</a:t>
            </a:r>
            <a:br>
              <a:rPr lang="en-US" sz="3200">
                <a:latin typeface="Arial"/>
                <a:ea typeface="Arial"/>
                <a:cs typeface="Arial"/>
                <a:sym typeface="Arial"/>
              </a:rPr>
            </a:b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latin typeface="Arial"/>
                <a:ea typeface="Arial"/>
                <a:cs typeface="Arial"/>
                <a:sym typeface="Arial"/>
              </a:rPr>
              <a:t>Think About This:</a:t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Is something ethical just because “everyone does it”?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77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59"/>
          <p:cNvSpPr/>
          <p:nvPr/>
        </p:nvSpPr>
        <p:spPr>
          <a:xfrm>
            <a:off x="1676400" y="447667"/>
            <a:ext cx="9352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dk1"/>
                </a:solidFill>
              </a:rPr>
              <a:t>Password Safety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9"/>
          <p:cNvSpPr/>
          <p:nvPr/>
        </p:nvSpPr>
        <p:spPr>
          <a:xfrm>
            <a:off x="1676400" y="1773220"/>
            <a:ext cx="9937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Use </a:t>
            </a:r>
            <a:r>
              <a:rPr b="1" lang="en-US" sz="3600">
                <a:solidFill>
                  <a:schemeClr val="dk1"/>
                </a:solidFill>
              </a:rPr>
              <a:t>strong passwords</a:t>
            </a:r>
            <a:br>
              <a:rPr b="1" lang="en-US" sz="3600">
                <a:solidFill>
                  <a:schemeClr val="dk1"/>
                </a:solidFill>
              </a:rPr>
            </a:br>
            <a:endParaRPr b="1"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Never share passwords</a:t>
            </a:r>
            <a:br>
              <a:rPr lang="en-US" sz="3600">
                <a:solidFill>
                  <a:schemeClr val="dk1"/>
                </a:solidFill>
              </a:rPr>
            </a:b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Change passwords if compromised</a:t>
            </a:r>
            <a:br>
              <a:rPr lang="en-US" sz="3600">
                <a:solidFill>
                  <a:schemeClr val="dk1"/>
                </a:solidFill>
              </a:rPr>
            </a:b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Weak passwords can lead to </a:t>
            </a:r>
            <a:r>
              <a:rPr b="1" lang="en-US" sz="3600">
                <a:solidFill>
                  <a:schemeClr val="dk1"/>
                </a:solidFill>
              </a:rPr>
              <a:t>serious consequences</a:t>
            </a:r>
            <a:endParaRPr b="1" sz="3600">
              <a:solidFill>
                <a:schemeClr val="dk1"/>
              </a:solidFill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2e19ad22b_0_69"/>
          <p:cNvSpPr txBox="1"/>
          <p:nvPr>
            <p:ph type="title"/>
          </p:nvPr>
        </p:nvSpPr>
        <p:spPr>
          <a:xfrm>
            <a:off x="1484300" y="245600"/>
            <a:ext cx="10018800" cy="67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Think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b2e19ad22b_0_69"/>
          <p:cNvSpPr txBox="1"/>
          <p:nvPr>
            <p:ph idx="1" type="body"/>
          </p:nvPr>
        </p:nvSpPr>
        <p:spPr>
          <a:xfrm>
            <a:off x="725950" y="1544600"/>
            <a:ext cx="10240800" cy="463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Sharing LMS or Google account password with a friend.</a:t>
            </a:r>
            <a:br>
              <a:rPr lang="en-US" sz="3000">
                <a:latin typeface="Arial"/>
                <a:ea typeface="Arial"/>
                <a:cs typeface="Arial"/>
                <a:sym typeface="Arial"/>
              </a:rPr>
            </a:b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Friend submits wrong or late work using your account.</a:t>
            </a:r>
            <a:br>
              <a:rPr lang="en-US" sz="3000">
                <a:latin typeface="Arial"/>
                <a:ea typeface="Arial"/>
                <a:cs typeface="Arial"/>
                <a:sym typeface="Arial"/>
              </a:rPr>
            </a:b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Think About This: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Who should be responsible if your password is misused?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77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g3b2e19ad22b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b2e19ad22b_0_32"/>
          <p:cNvSpPr/>
          <p:nvPr/>
        </p:nvSpPr>
        <p:spPr>
          <a:xfrm>
            <a:off x="1676400" y="447667"/>
            <a:ext cx="9352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dk1"/>
                </a:solidFill>
              </a:rPr>
              <a:t>Reporting Incidents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b2e19ad22b_0_32"/>
          <p:cNvSpPr/>
          <p:nvPr/>
        </p:nvSpPr>
        <p:spPr>
          <a:xfrm>
            <a:off x="1384050" y="2028095"/>
            <a:ext cx="9937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Report security problems immediately</a:t>
            </a:r>
            <a:br>
              <a:rPr lang="en-US" sz="3600">
                <a:solidFill>
                  <a:schemeClr val="dk1"/>
                </a:solidFill>
              </a:rPr>
            </a:b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Reporting is </a:t>
            </a:r>
            <a:r>
              <a:rPr b="1" lang="en-US" sz="3600">
                <a:solidFill>
                  <a:schemeClr val="dk1"/>
                </a:solidFill>
              </a:rPr>
              <a:t>not complaining</a:t>
            </a:r>
            <a:br>
              <a:rPr b="1" lang="en-US" sz="3600">
                <a:solidFill>
                  <a:schemeClr val="dk1"/>
                </a:solidFill>
              </a:rPr>
            </a:br>
            <a:endParaRPr b="1"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It helps protect </a:t>
            </a:r>
            <a:r>
              <a:rPr b="1" lang="en-US" sz="3600">
                <a:solidFill>
                  <a:schemeClr val="dk1"/>
                </a:solidFill>
              </a:rPr>
              <a:t>everyone</a:t>
            </a:r>
            <a:endParaRPr b="1" sz="3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b2e19ad22b_0_75"/>
          <p:cNvSpPr txBox="1"/>
          <p:nvPr>
            <p:ph type="title"/>
          </p:nvPr>
        </p:nvSpPr>
        <p:spPr>
          <a:xfrm>
            <a:off x="1484300" y="245600"/>
            <a:ext cx="10018800" cy="67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US" sz="4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Think</a:t>
            </a:r>
            <a:endParaRPr b="1" sz="40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b2e19ad22b_0_75"/>
          <p:cNvSpPr txBox="1"/>
          <p:nvPr>
            <p:ph idx="1" type="body"/>
          </p:nvPr>
        </p:nvSpPr>
        <p:spPr>
          <a:xfrm>
            <a:off x="725950" y="1544600"/>
            <a:ext cx="11074800" cy="463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Reporting fake exam result links or phishing emails.</a:t>
            </a:r>
            <a:br>
              <a:rPr lang="en-US" sz="3000">
                <a:latin typeface="Arial"/>
                <a:ea typeface="Arial"/>
                <a:cs typeface="Arial"/>
                <a:sym typeface="Arial"/>
              </a:rPr>
            </a:b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Informing IT about suspicious Wi-Fi or login activity.</a:t>
            </a:r>
            <a:br>
              <a:rPr lang="en-US" sz="3000">
                <a:latin typeface="Arial"/>
                <a:ea typeface="Arial"/>
                <a:cs typeface="Arial"/>
                <a:sym typeface="Arial"/>
              </a:rPr>
            </a:b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Think About This: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What happens if no one reports a security issue?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77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6"/>
          <p:cNvSpPr/>
          <p:nvPr/>
        </p:nvSpPr>
        <p:spPr>
          <a:xfrm>
            <a:off x="1676400" y="447667"/>
            <a:ext cx="9352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 &amp; Key Takeaways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1537375" y="1773370"/>
            <a:ext cx="9927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Apply Ethics online and offline</a:t>
            </a:r>
            <a:br>
              <a:rPr lang="en-US" sz="3600">
                <a:solidFill>
                  <a:schemeClr val="dk1"/>
                </a:solidFill>
              </a:rPr>
            </a:b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Respect privacy and data</a:t>
            </a:r>
            <a:br>
              <a:rPr lang="en-US" sz="3600">
                <a:solidFill>
                  <a:schemeClr val="dk1"/>
                </a:solidFill>
              </a:rPr>
            </a:b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Follow rules and ask when unsure</a:t>
            </a:r>
            <a:br>
              <a:rPr lang="en-US" sz="3600">
                <a:solidFill>
                  <a:schemeClr val="dk1"/>
                </a:solidFill>
              </a:rPr>
            </a:b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Ethical behavior builds </a:t>
            </a:r>
            <a:r>
              <a:rPr b="1" lang="en-US" sz="3600">
                <a:solidFill>
                  <a:schemeClr val="dk1"/>
                </a:solidFill>
              </a:rPr>
              <a:t>trust and reputation</a:t>
            </a:r>
            <a:endParaRPr b="1" sz="36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7"/>
          <p:cNvSpPr/>
          <p:nvPr/>
        </p:nvSpPr>
        <p:spPr>
          <a:xfrm>
            <a:off x="1676400" y="447667"/>
            <a:ext cx="9352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1676400" y="2058995"/>
            <a:ext cx="992799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971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“Computer Network Security and Cyber Ethics” by Joseph Migga Kizza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1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○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Focused on chapter 2 &amp; 3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971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“Ethics in Information Technology” by George Reynolds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1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○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Focused on chapter 2 &amp; 3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
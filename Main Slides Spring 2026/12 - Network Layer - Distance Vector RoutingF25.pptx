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y="6858000" cx="12192000"/>
  <p:notesSz cx="6858000" cy="9144000"/>
  <p:embeddedFontLst>
    <p:embeddedFont>
      <p:font typeface="Arimo"/>
      <p:regular r:id="rId42"/>
      <p:bold r:id="rId43"/>
      <p:italic r:id="rId44"/>
      <p:boldItalic r:id="rId45"/>
    </p:embeddedFont>
    <p:embeddedFont>
      <p:font typeface="Corbel"/>
      <p:regular r:id="rId46"/>
      <p:bold r:id="rId47"/>
      <p:italic r:id="rId48"/>
      <p:boldItalic r:id="rId49"/>
    </p:embeddedFont>
    <p:embeddedFont>
      <p:font typeface="Tahoma"/>
      <p:regular r:id="rId50"/>
      <p:bold r:id="rId51"/>
    </p:embeddedFont>
    <p:embeddedFont>
      <p:font typeface="Lustria"/>
      <p:regular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53" roundtripDataSignature="AMtx7mgcTYl/Nm0ja83b6nm46WW75nIP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12B0EEE-1DF2-492D-B026-A1DDDC416B75}">
  <a:tblStyle styleId="{C12B0EEE-1DF2-492D-B026-A1DDDC416B75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F1FB"/>
          </a:solidFill>
        </a:fill>
      </a:tcStyle>
    </a:wholeTbl>
    <a:band1H>
      <a:tcTxStyle b="off" i="off"/>
      <a:tcStyle>
        <a:fill>
          <a:solidFill>
            <a:srgbClr val="CCE2F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CE2F8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font" Target="fonts/Arimo-regular.fntdata"/><Relationship Id="rId41" Type="http://schemas.openxmlformats.org/officeDocument/2006/relationships/slide" Target="slides/slide35.xml"/><Relationship Id="rId44" Type="http://schemas.openxmlformats.org/officeDocument/2006/relationships/font" Target="fonts/Arimo-italic.fntdata"/><Relationship Id="rId43" Type="http://schemas.openxmlformats.org/officeDocument/2006/relationships/font" Target="fonts/Arimo-bold.fntdata"/><Relationship Id="rId46" Type="http://schemas.openxmlformats.org/officeDocument/2006/relationships/font" Target="fonts/Corbel-regular.fntdata"/><Relationship Id="rId45" Type="http://schemas.openxmlformats.org/officeDocument/2006/relationships/font" Target="fonts/Arim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Corbel-italic.fntdata"/><Relationship Id="rId47" Type="http://schemas.openxmlformats.org/officeDocument/2006/relationships/font" Target="fonts/Corbel-bold.fntdata"/><Relationship Id="rId49" Type="http://schemas.openxmlformats.org/officeDocument/2006/relationships/font" Target="fonts/Corbel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Tahoma-bold.fntdata"/><Relationship Id="rId50" Type="http://schemas.openxmlformats.org/officeDocument/2006/relationships/font" Target="fonts/Tahoma-regular.fntdata"/><Relationship Id="rId53" Type="http://customschemas.google.com/relationships/presentationmetadata" Target="metadata"/><Relationship Id="rId52" Type="http://schemas.openxmlformats.org/officeDocument/2006/relationships/font" Target="fonts/Lustria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7" name="Google Shape;15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" name="Google Shape;20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1" name="Google Shape;20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" name="Google Shape;20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0" name="Google Shape;21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9" name="Google Shape;239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3" marL="16922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0000"/>
                </a:solidFill>
              </a:rPr>
              <a:t>Inefficient:</a:t>
            </a:r>
            <a:r>
              <a:rPr lang="en-US"/>
              <a:t>   Updates consume bandwidth and router CPU resources.</a:t>
            </a:r>
            <a:endParaRPr/>
          </a:p>
          <a:p>
            <a:pPr indent="-381000" lvl="3" marL="16922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Periodic updates are </a:t>
            </a:r>
            <a:r>
              <a:rPr lang="en-US">
                <a:solidFill>
                  <a:srgbClr val="FF0000"/>
                </a:solidFill>
              </a:rPr>
              <a:t>always sent</a:t>
            </a:r>
            <a:r>
              <a:rPr lang="en-US"/>
              <a:t> even there have been no changes for weeks or months.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0" name="Google Shape;240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" name="Google Shape;247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9" name="Google Shape;279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7" name="Google Shape;287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Sends an update about network </a:t>
            </a:r>
            <a:r>
              <a:rPr lang="en-US">
                <a:solidFill>
                  <a:srgbClr val="FF0000"/>
                </a:solidFill>
              </a:rPr>
              <a:t>10.1.0.0</a:t>
            </a:r>
            <a:r>
              <a:rPr lang="en-US">
                <a:solidFill>
                  <a:srgbClr val="FFFF00"/>
                </a:solidFill>
              </a:rPr>
              <a:t> </a:t>
            </a:r>
            <a:r>
              <a:rPr lang="en-US"/>
              <a:t>out the </a:t>
            </a:r>
            <a:r>
              <a:rPr lang="en-US">
                <a:solidFill>
                  <a:srgbClr val="FF0000"/>
                </a:solidFill>
              </a:rPr>
              <a:t>Serial 0/0/0</a:t>
            </a:r>
            <a:r>
              <a:rPr lang="en-US"/>
              <a:t> interface with a metric of 1. 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Sends an update about network </a:t>
            </a:r>
            <a:r>
              <a:rPr lang="en-US">
                <a:solidFill>
                  <a:srgbClr val="FF0000"/>
                </a:solidFill>
              </a:rPr>
              <a:t>10.2.0.0</a:t>
            </a:r>
            <a:r>
              <a:rPr lang="en-US">
                <a:solidFill>
                  <a:srgbClr val="FFFF00"/>
                </a:solidFill>
              </a:rPr>
              <a:t> </a:t>
            </a:r>
            <a:r>
              <a:rPr lang="en-US"/>
              <a:t>out the </a:t>
            </a:r>
            <a:r>
              <a:rPr lang="en-US">
                <a:solidFill>
                  <a:srgbClr val="FF0000"/>
                </a:solidFill>
              </a:rPr>
              <a:t>Fa0/0</a:t>
            </a:r>
            <a:r>
              <a:rPr lang="en-US"/>
              <a:t>  interface with a metric of 1.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3" name="Google Shape;353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9" name="Google Shape;389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200"/>
              <a:buFont typeface="Tahoma"/>
              <a:buNone/>
            </a:pPr>
            <a:r>
              <a:rPr lang="en-US">
                <a:solidFill>
                  <a:srgbClr val="FFFF00"/>
                </a:solidFill>
              </a:rPr>
              <a:t>Sends</a:t>
            </a:r>
            <a:r>
              <a:rPr lang="en-US"/>
              <a:t> an update about network </a:t>
            </a:r>
            <a:r>
              <a:rPr lang="en-US">
                <a:solidFill>
                  <a:srgbClr val="FFFF00"/>
                </a:solidFill>
              </a:rPr>
              <a:t>10.3.0.0 </a:t>
            </a:r>
            <a:r>
              <a:rPr lang="en-US"/>
              <a:t>out the </a:t>
            </a:r>
            <a:r>
              <a:rPr lang="en-US">
                <a:solidFill>
                  <a:srgbClr val="FFFF00"/>
                </a:solidFill>
              </a:rPr>
              <a:t>Serial 0/0/0 </a:t>
            </a:r>
            <a:r>
              <a:rPr lang="en-US"/>
              <a:t>interface with a metric of 1.</a:t>
            </a:r>
            <a:endParaRPr/>
          </a:p>
          <a:p>
            <a:pPr indent="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200"/>
              <a:buFont typeface="Tahoma"/>
              <a:buNone/>
            </a:pPr>
            <a:r>
              <a:rPr lang="en-US">
                <a:solidFill>
                  <a:srgbClr val="FFFF00"/>
                </a:solidFill>
              </a:rPr>
              <a:t>Sends</a:t>
            </a:r>
            <a:r>
              <a:rPr lang="en-US"/>
              <a:t> an update about network </a:t>
            </a:r>
            <a:r>
              <a:rPr lang="en-US">
                <a:solidFill>
                  <a:srgbClr val="FFFF00"/>
                </a:solidFill>
              </a:rPr>
              <a:t>10.2.0.0 </a:t>
            </a:r>
            <a:r>
              <a:rPr lang="en-US"/>
              <a:t>out the </a:t>
            </a:r>
            <a:r>
              <a:rPr lang="en-US">
                <a:solidFill>
                  <a:srgbClr val="FFFF00"/>
                </a:solidFill>
              </a:rPr>
              <a:t>Serial 0/0/1</a:t>
            </a:r>
            <a:r>
              <a:rPr lang="en-US"/>
              <a:t> interface with a metric of 1.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1" name="Google Shape;431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00"/>
                </a:solidFill>
              </a:rPr>
              <a:t>Sends</a:t>
            </a:r>
            <a:r>
              <a:rPr lang="en-US"/>
              <a:t> an update about network </a:t>
            </a:r>
            <a:r>
              <a:rPr lang="en-US">
                <a:solidFill>
                  <a:srgbClr val="FFFF00"/>
                </a:solidFill>
              </a:rPr>
              <a:t>10.4.0.0</a:t>
            </a:r>
            <a:r>
              <a:rPr lang="en-US"/>
              <a:t> out the </a:t>
            </a:r>
            <a:r>
              <a:rPr lang="en-US">
                <a:solidFill>
                  <a:srgbClr val="FFFF00"/>
                </a:solidFill>
              </a:rPr>
              <a:t>S0/0/0</a:t>
            </a:r>
            <a:r>
              <a:rPr lang="en-US"/>
              <a:t> interface with a metric of 1.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00"/>
                </a:solidFill>
              </a:rPr>
              <a:t>Sends</a:t>
            </a:r>
            <a:r>
              <a:rPr lang="en-US"/>
              <a:t> an update about network </a:t>
            </a:r>
            <a:r>
              <a:rPr lang="en-US">
                <a:solidFill>
                  <a:srgbClr val="FFFF00"/>
                </a:solidFill>
              </a:rPr>
              <a:t>10.3.0.0 </a:t>
            </a:r>
            <a:r>
              <a:rPr lang="en-US"/>
              <a:t>out the </a:t>
            </a:r>
            <a:r>
              <a:rPr lang="en-US">
                <a:solidFill>
                  <a:srgbClr val="FFFF00"/>
                </a:solidFill>
              </a:rPr>
              <a:t>Fa0/0 </a:t>
            </a:r>
            <a:r>
              <a:rPr lang="en-US"/>
              <a:t>interface with a metric of 1.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1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Tahoma"/>
              <a:buChar char="•"/>
            </a:pPr>
            <a:r>
              <a:rPr lang="en-US">
                <a:solidFill>
                  <a:srgbClr val="FF0000"/>
                </a:solidFill>
              </a:rPr>
              <a:t>R1 Receives</a:t>
            </a:r>
            <a:r>
              <a:rPr lang="en-US"/>
              <a:t> the update </a:t>
            </a:r>
            <a:r>
              <a:rPr lang="en-US">
                <a:solidFill>
                  <a:srgbClr val="FF9900"/>
                </a:solidFill>
              </a:rPr>
              <a:t>from R2</a:t>
            </a:r>
            <a:r>
              <a:rPr lang="en-US"/>
              <a:t> about network </a:t>
            </a:r>
            <a:r>
              <a:rPr lang="en-US">
                <a:solidFill>
                  <a:srgbClr val="FF0000"/>
                </a:solidFill>
              </a:rPr>
              <a:t>10.3.0.0</a:t>
            </a:r>
            <a:r>
              <a:rPr lang="en-US">
                <a:solidFill>
                  <a:srgbClr val="FFFF00"/>
                </a:solidFill>
              </a:rPr>
              <a:t> </a:t>
            </a:r>
            <a:r>
              <a:rPr lang="en-US"/>
              <a:t>and adds it to its routing table.</a:t>
            </a:r>
            <a:endParaRPr/>
          </a:p>
          <a:p>
            <a:pPr indent="-342900" lvl="1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Font typeface="Tahoma"/>
              <a:buChar char="•"/>
            </a:pPr>
            <a:r>
              <a:rPr lang="en-US">
                <a:solidFill>
                  <a:srgbClr val="FF0000"/>
                </a:solidFill>
              </a:rPr>
              <a:t>R3 Receives</a:t>
            </a:r>
            <a:r>
              <a:rPr lang="en-US"/>
              <a:t> the update </a:t>
            </a:r>
            <a:r>
              <a:rPr lang="en-US">
                <a:solidFill>
                  <a:srgbClr val="FF9900"/>
                </a:solidFill>
              </a:rPr>
              <a:t>from R2</a:t>
            </a:r>
            <a:r>
              <a:rPr lang="en-US"/>
              <a:t> about network </a:t>
            </a:r>
            <a:r>
              <a:rPr lang="en-US">
                <a:solidFill>
                  <a:srgbClr val="FF0000"/>
                </a:solidFill>
              </a:rPr>
              <a:t>10.2.0.0 </a:t>
            </a:r>
            <a:r>
              <a:rPr lang="en-US"/>
              <a:t>and adds it to its routing table.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8" name="Google Shape;478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1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Tahoma"/>
              <a:buChar char="•"/>
            </a:pPr>
            <a:r>
              <a:rPr lang="en-US">
                <a:solidFill>
                  <a:srgbClr val="FF0000"/>
                </a:solidFill>
              </a:rPr>
              <a:t>R2 Receives</a:t>
            </a:r>
            <a:r>
              <a:rPr lang="en-US"/>
              <a:t> the update </a:t>
            </a:r>
            <a:r>
              <a:rPr lang="en-US">
                <a:solidFill>
                  <a:srgbClr val="00B050"/>
                </a:solidFill>
              </a:rPr>
              <a:t>from R1 </a:t>
            </a:r>
            <a:r>
              <a:rPr lang="en-US"/>
              <a:t>about network </a:t>
            </a:r>
            <a:r>
              <a:rPr lang="en-US">
                <a:solidFill>
                  <a:srgbClr val="FF0000"/>
                </a:solidFill>
              </a:rPr>
              <a:t>10.1.0.0 </a:t>
            </a:r>
            <a:r>
              <a:rPr lang="en-US"/>
              <a:t>and adds it to its routing table.</a:t>
            </a:r>
            <a:endParaRPr/>
          </a:p>
          <a:p>
            <a:pPr indent="-342900" lvl="1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Font typeface="Tahoma"/>
              <a:buChar char="•"/>
            </a:pPr>
            <a:r>
              <a:rPr lang="en-US">
                <a:solidFill>
                  <a:srgbClr val="FF0000"/>
                </a:solidFill>
              </a:rPr>
              <a:t>R2 Receives</a:t>
            </a:r>
            <a:r>
              <a:rPr lang="en-US"/>
              <a:t> the update </a:t>
            </a:r>
            <a:r>
              <a:rPr lang="en-US">
                <a:solidFill>
                  <a:srgbClr val="00B050"/>
                </a:solidFill>
              </a:rPr>
              <a:t>from R3 </a:t>
            </a:r>
            <a:r>
              <a:rPr lang="en-US"/>
              <a:t>about network </a:t>
            </a:r>
            <a:r>
              <a:rPr lang="en-US">
                <a:solidFill>
                  <a:srgbClr val="FF0000"/>
                </a:solidFill>
              </a:rPr>
              <a:t>10.4.0.0</a:t>
            </a:r>
            <a:r>
              <a:rPr lang="en-US">
                <a:solidFill>
                  <a:srgbClr val="FFFF00"/>
                </a:solidFill>
              </a:rPr>
              <a:t> </a:t>
            </a:r>
            <a:r>
              <a:rPr lang="en-US"/>
              <a:t>and adds it to its routing table.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8" name="Google Shape;518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Sends an update about network </a:t>
            </a:r>
            <a:r>
              <a:rPr lang="en-US">
                <a:solidFill>
                  <a:srgbClr val="FF0000"/>
                </a:solidFill>
              </a:rPr>
              <a:t>10.1.0.0</a:t>
            </a:r>
            <a:r>
              <a:rPr lang="en-US"/>
              <a:t> out the S0/0/0 interface with a metric of 1  -  </a:t>
            </a:r>
            <a:r>
              <a:rPr lang="en-US">
                <a:solidFill>
                  <a:srgbClr val="FF0000"/>
                </a:solidFill>
              </a:rPr>
              <a:t>AGAIN!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>
                <a:solidFill>
                  <a:srgbClr val="00B050"/>
                </a:solidFill>
              </a:rPr>
              <a:t>When R2 receives the update</a:t>
            </a:r>
            <a:r>
              <a:rPr lang="en-US"/>
              <a:t>, there is </a:t>
            </a:r>
            <a:r>
              <a:rPr lang="en-US">
                <a:solidFill>
                  <a:srgbClr val="FF0000"/>
                </a:solidFill>
              </a:rPr>
              <a:t>no change</a:t>
            </a:r>
            <a:r>
              <a:rPr lang="en-US"/>
              <a:t> in information so the update is ignored.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9" name="Google Shape;549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Char char="•"/>
            </a:pPr>
            <a:r>
              <a:rPr lang="en-US" sz="1200"/>
              <a:t>Sends an update about networks </a:t>
            </a:r>
            <a:r>
              <a:rPr lang="en-US" sz="1200">
                <a:solidFill>
                  <a:srgbClr val="FF0000"/>
                </a:solidFill>
              </a:rPr>
              <a:t>10.3.0.0</a:t>
            </a:r>
            <a:r>
              <a:rPr lang="en-US" sz="1200"/>
              <a:t> with a metric of 1 and </a:t>
            </a:r>
            <a:r>
              <a:rPr lang="en-US" sz="1200">
                <a:solidFill>
                  <a:srgbClr val="FF0000"/>
                </a:solidFill>
              </a:rPr>
              <a:t>10.4.0.0</a:t>
            </a:r>
            <a:r>
              <a:rPr lang="en-US" sz="1200"/>
              <a:t> with a metric of 2 out the </a:t>
            </a:r>
            <a:r>
              <a:rPr lang="en-US" sz="1200">
                <a:solidFill>
                  <a:srgbClr val="FF0000"/>
                </a:solidFill>
              </a:rPr>
              <a:t>Serial 0/0/0</a:t>
            </a:r>
            <a:r>
              <a:rPr lang="en-US" sz="1200"/>
              <a:t> interface.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1200"/>
              <a:t>Similarly sends updates about networks </a:t>
            </a:r>
            <a:r>
              <a:rPr lang="en-US" sz="1200">
                <a:solidFill>
                  <a:srgbClr val="FF0000"/>
                </a:solidFill>
              </a:rPr>
              <a:t>10.1.0.0</a:t>
            </a:r>
            <a:r>
              <a:rPr lang="en-US" sz="1200"/>
              <a:t> with a metric of 2 and </a:t>
            </a:r>
            <a:r>
              <a:rPr lang="en-US" sz="1200">
                <a:solidFill>
                  <a:srgbClr val="FF0000"/>
                </a:solidFill>
              </a:rPr>
              <a:t>10.2.0.0</a:t>
            </a:r>
            <a:r>
              <a:rPr lang="en-US" sz="1200"/>
              <a:t> with a metric of 1 out the </a:t>
            </a:r>
            <a:r>
              <a:rPr lang="en-US" sz="1200">
                <a:solidFill>
                  <a:srgbClr val="FF0000"/>
                </a:solidFill>
              </a:rPr>
              <a:t>Serial 0/0/1</a:t>
            </a:r>
            <a:r>
              <a:rPr lang="en-US" sz="1200"/>
              <a:t> interface.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9" name="Google Shape;569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380"/>
              <a:buFont typeface="Arial"/>
              <a:buChar char="r"/>
            </a:pPr>
            <a:r>
              <a:rPr b="0" i="0" lang="en-US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Sends an update about network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10.4.0.0</a:t>
            </a:r>
            <a:r>
              <a:rPr b="0" i="0" lang="en-US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out the S0/0/0 interface with a metric of 1  - 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AGAIN!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380"/>
              <a:buFont typeface="Arial"/>
              <a:buChar char="r"/>
            </a:pPr>
            <a:r>
              <a:rPr b="0" i="0" lang="en-US" sz="1200" u="none" cap="none" strike="noStrike">
                <a:solidFill>
                  <a:srgbClr val="00B050"/>
                </a:solidFill>
                <a:latin typeface="Corbel"/>
                <a:ea typeface="Corbel"/>
                <a:cs typeface="Corbel"/>
                <a:sym typeface="Corbel"/>
              </a:rPr>
              <a:t>When R2 receives the update</a:t>
            </a:r>
            <a:r>
              <a:rPr b="0" i="0" lang="en-US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, there is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no change</a:t>
            </a:r>
            <a:r>
              <a:rPr b="0" i="0" lang="en-US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in information so the update is ignored.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177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38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4" name="Google Shape;604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1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Tahoma"/>
              <a:buChar char="•"/>
            </a:pPr>
            <a:r>
              <a:rPr lang="en-US">
                <a:solidFill>
                  <a:srgbClr val="FF0000"/>
                </a:solidFill>
              </a:rPr>
              <a:t>R1 receives</a:t>
            </a:r>
            <a:r>
              <a:rPr lang="en-US"/>
              <a:t> an update </a:t>
            </a:r>
            <a:r>
              <a:rPr lang="en-US">
                <a:solidFill>
                  <a:srgbClr val="FF9900"/>
                </a:solidFill>
              </a:rPr>
              <a:t>from R2</a:t>
            </a:r>
            <a:r>
              <a:rPr lang="en-US"/>
              <a:t> about network </a:t>
            </a:r>
            <a:r>
              <a:rPr lang="en-US">
                <a:solidFill>
                  <a:srgbClr val="FF0000"/>
                </a:solidFill>
              </a:rPr>
              <a:t>10.3.0.0</a:t>
            </a:r>
            <a:r>
              <a:rPr lang="en-US"/>
              <a:t> and there is no change – </a:t>
            </a:r>
            <a:r>
              <a:rPr lang="en-US">
                <a:solidFill>
                  <a:srgbClr val="FF0000"/>
                </a:solidFill>
              </a:rPr>
              <a:t>update ignored</a:t>
            </a:r>
            <a:r>
              <a:rPr lang="en-US"/>
              <a:t>.</a:t>
            </a:r>
            <a:endParaRPr/>
          </a:p>
          <a:p>
            <a:pPr indent="-342900" lvl="1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Font typeface="Tahoma"/>
              <a:buChar char="•"/>
            </a:pPr>
            <a:r>
              <a:rPr lang="en-US">
                <a:solidFill>
                  <a:srgbClr val="FF0000"/>
                </a:solidFill>
              </a:rPr>
              <a:t>R1 receives</a:t>
            </a:r>
            <a:r>
              <a:rPr lang="en-US"/>
              <a:t> an update </a:t>
            </a:r>
            <a:r>
              <a:rPr lang="en-US">
                <a:solidFill>
                  <a:srgbClr val="FF9900"/>
                </a:solidFill>
              </a:rPr>
              <a:t>from R2</a:t>
            </a:r>
            <a:r>
              <a:rPr lang="en-US"/>
              <a:t> about network </a:t>
            </a:r>
            <a:r>
              <a:rPr lang="en-US">
                <a:solidFill>
                  <a:srgbClr val="FF0000"/>
                </a:solidFill>
              </a:rPr>
              <a:t>10.4.0.0 (new)</a:t>
            </a:r>
            <a:r>
              <a:rPr lang="en-US"/>
              <a:t> and </a:t>
            </a:r>
            <a:r>
              <a:rPr lang="en-US">
                <a:solidFill>
                  <a:srgbClr val="FF0000"/>
                </a:solidFill>
              </a:rPr>
              <a:t>adds it to its routing table.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4" name="Google Shape;624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1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Tahoma"/>
              <a:buChar char="•"/>
            </a:pPr>
            <a:r>
              <a:rPr lang="en-US">
                <a:solidFill>
                  <a:srgbClr val="FF0000"/>
                </a:solidFill>
              </a:rPr>
              <a:t>R3 receives</a:t>
            </a:r>
            <a:r>
              <a:rPr lang="en-US"/>
              <a:t> an update </a:t>
            </a:r>
            <a:r>
              <a:rPr lang="en-US">
                <a:solidFill>
                  <a:srgbClr val="FF9900"/>
                </a:solidFill>
              </a:rPr>
              <a:t>from R2 </a:t>
            </a:r>
            <a:r>
              <a:rPr lang="en-US"/>
              <a:t>about network </a:t>
            </a:r>
            <a:r>
              <a:rPr lang="en-US">
                <a:solidFill>
                  <a:srgbClr val="FF0000"/>
                </a:solidFill>
              </a:rPr>
              <a:t>10.2.0.0</a:t>
            </a:r>
            <a:r>
              <a:rPr lang="en-US"/>
              <a:t> and there is no change – </a:t>
            </a:r>
            <a:r>
              <a:rPr lang="en-US">
                <a:solidFill>
                  <a:srgbClr val="FF0000"/>
                </a:solidFill>
              </a:rPr>
              <a:t>update ignored</a:t>
            </a:r>
            <a:r>
              <a:rPr lang="en-US"/>
              <a:t>.</a:t>
            </a:r>
            <a:endParaRPr/>
          </a:p>
          <a:p>
            <a:pPr indent="-342900" lvl="1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Font typeface="Tahoma"/>
              <a:buChar char="•"/>
            </a:pPr>
            <a:r>
              <a:rPr lang="en-US">
                <a:solidFill>
                  <a:srgbClr val="FF0000"/>
                </a:solidFill>
              </a:rPr>
              <a:t>R3 receives</a:t>
            </a:r>
            <a:r>
              <a:rPr lang="en-US"/>
              <a:t> an update </a:t>
            </a:r>
            <a:r>
              <a:rPr lang="en-US">
                <a:solidFill>
                  <a:srgbClr val="FF9900"/>
                </a:solidFill>
              </a:rPr>
              <a:t>from R2</a:t>
            </a:r>
            <a:r>
              <a:rPr lang="en-US"/>
              <a:t> about network </a:t>
            </a:r>
            <a:r>
              <a:rPr lang="en-US">
                <a:solidFill>
                  <a:srgbClr val="FF0000"/>
                </a:solidFill>
              </a:rPr>
              <a:t>10.1.0.0 (new)</a:t>
            </a:r>
            <a:r>
              <a:rPr lang="en-US"/>
              <a:t> and </a:t>
            </a:r>
            <a:r>
              <a:rPr lang="en-US">
                <a:solidFill>
                  <a:srgbClr val="FF0000"/>
                </a:solidFill>
              </a:rPr>
              <a:t>adds it to its routing table.</a:t>
            </a:r>
            <a:endParaRPr/>
          </a:p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6" name="Google Shape;646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4" name="Google Shape;664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Therefore, network administrators </a:t>
            </a:r>
            <a:r>
              <a:rPr b="1" lang="en-US"/>
              <a:t>prefer routing protocols with faster convergence</a:t>
            </a:r>
            <a:r>
              <a:rPr lang="en-US"/>
              <a:t>.</a:t>
            </a:r>
            <a:endParaRPr/>
          </a:p>
        </p:txBody>
      </p:sp>
      <p:sp>
        <p:nvSpPr>
          <p:cNvPr id="672" name="Google Shape;672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Therefore, network administrators </a:t>
            </a:r>
            <a:r>
              <a:rPr b="1" lang="en-US"/>
              <a:t>prefer routing protocols with faster convergence</a:t>
            </a:r>
            <a:r>
              <a:rPr lang="en-US"/>
              <a:t>.</a:t>
            </a:r>
            <a:endParaRPr/>
          </a:p>
        </p:txBody>
      </p:sp>
      <p:sp>
        <p:nvSpPr>
          <p:cNvPr id="680" name="Google Shape;68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7" name="Google Shape;68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 As you see in this graph, there is only one link between A and the other parts of the network.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 Now imagine that the link between A and B is cut.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 At this time, B corrects its table.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3b7731947ea_193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9" name="Google Shape;699;g3b7731947ea_193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g3b7731947ea_193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2" name="Google Shape;742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45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4" name="Google Shape;24;p45"/>
            <p:cNvSpPr/>
            <p:nvPr/>
          </p:nvSpPr>
          <p:spPr>
            <a:xfrm>
              <a:off x="3367088" y="-4763"/>
              <a:ext cx="1063625" cy="2782888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Google Shape;25;p45"/>
            <p:cNvSpPr/>
            <p:nvPr/>
          </p:nvSpPr>
          <p:spPr>
            <a:xfrm>
              <a:off x="2928938" y="-4763"/>
              <a:ext cx="1035050" cy="2673350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Google Shape;26;p45"/>
            <p:cNvSpPr/>
            <p:nvPr/>
          </p:nvSpPr>
          <p:spPr>
            <a:xfrm>
              <a:off x="2928938" y="2582862"/>
              <a:ext cx="2693987" cy="4275138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Google Shape;27;p45"/>
            <p:cNvSpPr/>
            <p:nvPr/>
          </p:nvSpPr>
          <p:spPr>
            <a:xfrm>
              <a:off x="3371850" y="2692400"/>
              <a:ext cx="3332162" cy="41656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28" name="Google Shape;28;p45"/>
            <p:cNvSpPr/>
            <p:nvPr/>
          </p:nvSpPr>
          <p:spPr>
            <a:xfrm>
              <a:off x="3367088" y="2687637"/>
              <a:ext cx="4576762" cy="4170363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29" name="Google Shape;29;p45"/>
            <p:cNvSpPr/>
            <p:nvPr/>
          </p:nvSpPr>
          <p:spPr>
            <a:xfrm>
              <a:off x="2928938" y="2578100"/>
              <a:ext cx="3584575" cy="427990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30" name="Google Shape;30;p45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5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5"/>
          <p:cNvSpPr txBox="1"/>
          <p:nvPr>
            <p:ph idx="11" type="ftr"/>
          </p:nvPr>
        </p:nvSpPr>
        <p:spPr>
          <a:xfrm>
            <a:off x="5332412" y="5883275"/>
            <a:ext cx="43240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6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6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38" name="Google Shape;38;p4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6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0"/>
          <p:cNvSpPr txBox="1"/>
          <p:nvPr>
            <p:ph type="title"/>
          </p:nvPr>
        </p:nvSpPr>
        <p:spPr>
          <a:xfrm>
            <a:off x="2572279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0"/>
          <p:cNvSpPr txBox="1"/>
          <p:nvPr>
            <p:ph idx="1" type="body"/>
          </p:nvPr>
        </p:nvSpPr>
        <p:spPr>
          <a:xfrm>
            <a:off x="2572278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8" name="Google Shape;48;p5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5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5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1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1"/>
          <p:cNvSpPr txBox="1"/>
          <p:nvPr>
            <p:ph idx="1" type="body"/>
          </p:nvPr>
        </p:nvSpPr>
        <p:spPr>
          <a:xfrm>
            <a:off x="1772179" y="2658533"/>
            <a:ext cx="460718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54" name="Google Shape;54;p51"/>
          <p:cNvSpPr txBox="1"/>
          <p:nvPr>
            <p:ph idx="2" type="body"/>
          </p:nvPr>
        </p:nvSpPr>
        <p:spPr>
          <a:xfrm>
            <a:off x="1484311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5" name="Google Shape;55;p51"/>
          <p:cNvSpPr txBox="1"/>
          <p:nvPr>
            <p:ph idx="3" type="body"/>
          </p:nvPr>
        </p:nvSpPr>
        <p:spPr>
          <a:xfrm>
            <a:off x="6880487" y="2667000"/>
            <a:ext cx="46225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56" name="Google Shape;56;p51"/>
          <p:cNvSpPr txBox="1"/>
          <p:nvPr>
            <p:ph idx="4" type="body"/>
          </p:nvPr>
        </p:nvSpPr>
        <p:spPr>
          <a:xfrm>
            <a:off x="6607967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7" name="Google Shape;57;p5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5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2"/>
          <p:cNvSpPr txBox="1"/>
          <p:nvPr>
            <p:ph type="title"/>
          </p:nvPr>
        </p:nvSpPr>
        <p:spPr>
          <a:xfrm>
            <a:off x="1484312" y="1600200"/>
            <a:ext cx="354912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52"/>
          <p:cNvSpPr txBox="1"/>
          <p:nvPr>
            <p:ph idx="1" type="body"/>
          </p:nvPr>
        </p:nvSpPr>
        <p:spPr>
          <a:xfrm>
            <a:off x="5262033" y="685799"/>
            <a:ext cx="6240990" cy="5105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127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000"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2pPr>
            <a:lvl3pPr indent="-375919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3pPr>
            <a:lvl4pPr indent="-35750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4pPr>
            <a:lvl5pPr indent="-357504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5pPr>
            <a:lvl6pPr indent="-357504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6pPr>
            <a:lvl7pPr indent="-357504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7pPr>
            <a:lvl8pPr indent="-35750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8pPr>
            <a:lvl9pPr indent="-35750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Char char="•"/>
              <a:defRPr sz="1400"/>
            </a:lvl9pPr>
          </a:lstStyle>
          <a:p/>
        </p:txBody>
      </p:sp>
      <p:sp>
        <p:nvSpPr>
          <p:cNvPr id="63" name="Google Shape;63;p52"/>
          <p:cNvSpPr txBox="1"/>
          <p:nvPr>
            <p:ph idx="2" type="body"/>
          </p:nvPr>
        </p:nvSpPr>
        <p:spPr>
          <a:xfrm>
            <a:off x="1484312" y="2971800"/>
            <a:ext cx="3549121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232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64" name="Google Shape;64;p5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52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3"/>
          <p:cNvSpPr txBox="1"/>
          <p:nvPr>
            <p:ph type="title"/>
          </p:nvPr>
        </p:nvSpPr>
        <p:spPr>
          <a:xfrm>
            <a:off x="1482724" y="1752599"/>
            <a:ext cx="542615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  <a:defRPr b="0"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53"/>
          <p:cNvSpPr/>
          <p:nvPr>
            <p:ph idx="2" type="pic"/>
          </p:nvPr>
        </p:nvSpPr>
        <p:spPr>
          <a:xfrm>
            <a:off x="7594682" y="914400"/>
            <a:ext cx="3280974" cy="4572000"/>
          </a:xfrm>
          <a:prstGeom prst="roundRect">
            <a:avLst>
              <a:gd fmla="val 42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53"/>
          <p:cNvSpPr txBox="1"/>
          <p:nvPr>
            <p:ph idx="1" type="body"/>
          </p:nvPr>
        </p:nvSpPr>
        <p:spPr>
          <a:xfrm>
            <a:off x="1482724" y="3124199"/>
            <a:ext cx="542615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71" name="Google Shape;71;p5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4"/>
          <p:cNvSpPr txBox="1"/>
          <p:nvPr>
            <p:ph type="title"/>
          </p:nvPr>
        </p:nvSpPr>
        <p:spPr>
          <a:xfrm>
            <a:off x="1484311" y="4732865"/>
            <a:ext cx="1001871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4"/>
          <p:cNvSpPr/>
          <p:nvPr>
            <p:ph idx="2" type="pic"/>
          </p:nvPr>
        </p:nvSpPr>
        <p:spPr>
          <a:xfrm>
            <a:off x="2386012" y="932112"/>
            <a:ext cx="8225944" cy="3164976"/>
          </a:xfrm>
          <a:prstGeom prst="roundRect">
            <a:avLst>
              <a:gd fmla="val 43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54"/>
          <p:cNvSpPr txBox="1"/>
          <p:nvPr>
            <p:ph idx="1" type="body"/>
          </p:nvPr>
        </p:nvSpPr>
        <p:spPr>
          <a:xfrm>
            <a:off x="1484311" y="5299603"/>
            <a:ext cx="10018711" cy="493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03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78" name="Google Shape;78;p5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5"/>
          <p:cNvSpPr txBox="1"/>
          <p:nvPr>
            <p:ph type="title"/>
          </p:nvPr>
        </p:nvSpPr>
        <p:spPr>
          <a:xfrm>
            <a:off x="1484312" y="685800"/>
            <a:ext cx="10018711" cy="30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5"/>
          <p:cNvSpPr txBox="1"/>
          <p:nvPr>
            <p:ph idx="1" type="body"/>
          </p:nvPr>
        </p:nvSpPr>
        <p:spPr>
          <a:xfrm>
            <a:off x="1484312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4" name="Google Shape;84;p5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5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5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6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56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56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56"/>
          <p:cNvSpPr txBox="1"/>
          <p:nvPr>
            <p:ph idx="1" type="body"/>
          </p:nvPr>
        </p:nvSpPr>
        <p:spPr>
          <a:xfrm>
            <a:off x="2436811" y="3428999"/>
            <a:ext cx="85328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Font typeface="Corbel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Font typeface="Corbel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Font typeface="Corbel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Font typeface="Corbel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Font typeface="Corbel"/>
              <a:buNone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92" name="Google Shape;92;p56"/>
          <p:cNvSpPr txBox="1"/>
          <p:nvPr>
            <p:ph idx="2" type="body"/>
          </p:nvPr>
        </p:nvSpPr>
        <p:spPr>
          <a:xfrm>
            <a:off x="1484311" y="4343400"/>
            <a:ext cx="10018711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3" name="Google Shape;93;p5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5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5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7"/>
          <p:cNvSpPr txBox="1"/>
          <p:nvPr>
            <p:ph type="title"/>
          </p:nvPr>
        </p:nvSpPr>
        <p:spPr>
          <a:xfrm>
            <a:off x="1484313" y="3308581"/>
            <a:ext cx="1001870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57"/>
          <p:cNvSpPr txBox="1"/>
          <p:nvPr>
            <p:ph idx="1" type="body"/>
          </p:nvPr>
        </p:nvSpPr>
        <p:spPr>
          <a:xfrm>
            <a:off x="1484312" y="4777381"/>
            <a:ext cx="1001871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9" name="Google Shape;99;p5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5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5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8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58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58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58"/>
          <p:cNvSpPr txBox="1"/>
          <p:nvPr>
            <p:ph idx="1" type="body"/>
          </p:nvPr>
        </p:nvSpPr>
        <p:spPr>
          <a:xfrm>
            <a:off x="1484313" y="3886200"/>
            <a:ext cx="10018710" cy="8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None/>
              <a:defRPr b="0" sz="24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07" name="Google Shape;107;p58"/>
          <p:cNvSpPr txBox="1"/>
          <p:nvPr>
            <p:ph idx="2" type="body"/>
          </p:nvPr>
        </p:nvSpPr>
        <p:spPr>
          <a:xfrm>
            <a:off x="1484312" y="4775200"/>
            <a:ext cx="1001871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8" name="Google Shape;108;p5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5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5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9"/>
          <p:cNvSpPr txBox="1"/>
          <p:nvPr>
            <p:ph type="title"/>
          </p:nvPr>
        </p:nvSpPr>
        <p:spPr>
          <a:xfrm>
            <a:off x="1484313" y="685800"/>
            <a:ext cx="10018712" cy="2727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59"/>
          <p:cNvSpPr txBox="1"/>
          <p:nvPr>
            <p:ph idx="1" type="body"/>
          </p:nvPr>
        </p:nvSpPr>
        <p:spPr>
          <a:xfrm>
            <a:off x="1484312" y="35052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14" name="Google Shape;114;p59"/>
          <p:cNvSpPr txBox="1"/>
          <p:nvPr>
            <p:ph idx="2" type="body"/>
          </p:nvPr>
        </p:nvSpPr>
        <p:spPr>
          <a:xfrm>
            <a:off x="1484311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5" name="Google Shape;115;p5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59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5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0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60"/>
          <p:cNvSpPr txBox="1"/>
          <p:nvPr>
            <p:ph idx="1" type="body"/>
          </p:nvPr>
        </p:nvSpPr>
        <p:spPr>
          <a:xfrm rot="5400000">
            <a:off x="4931566" y="-780257"/>
            <a:ext cx="3124201" cy="1001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1" name="Google Shape;121;p6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6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6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1"/>
          <p:cNvSpPr txBox="1"/>
          <p:nvPr>
            <p:ph type="title"/>
          </p:nvPr>
        </p:nvSpPr>
        <p:spPr>
          <a:xfrm rot="5400000">
            <a:off x="8065140" y="2353316"/>
            <a:ext cx="5105400" cy="17703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61"/>
          <p:cNvSpPr txBox="1"/>
          <p:nvPr>
            <p:ph idx="1" type="body"/>
          </p:nvPr>
        </p:nvSpPr>
        <p:spPr>
          <a:xfrm rot="5400000">
            <a:off x="2941483" y="-771371"/>
            <a:ext cx="5105400" cy="8019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7" name="Google Shape;127;p6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6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6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44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1" name="Google Shape;11;p44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Google Shape;12;p44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Google Shape;13;p44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" name="Google Shape;14;p44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15" name="Google Shape;15;p44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16" name="Google Shape;16;p44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7" name="Google Shape;17;p44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44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4958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41275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94335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75919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7504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7504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57504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57504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57504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9" name="Google Shape;19;p4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0" name="Google Shape;20;p4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1" name="Google Shape;21;p4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jpg"/><Relationship Id="rId4" Type="http://schemas.openxmlformats.org/officeDocument/2006/relationships/image" Target="../media/image8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7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Relationship Id="rId5" Type="http://schemas.openxmlformats.org/officeDocument/2006/relationships/image" Target="../media/image18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9.png"/><Relationship Id="rId4" Type="http://schemas.openxmlformats.org/officeDocument/2006/relationships/image" Target="../media/image15.png"/><Relationship Id="rId5" Type="http://schemas.openxmlformats.org/officeDocument/2006/relationships/image" Target="../media/image18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9.png"/><Relationship Id="rId4" Type="http://schemas.openxmlformats.org/officeDocument/2006/relationships/image" Target="../media/image15.png"/><Relationship Id="rId5" Type="http://schemas.openxmlformats.org/officeDocument/2006/relationships/image" Target="../media/image18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5.png"/><Relationship Id="rId4" Type="http://schemas.openxmlformats.org/officeDocument/2006/relationships/image" Target="../media/image18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45"/>
              <a:buNone/>
            </a:pPr>
            <a:r>
              <a:rPr lang="en-US"/>
              <a:t>Lecture 12 | CSE421 – Computer Networks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1020"/>
              </a:spcBef>
              <a:spcAft>
                <a:spcPts val="0"/>
              </a:spcAft>
              <a:buSzPts val="3045"/>
              <a:buNone/>
            </a:pPr>
            <a:r>
              <a:rPr lang="en-US"/>
              <a:t>Department of Computer Science and Engineering</a:t>
            </a:r>
            <a:br>
              <a:rPr lang="en-US"/>
            </a:br>
            <a:r>
              <a:rPr lang="en-US"/>
              <a:t>School of Data &amp; Science</a:t>
            </a:r>
            <a:endParaRPr/>
          </a:p>
        </p:txBody>
      </p:sp>
      <p:pic>
        <p:nvPicPr>
          <p:cNvPr id="136" name="Google Shape;13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76333" y="217086"/>
            <a:ext cx="1639334" cy="1504089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"/>
          <p:cNvSpPr txBox="1"/>
          <p:nvPr>
            <p:ph type="ctrTitle"/>
          </p:nvPr>
        </p:nvSpPr>
        <p:spPr>
          <a:xfrm>
            <a:off x="2928400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Network Layer</a:t>
            </a:r>
            <a:br>
              <a:rPr lang="en-US"/>
            </a:br>
            <a:r>
              <a:rPr lang="en-US" sz="3200"/>
              <a:t>Routing Algorithm</a:t>
            </a:r>
            <a:br>
              <a:rPr lang="en-US" sz="2800"/>
            </a:br>
            <a:r>
              <a:rPr b="1" i="1" lang="en-US" sz="2400"/>
              <a:t>Distance Vector Routing</a:t>
            </a:r>
            <a:endParaRPr b="1" i="1" sz="5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"/>
          <p:cNvSpPr txBox="1"/>
          <p:nvPr>
            <p:ph type="title"/>
          </p:nvPr>
        </p:nvSpPr>
        <p:spPr>
          <a:xfrm>
            <a:off x="1591925" y="545536"/>
            <a:ext cx="10018713" cy="1223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Objectives</a:t>
            </a:r>
            <a:endParaRPr/>
          </a:p>
        </p:txBody>
      </p:sp>
      <p:sp>
        <p:nvSpPr>
          <p:cNvPr id="144" name="Google Shape;144;p2"/>
          <p:cNvSpPr txBox="1"/>
          <p:nvPr>
            <p:ph idx="1" type="body"/>
          </p:nvPr>
        </p:nvSpPr>
        <p:spPr>
          <a:xfrm>
            <a:off x="1591925" y="1768839"/>
            <a:ext cx="10018713" cy="4751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9092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55"/>
              <a:buFont typeface="Arial"/>
              <a:buChar char="•"/>
            </a:pPr>
            <a:r>
              <a:rPr lang="en-US" sz="3900"/>
              <a:t>understand principles behind network layer services:</a:t>
            </a:r>
            <a:endParaRPr/>
          </a:p>
          <a:p>
            <a:pPr indent="-322262" lvl="1" marL="742950" rtl="0" algn="l">
              <a:lnSpc>
                <a:spcPct val="100000"/>
              </a:lnSpc>
              <a:spcBef>
                <a:spcPts val="1195"/>
              </a:spcBef>
              <a:spcAft>
                <a:spcPts val="0"/>
              </a:spcAft>
              <a:buSzPts val="5075"/>
              <a:buFont typeface="Arial"/>
              <a:buChar char="•"/>
            </a:pPr>
            <a:r>
              <a:rPr lang="en-US" sz="4000"/>
              <a:t>routing algorithms</a:t>
            </a:r>
            <a:endParaRPr sz="2800"/>
          </a:p>
          <a:p>
            <a:pPr indent="-285750" lvl="2" marL="1200150" rtl="0" algn="l">
              <a:lnSpc>
                <a:spcPct val="100000"/>
              </a:lnSpc>
              <a:spcBef>
                <a:spcPts val="1110"/>
              </a:spcBef>
              <a:spcAft>
                <a:spcPts val="0"/>
              </a:spcAft>
              <a:buSzPts val="4350"/>
              <a:buChar char="•"/>
            </a:pPr>
            <a:r>
              <a:rPr b="1" lang="en-US" sz="3600"/>
              <a:t>distance vector</a:t>
            </a:r>
            <a:endParaRPr sz="2400"/>
          </a:p>
          <a:p>
            <a:pPr indent="-285750" lvl="2" marL="1200150" rtl="0" algn="l">
              <a:lnSpc>
                <a:spcPct val="100000"/>
              </a:lnSpc>
              <a:spcBef>
                <a:spcPts val="1110"/>
              </a:spcBef>
              <a:spcAft>
                <a:spcPts val="0"/>
              </a:spcAft>
              <a:buSzPts val="4350"/>
              <a:buChar char="•"/>
            </a:pPr>
            <a:r>
              <a:rPr b="1" lang="en-US" sz="3600"/>
              <a:t>link state</a:t>
            </a:r>
            <a:endParaRPr b="1" sz="3600"/>
          </a:p>
          <a:p>
            <a:pPr indent="0" lvl="0" marL="0" rtl="0" algn="l">
              <a:lnSpc>
                <a:spcPct val="100000"/>
              </a:lnSpc>
              <a:spcBef>
                <a:spcPts val="1008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sp>
        <p:nvSpPr>
          <p:cNvPr id="145" name="Google Shape;145;p2"/>
          <p:cNvSpPr txBox="1"/>
          <p:nvPr>
            <p:ph idx="12" type="sldNum"/>
          </p:nvPr>
        </p:nvSpPr>
        <p:spPr>
          <a:xfrm>
            <a:off x="11176708" y="6047013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6" name="Google Shape;14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"/>
          <p:cNvSpPr txBox="1"/>
          <p:nvPr>
            <p:ph type="title"/>
          </p:nvPr>
        </p:nvSpPr>
        <p:spPr>
          <a:xfrm>
            <a:off x="1484310" y="124098"/>
            <a:ext cx="10018713" cy="9181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Autonomous Systems</a:t>
            </a:r>
            <a:endParaRPr/>
          </a:p>
        </p:txBody>
      </p:sp>
      <p:sp>
        <p:nvSpPr>
          <p:cNvPr id="152" name="Google Shape;152;p4"/>
          <p:cNvSpPr txBox="1"/>
          <p:nvPr>
            <p:ph idx="1" type="body"/>
          </p:nvPr>
        </p:nvSpPr>
        <p:spPr>
          <a:xfrm>
            <a:off x="1340619" y="1338489"/>
            <a:ext cx="10608127" cy="47112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94638" lvl="0" marL="28575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6756"/>
              <a:buChar char="•"/>
            </a:pPr>
            <a:r>
              <a:rPr lang="en-US" sz="3200">
                <a:latin typeface="Arimo"/>
                <a:ea typeface="Arimo"/>
                <a:cs typeface="Arimo"/>
                <a:sym typeface="Arimo"/>
              </a:rPr>
              <a:t>Internet is divided into autonomous systems (AS). </a:t>
            </a:r>
            <a:endParaRPr sz="3200">
              <a:latin typeface="Arimo"/>
              <a:ea typeface="Arimo"/>
              <a:cs typeface="Arimo"/>
              <a:sym typeface="Arimo"/>
            </a:endParaRPr>
          </a:p>
          <a:p>
            <a:pPr indent="-294638" lvl="0" marL="285750" rtl="0" algn="just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ct val="156756"/>
              <a:buChar char="•"/>
            </a:pPr>
            <a:r>
              <a:rPr lang="en-US" sz="3200">
                <a:latin typeface="Arimo"/>
                <a:ea typeface="Arimo"/>
                <a:cs typeface="Arimo"/>
                <a:sym typeface="Arimo"/>
              </a:rPr>
              <a:t>An AS = a group of networks and routers controlled by one organization. </a:t>
            </a:r>
            <a:endParaRPr sz="3200">
              <a:latin typeface="Arimo"/>
              <a:ea typeface="Arimo"/>
              <a:cs typeface="Arimo"/>
              <a:sym typeface="Arimo"/>
            </a:endParaRPr>
          </a:p>
          <a:p>
            <a:pPr indent="0" lvl="0" marL="285750" rtl="0" algn="just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ct val="156756"/>
              <a:buNone/>
            </a:pPr>
            <a:r>
              <a:t/>
            </a:r>
            <a:endParaRPr sz="3200">
              <a:latin typeface="Arimo"/>
              <a:ea typeface="Arimo"/>
              <a:cs typeface="Arimo"/>
              <a:sym typeface="Arimo"/>
            </a:endParaRPr>
          </a:p>
          <a:p>
            <a:pPr indent="-294638" lvl="0" marL="285750" rtl="0" algn="just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ct val="156756"/>
              <a:buChar char="•"/>
            </a:pPr>
            <a:r>
              <a:rPr lang="en-US" sz="3200">
                <a:latin typeface="Arimo"/>
                <a:ea typeface="Arimo"/>
                <a:cs typeface="Arimo"/>
                <a:sym typeface="Arimo"/>
              </a:rPr>
              <a:t>Routing </a:t>
            </a:r>
            <a:r>
              <a:rPr b="1" i="1" lang="en-US" sz="3200">
                <a:solidFill>
                  <a:srgbClr val="7D28CD"/>
                </a:solidFill>
                <a:latin typeface="Arimo"/>
                <a:ea typeface="Arimo"/>
                <a:cs typeface="Arimo"/>
                <a:sym typeface="Arimo"/>
              </a:rPr>
              <a:t>inside</a:t>
            </a:r>
            <a:r>
              <a:rPr lang="en-US" sz="3200">
                <a:latin typeface="Arimo"/>
                <a:ea typeface="Arimo"/>
                <a:cs typeface="Arimo"/>
                <a:sym typeface="Arimo"/>
              </a:rPr>
              <a:t> an autonomous systems(AS) :</a:t>
            </a:r>
            <a:r>
              <a:rPr b="1" lang="en-US" sz="3200">
                <a:solidFill>
                  <a:srgbClr val="1186C3"/>
                </a:solidFill>
                <a:latin typeface="Arimo"/>
                <a:ea typeface="Arimo"/>
                <a:cs typeface="Arimo"/>
                <a:sym typeface="Arimo"/>
              </a:rPr>
              <a:t>intra-domain routing</a:t>
            </a:r>
            <a:r>
              <a:rPr lang="en-US" sz="3200">
                <a:solidFill>
                  <a:srgbClr val="1186C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  <a:r>
              <a:rPr lang="en-US" sz="3200">
                <a:latin typeface="Arimo"/>
                <a:ea typeface="Arimo"/>
                <a:cs typeface="Arimo"/>
                <a:sym typeface="Arimo"/>
              </a:rPr>
              <a:t> </a:t>
            </a:r>
            <a:endParaRPr sz="3200">
              <a:latin typeface="Arimo"/>
              <a:ea typeface="Arimo"/>
              <a:cs typeface="Arimo"/>
              <a:sym typeface="Arimo"/>
            </a:endParaRPr>
          </a:p>
          <a:p>
            <a:pPr indent="0" lvl="0" marL="285750" rtl="0" algn="just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ct val="156756"/>
              <a:buNone/>
            </a:pPr>
            <a:r>
              <a:t/>
            </a:r>
            <a:endParaRPr sz="3200">
              <a:latin typeface="Arimo"/>
              <a:ea typeface="Arimo"/>
              <a:cs typeface="Arimo"/>
              <a:sym typeface="Arimo"/>
            </a:endParaRPr>
          </a:p>
          <a:p>
            <a:pPr indent="-294638" lvl="0" marL="285750" rtl="0" algn="just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ct val="156756"/>
              <a:buChar char="•"/>
            </a:pPr>
            <a:r>
              <a:rPr lang="en-US" sz="3200">
                <a:latin typeface="Arimo"/>
                <a:ea typeface="Arimo"/>
                <a:cs typeface="Arimo"/>
                <a:sym typeface="Arimo"/>
              </a:rPr>
              <a:t>Routing </a:t>
            </a:r>
            <a:r>
              <a:rPr b="1" i="1" lang="en-US" sz="3200">
                <a:solidFill>
                  <a:srgbClr val="7D28CD"/>
                </a:solidFill>
                <a:latin typeface="Arimo"/>
                <a:ea typeface="Arimo"/>
                <a:cs typeface="Arimo"/>
                <a:sym typeface="Arimo"/>
              </a:rPr>
              <a:t>between</a:t>
            </a:r>
            <a:r>
              <a:rPr lang="en-US" sz="3200">
                <a:latin typeface="Arimo"/>
                <a:ea typeface="Arimo"/>
                <a:cs typeface="Arimo"/>
                <a:sym typeface="Arimo"/>
              </a:rPr>
              <a:t> autonomous systems(AS) :</a:t>
            </a:r>
            <a:r>
              <a:rPr b="1" lang="en-US" sz="3200">
                <a:solidFill>
                  <a:srgbClr val="1186C3"/>
                </a:solidFill>
                <a:latin typeface="Arimo"/>
                <a:ea typeface="Arimo"/>
                <a:cs typeface="Arimo"/>
                <a:sym typeface="Arimo"/>
              </a:rPr>
              <a:t>inter-domain routing.</a:t>
            </a:r>
            <a:endParaRPr b="1" sz="3200">
              <a:solidFill>
                <a:srgbClr val="1186C3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ct val="156756"/>
              <a:buNone/>
            </a:pPr>
            <a:r>
              <a:t/>
            </a:r>
            <a:endParaRPr/>
          </a:p>
        </p:txBody>
      </p:sp>
      <p:sp>
        <p:nvSpPr>
          <p:cNvPr id="153" name="Google Shape;153;p4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"/>
          <p:cNvSpPr txBox="1"/>
          <p:nvPr>
            <p:ph type="title"/>
          </p:nvPr>
        </p:nvSpPr>
        <p:spPr>
          <a:xfrm>
            <a:off x="1484310" y="263524"/>
            <a:ext cx="10018713" cy="955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Autonomous Systems</a:t>
            </a:r>
            <a:endParaRPr/>
          </a:p>
        </p:txBody>
      </p:sp>
      <p:sp>
        <p:nvSpPr>
          <p:cNvPr id="160" name="Google Shape;160;p5"/>
          <p:cNvSpPr txBox="1"/>
          <p:nvPr>
            <p:ph idx="12" type="sldNum"/>
          </p:nvPr>
        </p:nvSpPr>
        <p:spPr>
          <a:xfrm>
            <a:off x="10951856" y="6049693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61" name="Google Shape;16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3527" y="1460827"/>
            <a:ext cx="8624616" cy="477142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5"/>
          <p:cNvSpPr txBox="1"/>
          <p:nvPr/>
        </p:nvSpPr>
        <p:spPr>
          <a:xfrm>
            <a:off x="9368850" y="2323475"/>
            <a:ext cx="13790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rPr>
              <a:t>RIP/ OSPF</a:t>
            </a:r>
            <a:endParaRPr b="1" i="0" sz="1800" u="none" cap="none" strike="noStrike">
              <a:solidFill>
                <a:schemeClr val="accen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"/>
          <p:cNvSpPr txBox="1"/>
          <p:nvPr>
            <p:ph type="title"/>
          </p:nvPr>
        </p:nvSpPr>
        <p:spPr>
          <a:xfrm>
            <a:off x="1591925" y="128309"/>
            <a:ext cx="10018713" cy="9384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Popular Routing Protocols</a:t>
            </a:r>
            <a:endParaRPr/>
          </a:p>
        </p:txBody>
      </p:sp>
      <p:sp>
        <p:nvSpPr>
          <p:cNvPr id="169" name="Google Shape;169;p3"/>
          <p:cNvSpPr txBox="1"/>
          <p:nvPr>
            <p:ph idx="12" type="sldNum"/>
          </p:nvPr>
        </p:nvSpPr>
        <p:spPr>
          <a:xfrm>
            <a:off x="11290174" y="612355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0" name="Google Shape;17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outing Protocols » CS Taleem" id="171" name="Google Shape;17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63932" y="1087638"/>
            <a:ext cx="7432765" cy="5218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"/>
          <p:cNvSpPr txBox="1"/>
          <p:nvPr>
            <p:ph type="title"/>
          </p:nvPr>
        </p:nvSpPr>
        <p:spPr>
          <a:xfrm>
            <a:off x="1433578" y="0"/>
            <a:ext cx="10018713" cy="1223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Routing Algorithms</a:t>
            </a:r>
            <a:endParaRPr/>
          </a:p>
        </p:txBody>
      </p:sp>
      <p:sp>
        <p:nvSpPr>
          <p:cNvPr id="178" name="Google Shape;178;p6"/>
          <p:cNvSpPr txBox="1"/>
          <p:nvPr>
            <p:ph idx="1" type="body"/>
          </p:nvPr>
        </p:nvSpPr>
        <p:spPr>
          <a:xfrm>
            <a:off x="755903" y="1572896"/>
            <a:ext cx="7016497" cy="4278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31468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6756"/>
              <a:buChar char="•"/>
            </a:pPr>
            <a:r>
              <a:rPr lang="en-US" sz="3600"/>
              <a:t>Given a set of routers and links connecting the routers.</a:t>
            </a:r>
            <a:endParaRPr/>
          </a:p>
          <a:p>
            <a:pPr indent="0" lvl="0" marL="28575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SzPct val="156756"/>
              <a:buNone/>
            </a:pPr>
            <a:r>
              <a:t/>
            </a:r>
            <a:endParaRPr sz="3600"/>
          </a:p>
          <a:p>
            <a:pPr indent="-331468" lvl="0" marL="28575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SzPct val="156756"/>
              <a:buChar char="•"/>
            </a:pPr>
            <a:r>
              <a:rPr lang="en-US" sz="3600"/>
              <a:t>Routing algorithm finds a “</a:t>
            </a:r>
            <a:r>
              <a:rPr lang="en-US" sz="3600">
                <a:solidFill>
                  <a:srgbClr val="FF0000"/>
                </a:solidFill>
              </a:rPr>
              <a:t>good</a:t>
            </a:r>
            <a:r>
              <a:rPr lang="en-US" sz="3600"/>
              <a:t>” path from the source to destination router.</a:t>
            </a:r>
            <a:endParaRPr/>
          </a:p>
          <a:p>
            <a:pPr indent="0" lvl="0" marL="28575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SzPct val="156756"/>
              <a:buNone/>
            </a:pPr>
            <a:r>
              <a:t/>
            </a:r>
            <a:endParaRPr sz="3600"/>
          </a:p>
          <a:p>
            <a:pPr indent="-331468" lvl="0" marL="28575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SzPct val="156756"/>
              <a:buChar char="•"/>
            </a:pPr>
            <a:r>
              <a:rPr lang="en-US" sz="3600"/>
              <a:t>Good path = Lowest cost path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ct val="156756"/>
              <a:buNone/>
            </a:pPr>
            <a:r>
              <a:t/>
            </a:r>
            <a:endParaRPr/>
          </a:p>
        </p:txBody>
      </p:sp>
      <p:sp>
        <p:nvSpPr>
          <p:cNvPr id="179" name="Google Shape;179;p6"/>
          <p:cNvSpPr txBox="1"/>
          <p:nvPr>
            <p:ph idx="12" type="sldNum"/>
          </p:nvPr>
        </p:nvSpPr>
        <p:spPr>
          <a:xfrm>
            <a:off x="11176708" y="6047013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0" name="Google Shape;18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400" y="2314375"/>
            <a:ext cx="4171668" cy="2740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"/>
          <p:cNvSpPr txBox="1"/>
          <p:nvPr>
            <p:ph type="title"/>
          </p:nvPr>
        </p:nvSpPr>
        <p:spPr>
          <a:xfrm>
            <a:off x="1157995" y="140166"/>
            <a:ext cx="10018713" cy="1223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Routing Algorithm classification</a:t>
            </a:r>
            <a:endParaRPr/>
          </a:p>
        </p:txBody>
      </p:sp>
      <p:sp>
        <p:nvSpPr>
          <p:cNvPr id="188" name="Google Shape;188;p8"/>
          <p:cNvSpPr txBox="1"/>
          <p:nvPr>
            <p:ph idx="1" type="body"/>
          </p:nvPr>
        </p:nvSpPr>
        <p:spPr>
          <a:xfrm>
            <a:off x="1310045" y="1346052"/>
            <a:ext cx="10018800" cy="55119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ct val="145000"/>
              <a:buFont typeface="Arial"/>
              <a:buNone/>
            </a:pPr>
            <a:r>
              <a:rPr b="1" lang="en-US" sz="3900">
                <a:solidFill>
                  <a:srgbClr val="7D28CD"/>
                </a:solidFill>
              </a:rPr>
              <a:t>Global:</a:t>
            </a:r>
            <a:endParaRPr/>
          </a:p>
          <a:p>
            <a:pPr indent="-394373" lvl="0" marL="457200" rtl="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ct val="119999"/>
              <a:buFont typeface="Arial"/>
              <a:buChar char="•"/>
            </a:pPr>
            <a:r>
              <a:rPr lang="en-US" sz="3300"/>
              <a:t>Every router knows the whole network (all nodes, all links, and their costs).</a:t>
            </a:r>
            <a:endParaRPr sz="3800"/>
          </a:p>
          <a:p>
            <a:pPr indent="-218352" lvl="0" marL="457200" rtl="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ct val="119999"/>
              <a:buFont typeface="Arial"/>
              <a:buNone/>
            </a:pPr>
            <a:r>
              <a:t/>
            </a:r>
            <a:endParaRPr sz="3300"/>
          </a:p>
          <a:p>
            <a:pPr indent="-394373" lvl="0" marL="457200" rtl="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ct val="119999"/>
              <a:buFont typeface="Arial"/>
              <a:buChar char="•"/>
            </a:pPr>
            <a:r>
              <a:rPr lang="en-US" sz="3300"/>
              <a:t>Each router builds a complete map (topology).</a:t>
            </a:r>
            <a:endParaRPr sz="3800"/>
          </a:p>
          <a:p>
            <a:pPr indent="-218352" lvl="0" marL="457200" rtl="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ct val="119999"/>
              <a:buFont typeface="Arial"/>
              <a:buNone/>
            </a:pPr>
            <a:r>
              <a:t/>
            </a:r>
            <a:endParaRPr sz="3300"/>
          </a:p>
          <a:p>
            <a:pPr indent="-394373" lvl="0" marL="457200" rtl="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ct val="119999"/>
              <a:buFont typeface="Arial"/>
              <a:buChar char="•"/>
            </a:pPr>
            <a:r>
              <a:rPr lang="en-US" sz="3300"/>
              <a:t>Uses </a:t>
            </a:r>
            <a:r>
              <a:rPr b="1" lang="en-US" sz="3300">
                <a:solidFill>
                  <a:srgbClr val="1186C3"/>
                </a:solidFill>
              </a:rPr>
              <a:t>link state algorithms </a:t>
            </a:r>
            <a:r>
              <a:rPr lang="en-US" sz="3300"/>
              <a:t>(like Dijkstra’s shortest path).</a:t>
            </a:r>
            <a:endParaRPr sz="3800"/>
          </a:p>
          <a:p>
            <a:pPr indent="0" lvl="0" marL="6286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20000"/>
              <a:buNone/>
            </a:pPr>
            <a:br>
              <a:rPr lang="en-US" sz="3200"/>
            </a:br>
            <a:r>
              <a:rPr b="1" lang="en-US" sz="3900">
                <a:solidFill>
                  <a:srgbClr val="7D28CD"/>
                </a:solidFill>
              </a:rPr>
              <a:t>Decentralized:</a:t>
            </a:r>
            <a:r>
              <a:rPr b="1" lang="en-US" sz="2600">
                <a:solidFill>
                  <a:srgbClr val="7D28CD"/>
                </a:solidFill>
              </a:rPr>
              <a:t> </a:t>
            </a:r>
            <a:endParaRPr b="1" sz="3000">
              <a:solidFill>
                <a:srgbClr val="7D28CD"/>
              </a:solidFill>
            </a:endParaRPr>
          </a:p>
          <a:p>
            <a:pPr indent="-394373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19999"/>
              <a:buFont typeface="Arial"/>
              <a:buChar char="•"/>
            </a:pPr>
            <a:r>
              <a:rPr lang="en-US" sz="3300"/>
              <a:t>Each router only knows about its neighbors and the cost to reach them.</a:t>
            </a:r>
            <a:endParaRPr sz="3800"/>
          </a:p>
          <a:p>
            <a:pPr indent="-218352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19999"/>
              <a:buFont typeface="Arial"/>
              <a:buNone/>
            </a:pPr>
            <a:r>
              <a:t/>
            </a:r>
            <a:endParaRPr sz="3300"/>
          </a:p>
          <a:p>
            <a:pPr indent="-394373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19999"/>
              <a:buFont typeface="Arial"/>
              <a:buChar char="•"/>
            </a:pPr>
            <a:r>
              <a:rPr lang="en-US" sz="3300"/>
              <a:t>Routers share information with neighbors and update step by step.</a:t>
            </a:r>
            <a:endParaRPr sz="3800"/>
          </a:p>
          <a:p>
            <a:pPr indent="-218352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19999"/>
              <a:buFont typeface="Arial"/>
              <a:buNone/>
            </a:pPr>
            <a:r>
              <a:t/>
            </a:r>
            <a:endParaRPr sz="3300"/>
          </a:p>
          <a:p>
            <a:pPr indent="-394373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19999"/>
              <a:buFont typeface="Arial"/>
              <a:buChar char="•"/>
            </a:pPr>
            <a:r>
              <a:rPr lang="en-US" sz="3300"/>
              <a:t>Uses </a:t>
            </a:r>
            <a:r>
              <a:rPr b="1" lang="en-US" sz="3300">
                <a:solidFill>
                  <a:srgbClr val="1186C3"/>
                </a:solidFill>
              </a:rPr>
              <a:t>distance vector algorithms</a:t>
            </a:r>
            <a:r>
              <a:rPr lang="en-US" sz="3300"/>
              <a:t> (like Bellman-Ford).</a:t>
            </a:r>
            <a:endParaRPr sz="3800"/>
          </a:p>
          <a:p>
            <a:pPr indent="0" lvl="0" marL="6286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5241"/>
              <a:buNone/>
            </a:pPr>
            <a:br>
              <a:rPr lang="en-US" sz="3200"/>
            </a:br>
            <a:endParaRPr b="1">
              <a:solidFill>
                <a:srgbClr val="1186C3"/>
              </a:solidFill>
            </a:endParaRPr>
          </a:p>
        </p:txBody>
      </p:sp>
      <p:sp>
        <p:nvSpPr>
          <p:cNvPr id="189" name="Google Shape;189;p8"/>
          <p:cNvSpPr txBox="1"/>
          <p:nvPr>
            <p:ph idx="12" type="sldNum"/>
          </p:nvPr>
        </p:nvSpPr>
        <p:spPr>
          <a:xfrm>
            <a:off x="11176708" y="6047013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0" name="Google Shape;19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descr="Decentralized - Free business icons" id="191" name="Google Shape;191;p8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2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Distance Vector Algorithm</a:t>
            </a:r>
            <a:endParaRPr/>
          </a:p>
        </p:txBody>
      </p:sp>
      <p:sp>
        <p:nvSpPr>
          <p:cNvPr id="197" name="Google Shape;197;p12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45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"/>
          <p:cNvSpPr txBox="1"/>
          <p:nvPr>
            <p:ph idx="4294967295" type="title"/>
          </p:nvPr>
        </p:nvSpPr>
        <p:spPr>
          <a:xfrm>
            <a:off x="1484310" y="0"/>
            <a:ext cx="10018713" cy="11157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 sz="4400"/>
              <a:t>Distance vector algorithm </a:t>
            </a:r>
            <a:endParaRPr sz="4400"/>
          </a:p>
        </p:txBody>
      </p:sp>
      <p:sp>
        <p:nvSpPr>
          <p:cNvPr id="204" name="Google Shape;204;p7"/>
          <p:cNvSpPr txBox="1"/>
          <p:nvPr>
            <p:ph idx="4294967295" type="body"/>
          </p:nvPr>
        </p:nvSpPr>
        <p:spPr>
          <a:xfrm>
            <a:off x="1126653" y="1066088"/>
            <a:ext cx="10376369" cy="56090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94640" lvl="0" marL="2857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600"/>
              <a:t>Based on </a:t>
            </a:r>
            <a:r>
              <a:rPr b="1" lang="en-US" sz="3600"/>
              <a:t>Bellman-Ford Algorithm</a:t>
            </a:r>
            <a:r>
              <a:rPr lang="en-US" sz="3600"/>
              <a:t>.</a:t>
            </a:r>
            <a:endParaRPr/>
          </a:p>
          <a:p>
            <a:pPr indent="-294640" lvl="0" marL="2857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600"/>
              <a:t>Each router finds </a:t>
            </a:r>
            <a:r>
              <a:rPr b="1" lang="en-US" sz="3600"/>
              <a:t>shortest paths</a:t>
            </a:r>
            <a:r>
              <a:rPr lang="en-US" sz="3600"/>
              <a:t> to all destinations.</a:t>
            </a:r>
            <a:endParaRPr/>
          </a:p>
          <a:p>
            <a:pPr indent="-294640" lvl="0" marL="2857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600"/>
              <a:t>Shortest path cost can be:</a:t>
            </a:r>
            <a:endParaRPr/>
          </a:p>
          <a:p>
            <a:pPr indent="-294640" lvl="1" marL="7429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/>
              <a:t>Hop count</a:t>
            </a:r>
            <a:endParaRPr/>
          </a:p>
          <a:p>
            <a:pPr indent="-294640" lvl="1" marL="7429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/>
              <a:t>Link delay</a:t>
            </a:r>
            <a:endParaRPr/>
          </a:p>
          <a:p>
            <a:pPr indent="-294640" lvl="1" marL="7429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/>
              <a:t>Bandwidth</a:t>
            </a:r>
            <a:endParaRPr sz="3200"/>
          </a:p>
          <a:p>
            <a:pPr indent="-294640" lvl="0" marL="2857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600"/>
              <a:t>Uses a </a:t>
            </a:r>
            <a:r>
              <a:rPr b="1" lang="en-US" sz="3600"/>
              <a:t>weighted network (topology)</a:t>
            </a:r>
            <a:r>
              <a:rPr lang="en-US" sz="3600"/>
              <a:t>.</a:t>
            </a:r>
            <a:endParaRPr/>
          </a:p>
          <a:p>
            <a:pPr indent="0" lvl="0" marL="2857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None/>
            </a:pPr>
            <a:r>
              <a:t/>
            </a:r>
            <a:endParaRPr/>
          </a:p>
        </p:txBody>
      </p:sp>
      <p:sp>
        <p:nvSpPr>
          <p:cNvPr id="205" name="Google Shape;205;p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Distance Vector Routing Algorithm | Example | Gate Vidyalay" id="206" name="Google Shape;20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9557" y="2677386"/>
            <a:ext cx="3593465" cy="2807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"/>
          <p:cNvSpPr txBox="1"/>
          <p:nvPr>
            <p:ph idx="4294967295" type="title"/>
          </p:nvPr>
        </p:nvSpPr>
        <p:spPr>
          <a:xfrm>
            <a:off x="1366745" y="0"/>
            <a:ext cx="10018713" cy="11157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/>
              <a:t>How Does It Work?</a:t>
            </a:r>
            <a:endParaRPr/>
          </a:p>
        </p:txBody>
      </p:sp>
      <p:sp>
        <p:nvSpPr>
          <p:cNvPr id="213" name="Google Shape;213;p9"/>
          <p:cNvSpPr txBox="1"/>
          <p:nvPr>
            <p:ph idx="4294967295" type="body"/>
          </p:nvPr>
        </p:nvSpPr>
        <p:spPr>
          <a:xfrm>
            <a:off x="880985" y="1358856"/>
            <a:ext cx="9825202" cy="42812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94640" lvl="0" marL="2857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600"/>
              <a:t>Each router keeps a </a:t>
            </a:r>
            <a:r>
              <a:rPr b="1" lang="en-US" sz="3600">
                <a:solidFill>
                  <a:srgbClr val="1186C3"/>
                </a:solidFill>
              </a:rPr>
              <a:t>Distance Vector (table)</a:t>
            </a:r>
            <a:r>
              <a:rPr lang="en-US" sz="3600"/>
              <a:t>.</a:t>
            </a:r>
            <a:endParaRPr/>
          </a:p>
          <a:p>
            <a:pPr indent="-294640" lvl="0" marL="2857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600"/>
              <a:t>Router </a:t>
            </a:r>
            <a:r>
              <a:rPr b="1" lang="en-US" sz="3600">
                <a:solidFill>
                  <a:srgbClr val="1186C3"/>
                </a:solidFill>
              </a:rPr>
              <a:t>shares its table</a:t>
            </a:r>
            <a:r>
              <a:rPr lang="en-US" sz="3600">
                <a:solidFill>
                  <a:srgbClr val="1186C3"/>
                </a:solidFill>
              </a:rPr>
              <a:t> </a:t>
            </a:r>
            <a:r>
              <a:rPr lang="en-US" sz="3600"/>
              <a:t>with neighbors regularly.</a:t>
            </a:r>
            <a:endParaRPr/>
          </a:p>
          <a:p>
            <a:pPr indent="-294640" lvl="0" marL="2857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600"/>
              <a:t>When a router gets a table from a neighbor, it </a:t>
            </a:r>
            <a:r>
              <a:rPr b="1" lang="en-US" sz="3600">
                <a:solidFill>
                  <a:srgbClr val="1186C3"/>
                </a:solidFill>
              </a:rPr>
              <a:t>updates its own table</a:t>
            </a:r>
            <a:r>
              <a:rPr lang="en-US" sz="3600">
                <a:solidFill>
                  <a:srgbClr val="1186C3"/>
                </a:solidFill>
              </a:rPr>
              <a:t> </a:t>
            </a:r>
            <a:r>
              <a:rPr lang="en-US" sz="3600"/>
              <a:t>using the Bellman-Ford rule.</a:t>
            </a:r>
            <a:endParaRPr/>
          </a:p>
          <a:p>
            <a:pPr indent="-294640" lvl="0" marL="2857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600"/>
              <a:t>Repeat until all routers know the shortest paths.</a:t>
            </a:r>
            <a:endParaRPr sz="3600"/>
          </a:p>
        </p:txBody>
      </p:sp>
      <p:sp>
        <p:nvSpPr>
          <p:cNvPr id="214" name="Google Shape;214;p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descr="Distance Vector Routing (DVR) Protocol ..." id="220" name="Google Shape;220;p10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stance Vector Routing Algorithm | Example | Gate Vidyalay" id="221" name="Google Shape;22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05919" y="997543"/>
            <a:ext cx="3593465" cy="280739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2" name="Google Shape;222;p10"/>
          <p:cNvGraphicFramePr/>
          <p:nvPr/>
        </p:nvGraphicFramePr>
        <p:xfrm>
          <a:off x="1259242" y="99754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{C12B0EEE-1DF2-492D-B026-A1DDDC416B75}</a:tableStyleId>
              </a:tblPr>
              <a:tblGrid>
                <a:gridCol w="939025"/>
                <a:gridCol w="1000075"/>
              </a:tblGrid>
              <a:tr h="365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Node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Distance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65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65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65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01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23" name="Google Shape;223;p10"/>
          <p:cNvSpPr txBox="1"/>
          <p:nvPr/>
        </p:nvSpPr>
        <p:spPr>
          <a:xfrm>
            <a:off x="1483360" y="613954"/>
            <a:ext cx="165172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NODE D Table</a:t>
            </a:r>
            <a:endParaRPr b="1" i="0" sz="16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4" name="Google Shape;224;p10"/>
          <p:cNvGraphicFramePr/>
          <p:nvPr/>
        </p:nvGraphicFramePr>
        <p:xfrm>
          <a:off x="7162476" y="96718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{C12B0EEE-1DF2-492D-B026-A1DDDC416B75}</a:tableStyleId>
              </a:tblPr>
              <a:tblGrid>
                <a:gridCol w="969550"/>
                <a:gridCol w="969550"/>
              </a:tblGrid>
              <a:tr h="365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Node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Distance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65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No Info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65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65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65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25" name="Google Shape;225;p10"/>
          <p:cNvSpPr txBox="1"/>
          <p:nvPr/>
        </p:nvSpPr>
        <p:spPr>
          <a:xfrm>
            <a:off x="7306163" y="613954"/>
            <a:ext cx="165172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NODE C Table</a:t>
            </a:r>
            <a:endParaRPr b="1" i="0" sz="16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4088250" y="1369345"/>
            <a:ext cx="483577" cy="28964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591044" y="5174585"/>
            <a:ext cx="967764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Cost to a destination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==cost(to neighbor) + neighbor’s cost(to destination)</a:t>
            </a:r>
            <a:endParaRPr/>
          </a:p>
        </p:txBody>
      </p:sp>
      <p:sp>
        <p:nvSpPr>
          <p:cNvPr id="228" name="Google Shape;228;p10"/>
          <p:cNvSpPr/>
          <p:nvPr/>
        </p:nvSpPr>
        <p:spPr>
          <a:xfrm>
            <a:off x="7006961" y="3054863"/>
            <a:ext cx="496677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Cost to A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= cost(to neighbor) + neighbor’s cost(to destination)</a:t>
            </a:r>
            <a:endParaRPr b="1" i="0" sz="14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8250770" y="3284139"/>
            <a:ext cx="97815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5E9934"/>
                </a:solidFill>
                <a:latin typeface="Corbel"/>
                <a:ea typeface="Corbel"/>
                <a:cs typeface="Corbel"/>
                <a:sym typeface="Corbel"/>
              </a:rPr>
              <a:t>D Router</a:t>
            </a:r>
            <a:endParaRPr b="0" i="0" sz="1600" u="none" cap="none" strike="noStrike">
              <a:solidFill>
                <a:srgbClr val="5E993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9523090" y="3284139"/>
            <a:ext cx="229902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A93023"/>
                </a:solidFill>
                <a:latin typeface="Corbel"/>
                <a:ea typeface="Corbel"/>
                <a:cs typeface="Corbel"/>
                <a:sym typeface="Corbel"/>
              </a:rPr>
              <a:t>Cost to A from D Router</a:t>
            </a:r>
            <a:endParaRPr b="0" i="0" sz="1600" u="none" cap="none" strike="noStrike">
              <a:solidFill>
                <a:srgbClr val="A9302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8430064" y="3592868"/>
            <a:ext cx="38664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5E9934"/>
                </a:solidFill>
                <a:latin typeface="Corbel"/>
                <a:ea typeface="Corbel"/>
                <a:cs typeface="Corbel"/>
                <a:sym typeface="Corbel"/>
              </a:rPr>
              <a:t>11</a:t>
            </a:r>
            <a:endParaRPr b="0" i="0" sz="1600" u="none" cap="none" strike="noStrike">
              <a:solidFill>
                <a:srgbClr val="5E993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10154066" y="3630755"/>
            <a:ext cx="28565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A93023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b="0" i="0" sz="1600" u="none" cap="none" strike="noStrike">
              <a:solidFill>
                <a:srgbClr val="A9302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9155049" y="3606814"/>
            <a:ext cx="29367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5E9934"/>
                </a:solidFill>
                <a:latin typeface="Corbel"/>
                <a:ea typeface="Corbel"/>
                <a:cs typeface="Corbel"/>
                <a:sym typeface="Corbel"/>
              </a:rPr>
              <a:t>+</a:t>
            </a:r>
            <a:endParaRPr b="0" i="0" sz="1600" u="none" cap="none" strike="noStrike">
              <a:solidFill>
                <a:srgbClr val="5E993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8294172" y="1369345"/>
            <a:ext cx="663717" cy="289641"/>
          </a:xfrm>
          <a:prstGeom prst="rect">
            <a:avLst/>
          </a:prstGeom>
          <a:solidFill>
            <a:srgbClr val="CCE2F8"/>
          </a:solidFill>
          <a:ln cap="flat" cmpd="sng" w="25400">
            <a:solidFill>
              <a:srgbClr val="CCE2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1483360" y="1369345"/>
            <a:ext cx="1651726" cy="378773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622712" y="4572490"/>
            <a:ext cx="379943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Distance Vector Algorithm:</a:t>
            </a:r>
            <a:endParaRPr b="0" i="0" sz="24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6"/>
          <p:cNvSpPr txBox="1"/>
          <p:nvPr>
            <p:ph idx="4294967295" type="title"/>
          </p:nvPr>
        </p:nvSpPr>
        <p:spPr>
          <a:xfrm>
            <a:off x="1327556" y="398419"/>
            <a:ext cx="10018713" cy="820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Periodic Updates of Distance Vector</a:t>
            </a:r>
            <a:endParaRPr/>
          </a:p>
        </p:txBody>
      </p:sp>
      <p:sp>
        <p:nvSpPr>
          <p:cNvPr id="243" name="Google Shape;243;p2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4" name="Google Shape;244;p26"/>
          <p:cNvSpPr/>
          <p:nvPr/>
        </p:nvSpPr>
        <p:spPr>
          <a:xfrm>
            <a:off x="1539991" y="1617324"/>
            <a:ext cx="9599064" cy="50782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64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Routers regularly send their </a:t>
            </a:r>
            <a:r>
              <a:rPr b="1" i="0" lang="en-US" sz="36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entire routing table</a:t>
            </a:r>
            <a:r>
              <a:rPr b="0" i="0" lang="en-US" sz="36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to neighbors (e.g., every 30 seconds in RIP). </a:t>
            </a:r>
            <a:endParaRPr b="0" i="0" sz="36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162559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64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64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These updates are sent even when there </a:t>
            </a:r>
            <a:r>
              <a:rPr b="1" i="0" lang="en-US" sz="36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is no change 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in the network.</a:t>
            </a:r>
            <a:endParaRPr b="0" i="0" sz="36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162559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64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64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This is </a:t>
            </a:r>
            <a:r>
              <a:rPr b="1" i="0" lang="en-US" sz="36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simple but inefficient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.</a:t>
            </a:r>
            <a:endParaRPr b="0" i="0" sz="16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162559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64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v04.jpg" id="249" name="Google Shape;24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0" y="1905001"/>
            <a:ext cx="7747000" cy="429736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7"/>
          <p:cNvSpPr txBox="1"/>
          <p:nvPr>
            <p:ph idx="4294967295" type="title"/>
          </p:nvPr>
        </p:nvSpPr>
        <p:spPr>
          <a:xfrm>
            <a:off x="1552550" y="547041"/>
            <a:ext cx="10018713" cy="413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Operation of Distance Vector</a:t>
            </a:r>
            <a:endParaRPr/>
          </a:p>
        </p:txBody>
      </p:sp>
      <p:sp>
        <p:nvSpPr>
          <p:cNvPr id="251" name="Google Shape;251;p27"/>
          <p:cNvSpPr txBox="1"/>
          <p:nvPr>
            <p:ph idx="4294967295" type="body"/>
          </p:nvPr>
        </p:nvSpPr>
        <p:spPr>
          <a:xfrm>
            <a:off x="1676400" y="1295400"/>
            <a:ext cx="88392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None/>
            </a:pPr>
            <a:r>
              <a:rPr lang="en-US">
                <a:solidFill>
                  <a:srgbClr val="FF0000"/>
                </a:solidFill>
              </a:rPr>
              <a:t>Periodic Updates: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grpSp>
        <p:nvGrpSpPr>
          <p:cNvPr id="252" name="Google Shape;252;p27"/>
          <p:cNvGrpSpPr/>
          <p:nvPr/>
        </p:nvGrpSpPr>
        <p:grpSpPr>
          <a:xfrm>
            <a:off x="2895600" y="1295400"/>
            <a:ext cx="5715000" cy="1067082"/>
            <a:chOff x="1371600" y="1295400"/>
            <a:chExt cx="5715000" cy="1067082"/>
          </a:xfrm>
        </p:grpSpPr>
        <p:cxnSp>
          <p:nvCxnSpPr>
            <p:cNvPr id="253" name="Google Shape;253;p27"/>
            <p:cNvCxnSpPr>
              <a:stCxn id="254" idx="1"/>
            </p:cNvCxnSpPr>
            <p:nvPr/>
          </p:nvCxnSpPr>
          <p:spPr>
            <a:xfrm flipH="1">
              <a:off x="1371600" y="1526382"/>
              <a:ext cx="1981200" cy="83610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54" name="Google Shape;254;p27"/>
            <p:cNvSpPr txBox="1"/>
            <p:nvPr/>
          </p:nvSpPr>
          <p:spPr>
            <a:xfrm>
              <a:off x="3352800" y="1295400"/>
              <a:ext cx="3733800" cy="461963"/>
            </a:xfrm>
            <a:prstGeom prst="rect">
              <a:avLst/>
            </a:prstGeom>
            <a:solidFill>
              <a:srgbClr val="800000"/>
            </a:solidFill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R1 Update Timer expires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5" name="Google Shape;255;p27"/>
          <p:cNvGrpSpPr/>
          <p:nvPr/>
        </p:nvGrpSpPr>
        <p:grpSpPr>
          <a:xfrm>
            <a:off x="2438400" y="1828801"/>
            <a:ext cx="7467600" cy="4729163"/>
            <a:chOff x="914400" y="1828800"/>
            <a:chExt cx="7467600" cy="4728865"/>
          </a:xfrm>
        </p:grpSpPr>
        <p:sp>
          <p:nvSpPr>
            <p:cNvPr id="256" name="Google Shape;256;p27"/>
            <p:cNvSpPr txBox="1"/>
            <p:nvPr/>
          </p:nvSpPr>
          <p:spPr>
            <a:xfrm>
              <a:off x="5943600" y="1828800"/>
              <a:ext cx="2438400" cy="461934"/>
            </a:xfrm>
            <a:prstGeom prst="rect">
              <a:avLst/>
            </a:prstGeom>
            <a:solidFill>
              <a:srgbClr val="003300"/>
            </a:solidFill>
            <a:ln cap="flat" cmpd="sng" w="25400">
              <a:solidFill>
                <a:srgbClr val="66FF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Neighbour of R1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27"/>
            <p:cNvSpPr txBox="1"/>
            <p:nvPr/>
          </p:nvSpPr>
          <p:spPr>
            <a:xfrm>
              <a:off x="914400" y="6095731"/>
              <a:ext cx="2438400" cy="461934"/>
            </a:xfrm>
            <a:prstGeom prst="rect">
              <a:avLst/>
            </a:prstGeom>
            <a:solidFill>
              <a:srgbClr val="003300"/>
            </a:solidFill>
            <a:ln cap="flat" cmpd="sng" w="25400">
              <a:solidFill>
                <a:srgbClr val="66FF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Neighbour of R1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8" name="Google Shape;258;p27"/>
          <p:cNvGrpSpPr/>
          <p:nvPr/>
        </p:nvGrpSpPr>
        <p:grpSpPr>
          <a:xfrm>
            <a:off x="4343400" y="3200400"/>
            <a:ext cx="4191000" cy="2743200"/>
            <a:chOff x="2819400" y="3200400"/>
            <a:chExt cx="4191000" cy="2743200"/>
          </a:xfrm>
        </p:grpSpPr>
        <p:sp>
          <p:nvSpPr>
            <p:cNvPr id="259" name="Google Shape;259;p27"/>
            <p:cNvSpPr/>
            <p:nvPr/>
          </p:nvSpPr>
          <p:spPr>
            <a:xfrm rot="-5400000">
              <a:off x="4419600" y="3962400"/>
              <a:ext cx="381000" cy="3581400"/>
            </a:xfrm>
            <a:prstGeom prst="rect">
              <a:avLst/>
            </a:prstGeom>
            <a:solidFill>
              <a:srgbClr val="99CCFF">
                <a:alpha val="4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27"/>
            <p:cNvSpPr/>
            <p:nvPr/>
          </p:nvSpPr>
          <p:spPr>
            <a:xfrm>
              <a:off x="6705600" y="3200400"/>
              <a:ext cx="304800" cy="2057400"/>
            </a:xfrm>
            <a:prstGeom prst="rect">
              <a:avLst/>
            </a:prstGeom>
            <a:solidFill>
              <a:srgbClr val="99CCFF">
                <a:alpha val="4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27"/>
            <p:cNvSpPr txBox="1"/>
            <p:nvPr/>
          </p:nvSpPr>
          <p:spPr>
            <a:xfrm>
              <a:off x="3505200" y="3733800"/>
              <a:ext cx="2971800" cy="830263"/>
            </a:xfrm>
            <a:prstGeom prst="rect">
              <a:avLst/>
            </a:prstGeom>
            <a:solidFill>
              <a:srgbClr val="531A88"/>
            </a:solidFill>
            <a:ln cap="flat" cmpd="sng" w="25400">
              <a:solidFill>
                <a:srgbClr val="99CC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R1 is unaware of R3 and its networks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2" name="Google Shape;262;p27"/>
          <p:cNvGrpSpPr/>
          <p:nvPr/>
        </p:nvGrpSpPr>
        <p:grpSpPr>
          <a:xfrm>
            <a:off x="1423987" y="2755899"/>
            <a:ext cx="4343400" cy="2055813"/>
            <a:chOff x="152400" y="2590800"/>
            <a:chExt cx="4343400" cy="2056606"/>
          </a:xfrm>
        </p:grpSpPr>
        <p:cxnSp>
          <p:nvCxnSpPr>
            <p:cNvPr id="263" name="Google Shape;263;p27"/>
            <p:cNvCxnSpPr/>
            <p:nvPr/>
          </p:nvCxnSpPr>
          <p:spPr>
            <a:xfrm>
              <a:off x="2819400" y="3124200"/>
              <a:ext cx="1676400" cy="1588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64" name="Google Shape;264;p27"/>
            <p:cNvCxnSpPr/>
            <p:nvPr/>
          </p:nvCxnSpPr>
          <p:spPr>
            <a:xfrm rot="5400000">
              <a:off x="1981994" y="3961606"/>
              <a:ext cx="1370806" cy="794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65" name="Google Shape;265;p27"/>
            <p:cNvSpPr txBox="1"/>
            <p:nvPr/>
          </p:nvSpPr>
          <p:spPr>
            <a:xfrm>
              <a:off x="152400" y="2971947"/>
              <a:ext cx="1828800" cy="1200613"/>
            </a:xfrm>
            <a:prstGeom prst="rect">
              <a:avLst/>
            </a:prstGeom>
            <a:solidFill>
              <a:srgbClr val="800000"/>
            </a:solidFill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Updates sent.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Broadcast!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dv05.jpg" id="266" name="Google Shape;266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505200" y="2590800"/>
              <a:ext cx="685800" cy="4331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dv05.jpg" id="267" name="Google Shape;267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828800" y="3505200"/>
              <a:ext cx="685800" cy="43313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8" name="Google Shape;268;p2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8"/>
          <p:cNvSpPr txBox="1"/>
          <p:nvPr>
            <p:ph idx="4294967295" type="title"/>
          </p:nvPr>
        </p:nvSpPr>
        <p:spPr>
          <a:xfrm>
            <a:off x="1484311" y="685800"/>
            <a:ext cx="10018713" cy="10611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Distance Vector Routing Protocols</a:t>
            </a:r>
            <a:endParaRPr/>
          </a:p>
        </p:txBody>
      </p:sp>
      <p:sp>
        <p:nvSpPr>
          <p:cNvPr id="274" name="Google Shape;274;p28"/>
          <p:cNvSpPr/>
          <p:nvPr/>
        </p:nvSpPr>
        <p:spPr>
          <a:xfrm>
            <a:off x="2438400" y="1447800"/>
            <a:ext cx="74676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Network Discovery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v10.jpg" id="275" name="Google Shape;27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0" y="2971800"/>
            <a:ext cx="7880350" cy="3060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9"/>
          <p:cNvSpPr txBox="1"/>
          <p:nvPr>
            <p:ph idx="4294967295"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Cold Start</a:t>
            </a:r>
            <a:endParaRPr/>
          </a:p>
        </p:txBody>
      </p:sp>
      <p:sp>
        <p:nvSpPr>
          <p:cNvPr id="282" name="Google Shape;282;p29"/>
          <p:cNvSpPr txBox="1"/>
          <p:nvPr>
            <p:ph idx="4294967295" type="body"/>
          </p:nvPr>
        </p:nvSpPr>
        <p:spPr>
          <a:xfrm>
            <a:off x="1676400" y="3048000"/>
            <a:ext cx="8839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US" sz="2800">
                <a:solidFill>
                  <a:srgbClr val="7D28CD"/>
                </a:solidFill>
              </a:rPr>
              <a:t>Network Discovery:</a:t>
            </a:r>
            <a:endParaRPr b="1" sz="2800">
              <a:solidFill>
                <a:srgbClr val="7D28CD"/>
              </a:solidFill>
            </a:endParaRPr>
          </a:p>
          <a:p>
            <a:pPr indent="-288925" lvl="1" marL="855663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Is part of the process of the routing protocol algorithm that enables routers to </a:t>
            </a:r>
            <a:r>
              <a:rPr lang="en-US" sz="2800">
                <a:solidFill>
                  <a:srgbClr val="1186C3"/>
                </a:solidFill>
              </a:rPr>
              <a:t>learn about remote networks for the first time.</a:t>
            </a:r>
            <a:endParaRPr>
              <a:solidFill>
                <a:srgbClr val="1186C3"/>
              </a:solidFill>
            </a:endParaRPr>
          </a:p>
        </p:txBody>
      </p:sp>
      <p:pic>
        <p:nvPicPr>
          <p:cNvPr descr="dv11.jpg" id="283" name="Google Shape;28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1295400"/>
            <a:ext cx="8839200" cy="165735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v10.jpg" id="289" name="Google Shape;28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1295401"/>
            <a:ext cx="8839200" cy="3432175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0"/>
          <p:cNvSpPr txBox="1"/>
          <p:nvPr>
            <p:ph idx="4294967295" type="title"/>
          </p:nvPr>
        </p:nvSpPr>
        <p:spPr>
          <a:xfrm>
            <a:off x="1543843" y="381001"/>
            <a:ext cx="10018713" cy="458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Cold Start</a:t>
            </a:r>
            <a:endParaRPr/>
          </a:p>
        </p:txBody>
      </p:sp>
      <p:sp>
        <p:nvSpPr>
          <p:cNvPr id="291" name="Google Shape;291;p30"/>
          <p:cNvSpPr txBox="1"/>
          <p:nvPr>
            <p:ph idx="4294967295" type="body"/>
          </p:nvPr>
        </p:nvSpPr>
        <p:spPr>
          <a:xfrm>
            <a:off x="1676400" y="4800600"/>
            <a:ext cx="9275456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63636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  <a:p>
            <a:pPr indent="-238474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000"/>
              <a:buChar char="•"/>
            </a:pPr>
            <a:r>
              <a:rPr b="1" lang="en-US" sz="2800">
                <a:solidFill>
                  <a:srgbClr val="7D28CD"/>
                </a:solidFill>
              </a:rPr>
              <a:t>When a router powers up: </a:t>
            </a:r>
            <a:endParaRPr b="1" sz="2800">
              <a:solidFill>
                <a:srgbClr val="7D28CD"/>
              </a:solidFill>
            </a:endParaRPr>
          </a:p>
          <a:p>
            <a:pPr indent="-221440" lvl="1" marL="855663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45000"/>
              <a:buChar char="•"/>
            </a:pPr>
            <a:r>
              <a:rPr lang="en-US" sz="2600"/>
              <a:t>Knows nothing about the network topology.</a:t>
            </a:r>
            <a:endParaRPr sz="2600"/>
          </a:p>
          <a:p>
            <a:pPr indent="-221440" lvl="1" marL="855663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45000"/>
              <a:buChar char="•"/>
            </a:pPr>
            <a:r>
              <a:rPr lang="en-US" sz="2600"/>
              <a:t>Knows only the information saved in NVRAM.</a:t>
            </a:r>
            <a:endParaRPr sz="2600"/>
          </a:p>
          <a:p>
            <a:pPr indent="-221440" lvl="1" marL="855663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45000"/>
              <a:buChar char="•"/>
            </a:pPr>
            <a:r>
              <a:rPr lang="en-US" sz="2600"/>
              <a:t>Sends updates about its known networks out all ports. </a:t>
            </a:r>
            <a:endParaRPr sz="2600"/>
          </a:p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ct val="145000"/>
              <a:buNone/>
            </a:pPr>
            <a:r>
              <a:t/>
            </a:r>
            <a:endParaRPr/>
          </a:p>
        </p:txBody>
      </p:sp>
      <p:grpSp>
        <p:nvGrpSpPr>
          <p:cNvPr id="292" name="Google Shape;292;p30"/>
          <p:cNvGrpSpPr/>
          <p:nvPr/>
        </p:nvGrpSpPr>
        <p:grpSpPr>
          <a:xfrm>
            <a:off x="2057400" y="3505200"/>
            <a:ext cx="2438400" cy="182880"/>
            <a:chOff x="533400" y="3505200"/>
            <a:chExt cx="2438400" cy="182880"/>
          </a:xfrm>
        </p:grpSpPr>
        <p:sp>
          <p:nvSpPr>
            <p:cNvPr id="293" name="Google Shape;293;p30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30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30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6" name="Google Shape;296;p30"/>
          <p:cNvGrpSpPr/>
          <p:nvPr/>
        </p:nvGrpSpPr>
        <p:grpSpPr>
          <a:xfrm>
            <a:off x="2057400" y="3733800"/>
            <a:ext cx="2438400" cy="210312"/>
            <a:chOff x="533400" y="3505200"/>
            <a:chExt cx="2438400" cy="182880"/>
          </a:xfrm>
        </p:grpSpPr>
        <p:sp>
          <p:nvSpPr>
            <p:cNvPr id="297" name="Google Shape;297;p30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30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30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0" name="Google Shape;300;p30"/>
          <p:cNvGrpSpPr/>
          <p:nvPr/>
        </p:nvGrpSpPr>
        <p:grpSpPr>
          <a:xfrm>
            <a:off x="2057400" y="4038600"/>
            <a:ext cx="2438400" cy="182880"/>
            <a:chOff x="533400" y="3505200"/>
            <a:chExt cx="2438400" cy="182880"/>
          </a:xfrm>
        </p:grpSpPr>
        <p:sp>
          <p:nvSpPr>
            <p:cNvPr id="301" name="Google Shape;301;p30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30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30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4" name="Google Shape;304;p30"/>
          <p:cNvGrpSpPr/>
          <p:nvPr/>
        </p:nvGrpSpPr>
        <p:grpSpPr>
          <a:xfrm>
            <a:off x="2057400" y="4343400"/>
            <a:ext cx="2438400" cy="152400"/>
            <a:chOff x="533400" y="4267200"/>
            <a:chExt cx="2438400" cy="152400"/>
          </a:xfrm>
        </p:grpSpPr>
        <p:sp>
          <p:nvSpPr>
            <p:cNvPr id="305" name="Google Shape;305;p30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30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30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4876800" y="3505200"/>
            <a:ext cx="2438400" cy="182880"/>
            <a:chOff x="533400" y="3505200"/>
            <a:chExt cx="2438400" cy="182880"/>
          </a:xfrm>
        </p:grpSpPr>
        <p:sp>
          <p:nvSpPr>
            <p:cNvPr id="309" name="Google Shape;309;p30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30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30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2" name="Google Shape;312;p30"/>
          <p:cNvGrpSpPr/>
          <p:nvPr/>
        </p:nvGrpSpPr>
        <p:grpSpPr>
          <a:xfrm>
            <a:off x="4876800" y="3733800"/>
            <a:ext cx="2438400" cy="210312"/>
            <a:chOff x="533400" y="3505200"/>
            <a:chExt cx="2438400" cy="182880"/>
          </a:xfrm>
        </p:grpSpPr>
        <p:sp>
          <p:nvSpPr>
            <p:cNvPr id="313" name="Google Shape;313;p30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30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30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6" name="Google Shape;316;p30"/>
          <p:cNvGrpSpPr/>
          <p:nvPr/>
        </p:nvGrpSpPr>
        <p:grpSpPr>
          <a:xfrm>
            <a:off x="4876800" y="4038600"/>
            <a:ext cx="2438400" cy="182880"/>
            <a:chOff x="533400" y="3505200"/>
            <a:chExt cx="2438400" cy="182880"/>
          </a:xfrm>
        </p:grpSpPr>
        <p:sp>
          <p:nvSpPr>
            <p:cNvPr id="317" name="Google Shape;317;p30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30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30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0" name="Google Shape;320;p30"/>
          <p:cNvGrpSpPr/>
          <p:nvPr/>
        </p:nvGrpSpPr>
        <p:grpSpPr>
          <a:xfrm>
            <a:off x="4876800" y="4343400"/>
            <a:ext cx="2438400" cy="152400"/>
            <a:chOff x="533400" y="4267200"/>
            <a:chExt cx="2438400" cy="152400"/>
          </a:xfrm>
        </p:grpSpPr>
        <p:sp>
          <p:nvSpPr>
            <p:cNvPr id="321" name="Google Shape;321;p30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30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30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4" name="Google Shape;324;p30"/>
          <p:cNvGrpSpPr/>
          <p:nvPr/>
        </p:nvGrpSpPr>
        <p:grpSpPr>
          <a:xfrm>
            <a:off x="7772400" y="3505200"/>
            <a:ext cx="2438400" cy="182880"/>
            <a:chOff x="533400" y="3505200"/>
            <a:chExt cx="2438400" cy="182880"/>
          </a:xfrm>
        </p:grpSpPr>
        <p:sp>
          <p:nvSpPr>
            <p:cNvPr id="325" name="Google Shape;325;p30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30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30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8" name="Google Shape;328;p30"/>
          <p:cNvGrpSpPr/>
          <p:nvPr/>
        </p:nvGrpSpPr>
        <p:grpSpPr>
          <a:xfrm>
            <a:off x="7772400" y="3733800"/>
            <a:ext cx="2438400" cy="210312"/>
            <a:chOff x="533400" y="3505200"/>
            <a:chExt cx="2438400" cy="182880"/>
          </a:xfrm>
        </p:grpSpPr>
        <p:sp>
          <p:nvSpPr>
            <p:cNvPr id="329" name="Google Shape;329;p30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30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30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2" name="Google Shape;332;p30"/>
          <p:cNvGrpSpPr/>
          <p:nvPr/>
        </p:nvGrpSpPr>
        <p:grpSpPr>
          <a:xfrm>
            <a:off x="7772400" y="4038600"/>
            <a:ext cx="2438400" cy="182880"/>
            <a:chOff x="533400" y="3505200"/>
            <a:chExt cx="2438400" cy="182880"/>
          </a:xfrm>
        </p:grpSpPr>
        <p:sp>
          <p:nvSpPr>
            <p:cNvPr id="333" name="Google Shape;333;p30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30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30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6" name="Google Shape;336;p30"/>
          <p:cNvGrpSpPr/>
          <p:nvPr/>
        </p:nvGrpSpPr>
        <p:grpSpPr>
          <a:xfrm>
            <a:off x="7772400" y="4343400"/>
            <a:ext cx="2438400" cy="152400"/>
            <a:chOff x="533400" y="4267200"/>
            <a:chExt cx="2438400" cy="152400"/>
          </a:xfrm>
        </p:grpSpPr>
        <p:sp>
          <p:nvSpPr>
            <p:cNvPr id="337" name="Google Shape;337;p30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30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30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0" name="Google Shape;340;p30"/>
          <p:cNvGrpSpPr/>
          <p:nvPr/>
        </p:nvGrpSpPr>
        <p:grpSpPr>
          <a:xfrm>
            <a:off x="1981200" y="1981200"/>
            <a:ext cx="8229600" cy="838200"/>
            <a:chOff x="457200" y="1981200"/>
            <a:chExt cx="8229600" cy="838200"/>
          </a:xfrm>
        </p:grpSpPr>
        <p:sp>
          <p:nvSpPr>
            <p:cNvPr id="341" name="Google Shape;341;p30"/>
            <p:cNvSpPr/>
            <p:nvPr/>
          </p:nvSpPr>
          <p:spPr>
            <a:xfrm>
              <a:off x="914400" y="1981200"/>
              <a:ext cx="1066800" cy="838200"/>
            </a:xfrm>
            <a:prstGeom prst="ellipse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42" name="Google Shape;342;p30"/>
            <p:cNvCxnSpPr/>
            <p:nvPr/>
          </p:nvCxnSpPr>
          <p:spPr>
            <a:xfrm>
              <a:off x="1981200" y="2057400"/>
              <a:ext cx="990600" cy="1588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43" name="Google Shape;343;p30"/>
            <p:cNvCxnSpPr/>
            <p:nvPr/>
          </p:nvCxnSpPr>
          <p:spPr>
            <a:xfrm rot="10800000">
              <a:off x="457200" y="2057400"/>
              <a:ext cx="457200" cy="1588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344" name="Google Shape;344;p30"/>
            <p:cNvSpPr/>
            <p:nvPr/>
          </p:nvSpPr>
          <p:spPr>
            <a:xfrm>
              <a:off x="4038600" y="1981200"/>
              <a:ext cx="990600" cy="838200"/>
            </a:xfrm>
            <a:prstGeom prst="ellipse">
              <a:avLst/>
            </a:prstGeom>
            <a:noFill/>
            <a:ln cap="flat" cmpd="sng" w="38100">
              <a:solidFill>
                <a:srgbClr val="531A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45" name="Google Shape;345;p30"/>
            <p:cNvCxnSpPr/>
            <p:nvPr/>
          </p:nvCxnSpPr>
          <p:spPr>
            <a:xfrm>
              <a:off x="5105400" y="2743200"/>
              <a:ext cx="990600" cy="1588"/>
            </a:xfrm>
            <a:prstGeom prst="straightConnector1">
              <a:avLst/>
            </a:prstGeom>
            <a:noFill/>
            <a:ln cap="flat" cmpd="sng" w="50800">
              <a:solidFill>
                <a:srgbClr val="531A88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46" name="Google Shape;346;p30"/>
            <p:cNvCxnSpPr/>
            <p:nvPr/>
          </p:nvCxnSpPr>
          <p:spPr>
            <a:xfrm rot="10800000">
              <a:off x="2819400" y="2743200"/>
              <a:ext cx="1066800" cy="1588"/>
            </a:xfrm>
            <a:prstGeom prst="straightConnector1">
              <a:avLst/>
            </a:prstGeom>
            <a:noFill/>
            <a:ln cap="flat" cmpd="sng" w="50800">
              <a:solidFill>
                <a:srgbClr val="531A88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347" name="Google Shape;347;p30"/>
            <p:cNvSpPr/>
            <p:nvPr/>
          </p:nvSpPr>
          <p:spPr>
            <a:xfrm>
              <a:off x="7162800" y="1981200"/>
              <a:ext cx="990600" cy="838200"/>
            </a:xfrm>
            <a:prstGeom prst="ellipse">
              <a:avLst/>
            </a:prstGeom>
            <a:noFill/>
            <a:ln cap="flat" cmpd="sng" w="381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48" name="Google Shape;348;p30"/>
            <p:cNvCxnSpPr/>
            <p:nvPr/>
          </p:nvCxnSpPr>
          <p:spPr>
            <a:xfrm>
              <a:off x="8305800" y="2057400"/>
              <a:ext cx="381000" cy="1588"/>
            </a:xfrm>
            <a:prstGeom prst="straightConnector1">
              <a:avLst/>
            </a:prstGeom>
            <a:noFill/>
            <a:ln cap="flat" cmpd="sng" w="50800">
              <a:solidFill>
                <a:srgbClr val="008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49" name="Google Shape;349;p30"/>
            <p:cNvCxnSpPr/>
            <p:nvPr/>
          </p:nvCxnSpPr>
          <p:spPr>
            <a:xfrm rot="10800000">
              <a:off x="6019800" y="2057400"/>
              <a:ext cx="1143000" cy="1588"/>
            </a:xfrm>
            <a:prstGeom prst="straightConnector1">
              <a:avLst/>
            </a:prstGeom>
            <a:noFill/>
            <a:ln cap="flat" cmpd="sng" w="50800">
              <a:solidFill>
                <a:srgbClr val="008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350" name="Google Shape;350;p3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v10.jpg" id="355" name="Google Shape;35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1295401"/>
            <a:ext cx="8839200" cy="3432175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 txBox="1"/>
          <p:nvPr>
            <p:ph idx="4294967295" type="title"/>
          </p:nvPr>
        </p:nvSpPr>
        <p:spPr>
          <a:xfrm>
            <a:off x="1594513" y="457200"/>
            <a:ext cx="10018713" cy="4876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Initial Exchange of Routing Information</a:t>
            </a:r>
            <a:endParaRPr/>
          </a:p>
        </p:txBody>
      </p:sp>
      <p:grpSp>
        <p:nvGrpSpPr>
          <p:cNvPr id="357" name="Google Shape;357;p31"/>
          <p:cNvGrpSpPr/>
          <p:nvPr/>
        </p:nvGrpSpPr>
        <p:grpSpPr>
          <a:xfrm>
            <a:off x="2057400" y="4038600"/>
            <a:ext cx="2438400" cy="182880"/>
            <a:chOff x="533400" y="3505200"/>
            <a:chExt cx="2438400" cy="182880"/>
          </a:xfrm>
        </p:grpSpPr>
        <p:sp>
          <p:nvSpPr>
            <p:cNvPr id="358" name="Google Shape;358;p31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31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31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1" name="Google Shape;361;p31"/>
          <p:cNvGrpSpPr/>
          <p:nvPr/>
        </p:nvGrpSpPr>
        <p:grpSpPr>
          <a:xfrm>
            <a:off x="2057400" y="4343400"/>
            <a:ext cx="2438400" cy="152400"/>
            <a:chOff x="533400" y="4267200"/>
            <a:chExt cx="2438400" cy="152400"/>
          </a:xfrm>
        </p:grpSpPr>
        <p:sp>
          <p:nvSpPr>
            <p:cNvPr id="362" name="Google Shape;362;p31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31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31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5" name="Google Shape;365;p31"/>
          <p:cNvGrpSpPr/>
          <p:nvPr/>
        </p:nvGrpSpPr>
        <p:grpSpPr>
          <a:xfrm>
            <a:off x="4876800" y="4038600"/>
            <a:ext cx="2438400" cy="182880"/>
            <a:chOff x="533400" y="3505200"/>
            <a:chExt cx="2438400" cy="182880"/>
          </a:xfrm>
        </p:grpSpPr>
        <p:sp>
          <p:nvSpPr>
            <p:cNvPr id="366" name="Google Shape;366;p31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31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31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9" name="Google Shape;369;p31"/>
          <p:cNvGrpSpPr/>
          <p:nvPr/>
        </p:nvGrpSpPr>
        <p:grpSpPr>
          <a:xfrm>
            <a:off x="4876800" y="4343400"/>
            <a:ext cx="2438400" cy="152400"/>
            <a:chOff x="533400" y="4267200"/>
            <a:chExt cx="2438400" cy="152400"/>
          </a:xfrm>
        </p:grpSpPr>
        <p:sp>
          <p:nvSpPr>
            <p:cNvPr id="370" name="Google Shape;370;p31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31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31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3" name="Google Shape;373;p31"/>
          <p:cNvGrpSpPr/>
          <p:nvPr/>
        </p:nvGrpSpPr>
        <p:grpSpPr>
          <a:xfrm>
            <a:off x="7772400" y="4038600"/>
            <a:ext cx="2438400" cy="182880"/>
            <a:chOff x="533400" y="3505200"/>
            <a:chExt cx="2438400" cy="182880"/>
          </a:xfrm>
        </p:grpSpPr>
        <p:sp>
          <p:nvSpPr>
            <p:cNvPr id="374" name="Google Shape;374;p31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31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31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7" name="Google Shape;377;p31"/>
          <p:cNvGrpSpPr/>
          <p:nvPr/>
        </p:nvGrpSpPr>
        <p:grpSpPr>
          <a:xfrm>
            <a:off x="7772400" y="4343400"/>
            <a:ext cx="2438400" cy="152400"/>
            <a:chOff x="533400" y="4267200"/>
            <a:chExt cx="2438400" cy="152400"/>
          </a:xfrm>
        </p:grpSpPr>
        <p:sp>
          <p:nvSpPr>
            <p:cNvPr id="378" name="Google Shape;378;p31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31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31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1" name="Google Shape;381;p31"/>
          <p:cNvSpPr/>
          <p:nvPr/>
        </p:nvSpPr>
        <p:spPr>
          <a:xfrm>
            <a:off x="2362200" y="1981200"/>
            <a:ext cx="1219200" cy="8382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2" name="Google Shape;382;p31"/>
          <p:cNvCxnSpPr/>
          <p:nvPr/>
        </p:nvCxnSpPr>
        <p:spPr>
          <a:xfrm rot="10800000">
            <a:off x="1981200" y="2057400"/>
            <a:ext cx="381000" cy="1588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383" name="Google Shape;383;p31"/>
          <p:cNvGrpSpPr/>
          <p:nvPr/>
        </p:nvGrpSpPr>
        <p:grpSpPr>
          <a:xfrm>
            <a:off x="3581400" y="1981201"/>
            <a:ext cx="1524000" cy="307777"/>
            <a:chOff x="2057400" y="1981201"/>
            <a:chExt cx="1219200" cy="307777"/>
          </a:xfrm>
        </p:grpSpPr>
        <p:cxnSp>
          <p:nvCxnSpPr>
            <p:cNvPr id="384" name="Google Shape;384;p31"/>
            <p:cNvCxnSpPr/>
            <p:nvPr/>
          </p:nvCxnSpPr>
          <p:spPr>
            <a:xfrm>
              <a:off x="2057400" y="2133600"/>
              <a:ext cx="1219200" cy="1588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385" name="Google Shape;385;p31"/>
            <p:cNvSpPr txBox="1"/>
            <p:nvPr/>
          </p:nvSpPr>
          <p:spPr>
            <a:xfrm>
              <a:off x="2209800" y="1981201"/>
              <a:ext cx="838200" cy="307777"/>
            </a:xfrm>
            <a:prstGeom prst="rect">
              <a:avLst/>
            </a:prstGeom>
            <a:solidFill>
              <a:srgbClr val="800000"/>
            </a:solidFill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10.1.0.0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6" name="Google Shape;386;p3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2"/>
          <p:cNvSpPr txBox="1"/>
          <p:nvPr>
            <p:ph idx="4294967295" type="title"/>
          </p:nvPr>
        </p:nvSpPr>
        <p:spPr>
          <a:xfrm>
            <a:off x="1484311" y="685801"/>
            <a:ext cx="10018713" cy="1046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Initial Exchange of Routing Information</a:t>
            </a:r>
            <a:endParaRPr/>
          </a:p>
        </p:txBody>
      </p:sp>
      <p:grpSp>
        <p:nvGrpSpPr>
          <p:cNvPr id="392" name="Google Shape;392;p32"/>
          <p:cNvGrpSpPr/>
          <p:nvPr/>
        </p:nvGrpSpPr>
        <p:grpSpPr>
          <a:xfrm>
            <a:off x="1687513" y="1974851"/>
            <a:ext cx="8839200" cy="3432175"/>
            <a:chOff x="96" y="823"/>
            <a:chExt cx="5568" cy="2162"/>
          </a:xfrm>
        </p:grpSpPr>
        <p:pic>
          <p:nvPicPr>
            <p:cNvPr descr="dv10.jpg" id="393" name="Google Shape;393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6" y="823"/>
              <a:ext cx="5568" cy="216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94" name="Google Shape;394;p32"/>
            <p:cNvGrpSpPr/>
            <p:nvPr/>
          </p:nvGrpSpPr>
          <p:grpSpPr>
            <a:xfrm>
              <a:off x="336" y="2736"/>
              <a:ext cx="1536" cy="96"/>
              <a:chOff x="533400" y="4267200"/>
              <a:chExt cx="2438400" cy="152400"/>
            </a:xfrm>
          </p:grpSpPr>
          <p:sp>
            <p:nvSpPr>
              <p:cNvPr id="395" name="Google Shape;395;p32"/>
              <p:cNvSpPr/>
              <p:nvPr/>
            </p:nvSpPr>
            <p:spPr>
              <a:xfrm>
                <a:off x="533400" y="4267200"/>
                <a:ext cx="685800" cy="152400"/>
              </a:xfrm>
              <a:prstGeom prst="rect">
                <a:avLst/>
              </a:prstGeom>
              <a:solidFill>
                <a:schemeClr val="lt1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" name="Google Shape;396;p32"/>
              <p:cNvSpPr/>
              <p:nvPr/>
            </p:nvSpPr>
            <p:spPr>
              <a:xfrm>
                <a:off x="1600200" y="4267200"/>
                <a:ext cx="685800" cy="152400"/>
              </a:xfrm>
              <a:prstGeom prst="rect">
                <a:avLst/>
              </a:prstGeom>
              <a:solidFill>
                <a:schemeClr val="lt1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7" name="Google Shape;397;p32"/>
              <p:cNvSpPr/>
              <p:nvPr/>
            </p:nvSpPr>
            <p:spPr>
              <a:xfrm>
                <a:off x="2590800" y="4267200"/>
                <a:ext cx="381000" cy="152400"/>
              </a:xfrm>
              <a:prstGeom prst="rect">
                <a:avLst/>
              </a:prstGeom>
              <a:solidFill>
                <a:schemeClr val="lt1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8" name="Google Shape;398;p32"/>
            <p:cNvGrpSpPr/>
            <p:nvPr/>
          </p:nvGrpSpPr>
          <p:grpSpPr>
            <a:xfrm>
              <a:off x="2112" y="2544"/>
              <a:ext cx="1536" cy="115"/>
              <a:chOff x="533400" y="3505200"/>
              <a:chExt cx="2438400" cy="182880"/>
            </a:xfrm>
          </p:grpSpPr>
          <p:sp>
            <p:nvSpPr>
              <p:cNvPr id="399" name="Google Shape;399;p32"/>
              <p:cNvSpPr/>
              <p:nvPr/>
            </p:nvSpPr>
            <p:spPr>
              <a:xfrm>
                <a:off x="533400" y="3505200"/>
                <a:ext cx="685800" cy="182880"/>
              </a:xfrm>
              <a:prstGeom prst="rect">
                <a:avLst/>
              </a:prstGeom>
              <a:solidFill>
                <a:schemeClr val="lt1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0" name="Google Shape;400;p32"/>
              <p:cNvSpPr/>
              <p:nvPr/>
            </p:nvSpPr>
            <p:spPr>
              <a:xfrm>
                <a:off x="1600200" y="3505200"/>
                <a:ext cx="685800" cy="182880"/>
              </a:xfrm>
              <a:prstGeom prst="rect">
                <a:avLst/>
              </a:prstGeom>
              <a:solidFill>
                <a:schemeClr val="lt1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1" name="Google Shape;401;p32"/>
              <p:cNvSpPr/>
              <p:nvPr/>
            </p:nvSpPr>
            <p:spPr>
              <a:xfrm>
                <a:off x="2590800" y="3505200"/>
                <a:ext cx="381000" cy="182880"/>
              </a:xfrm>
              <a:prstGeom prst="rect">
                <a:avLst/>
              </a:prstGeom>
              <a:solidFill>
                <a:schemeClr val="lt1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2" name="Google Shape;402;p32"/>
            <p:cNvGrpSpPr/>
            <p:nvPr/>
          </p:nvGrpSpPr>
          <p:grpSpPr>
            <a:xfrm>
              <a:off x="2112" y="2736"/>
              <a:ext cx="1536" cy="96"/>
              <a:chOff x="533400" y="4267200"/>
              <a:chExt cx="2438400" cy="152400"/>
            </a:xfrm>
          </p:grpSpPr>
          <p:sp>
            <p:nvSpPr>
              <p:cNvPr id="403" name="Google Shape;403;p32"/>
              <p:cNvSpPr/>
              <p:nvPr/>
            </p:nvSpPr>
            <p:spPr>
              <a:xfrm>
                <a:off x="533400" y="4267200"/>
                <a:ext cx="685800" cy="152400"/>
              </a:xfrm>
              <a:prstGeom prst="rect">
                <a:avLst/>
              </a:prstGeom>
              <a:solidFill>
                <a:schemeClr val="lt1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4" name="Google Shape;404;p32"/>
              <p:cNvSpPr/>
              <p:nvPr/>
            </p:nvSpPr>
            <p:spPr>
              <a:xfrm>
                <a:off x="1600200" y="4267200"/>
                <a:ext cx="685800" cy="152400"/>
              </a:xfrm>
              <a:prstGeom prst="rect">
                <a:avLst/>
              </a:prstGeom>
              <a:solidFill>
                <a:schemeClr val="lt1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5" name="Google Shape;405;p32"/>
              <p:cNvSpPr/>
              <p:nvPr/>
            </p:nvSpPr>
            <p:spPr>
              <a:xfrm>
                <a:off x="2590800" y="4267200"/>
                <a:ext cx="381000" cy="152400"/>
              </a:xfrm>
              <a:prstGeom prst="rect">
                <a:avLst/>
              </a:prstGeom>
              <a:solidFill>
                <a:schemeClr val="lt1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6" name="Google Shape;406;p32"/>
            <p:cNvGrpSpPr/>
            <p:nvPr/>
          </p:nvGrpSpPr>
          <p:grpSpPr>
            <a:xfrm>
              <a:off x="3936" y="2544"/>
              <a:ext cx="1536" cy="115"/>
              <a:chOff x="533400" y="3505200"/>
              <a:chExt cx="2438400" cy="182880"/>
            </a:xfrm>
          </p:grpSpPr>
          <p:sp>
            <p:nvSpPr>
              <p:cNvPr id="407" name="Google Shape;407;p32"/>
              <p:cNvSpPr/>
              <p:nvPr/>
            </p:nvSpPr>
            <p:spPr>
              <a:xfrm>
                <a:off x="533400" y="3505200"/>
                <a:ext cx="685800" cy="182880"/>
              </a:xfrm>
              <a:prstGeom prst="rect">
                <a:avLst/>
              </a:prstGeom>
              <a:solidFill>
                <a:schemeClr val="lt1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8" name="Google Shape;408;p32"/>
              <p:cNvSpPr/>
              <p:nvPr/>
            </p:nvSpPr>
            <p:spPr>
              <a:xfrm>
                <a:off x="1600200" y="3505200"/>
                <a:ext cx="685800" cy="182880"/>
              </a:xfrm>
              <a:prstGeom prst="rect">
                <a:avLst/>
              </a:prstGeom>
              <a:solidFill>
                <a:schemeClr val="lt1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9" name="Google Shape;409;p32"/>
              <p:cNvSpPr/>
              <p:nvPr/>
            </p:nvSpPr>
            <p:spPr>
              <a:xfrm>
                <a:off x="2590800" y="3505200"/>
                <a:ext cx="381000" cy="182880"/>
              </a:xfrm>
              <a:prstGeom prst="rect">
                <a:avLst/>
              </a:prstGeom>
              <a:solidFill>
                <a:schemeClr val="lt1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0" name="Google Shape;410;p32"/>
            <p:cNvGrpSpPr/>
            <p:nvPr/>
          </p:nvGrpSpPr>
          <p:grpSpPr>
            <a:xfrm>
              <a:off x="3936" y="2736"/>
              <a:ext cx="1536" cy="96"/>
              <a:chOff x="533400" y="4267200"/>
              <a:chExt cx="2438400" cy="152400"/>
            </a:xfrm>
          </p:grpSpPr>
          <p:sp>
            <p:nvSpPr>
              <p:cNvPr id="411" name="Google Shape;411;p32"/>
              <p:cNvSpPr/>
              <p:nvPr/>
            </p:nvSpPr>
            <p:spPr>
              <a:xfrm>
                <a:off x="533400" y="4267200"/>
                <a:ext cx="685800" cy="152400"/>
              </a:xfrm>
              <a:prstGeom prst="rect">
                <a:avLst/>
              </a:prstGeom>
              <a:solidFill>
                <a:schemeClr val="lt1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2" name="Google Shape;412;p32"/>
              <p:cNvSpPr/>
              <p:nvPr/>
            </p:nvSpPr>
            <p:spPr>
              <a:xfrm>
                <a:off x="1600200" y="4267200"/>
                <a:ext cx="685800" cy="152400"/>
              </a:xfrm>
              <a:prstGeom prst="rect">
                <a:avLst/>
              </a:prstGeom>
              <a:solidFill>
                <a:schemeClr val="lt1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3" name="Google Shape;413;p32"/>
              <p:cNvSpPr/>
              <p:nvPr/>
            </p:nvSpPr>
            <p:spPr>
              <a:xfrm>
                <a:off x="2590800" y="4267200"/>
                <a:ext cx="381000" cy="152400"/>
              </a:xfrm>
              <a:prstGeom prst="rect">
                <a:avLst/>
              </a:prstGeom>
              <a:solidFill>
                <a:schemeClr val="lt1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4" name="Google Shape;414;p32"/>
            <p:cNvSpPr/>
            <p:nvPr/>
          </p:nvSpPr>
          <p:spPr>
            <a:xfrm>
              <a:off x="2448" y="1248"/>
              <a:ext cx="816" cy="528"/>
            </a:xfrm>
            <a:prstGeom prst="ellipse">
              <a:avLst/>
            </a:prstGeom>
            <a:noFill/>
            <a:ln cap="flat" cmpd="sng" w="38100">
              <a:solidFill>
                <a:srgbClr val="531A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15" name="Google Shape;415;p32"/>
            <p:cNvGrpSpPr/>
            <p:nvPr/>
          </p:nvGrpSpPr>
          <p:grpSpPr>
            <a:xfrm>
              <a:off x="336" y="2544"/>
              <a:ext cx="1536" cy="115"/>
              <a:chOff x="533400" y="3505200"/>
              <a:chExt cx="2438400" cy="182880"/>
            </a:xfrm>
          </p:grpSpPr>
          <p:sp>
            <p:nvSpPr>
              <p:cNvPr id="416" name="Google Shape;416;p32"/>
              <p:cNvSpPr/>
              <p:nvPr/>
            </p:nvSpPr>
            <p:spPr>
              <a:xfrm>
                <a:off x="533400" y="3505200"/>
                <a:ext cx="685800" cy="182880"/>
              </a:xfrm>
              <a:prstGeom prst="rect">
                <a:avLst/>
              </a:prstGeom>
              <a:solidFill>
                <a:schemeClr val="lt1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" name="Google Shape;417;p32"/>
              <p:cNvSpPr/>
              <p:nvPr/>
            </p:nvSpPr>
            <p:spPr>
              <a:xfrm>
                <a:off x="1600200" y="3505200"/>
                <a:ext cx="685800" cy="182880"/>
              </a:xfrm>
              <a:prstGeom prst="rect">
                <a:avLst/>
              </a:prstGeom>
              <a:solidFill>
                <a:schemeClr val="lt1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8" name="Google Shape;418;p32"/>
              <p:cNvSpPr/>
              <p:nvPr/>
            </p:nvSpPr>
            <p:spPr>
              <a:xfrm>
                <a:off x="2590800" y="3505200"/>
                <a:ext cx="381000" cy="182880"/>
              </a:xfrm>
              <a:prstGeom prst="rect">
                <a:avLst/>
              </a:prstGeom>
              <a:solidFill>
                <a:schemeClr val="lt1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9" name="Google Shape;419;p32"/>
            <p:cNvGrpSpPr/>
            <p:nvPr/>
          </p:nvGrpSpPr>
          <p:grpSpPr>
            <a:xfrm>
              <a:off x="1296" y="1249"/>
              <a:ext cx="912" cy="194"/>
              <a:chOff x="2057400" y="1981201"/>
              <a:chExt cx="1219200" cy="307777"/>
            </a:xfrm>
          </p:grpSpPr>
          <p:cxnSp>
            <p:nvCxnSpPr>
              <p:cNvPr id="420" name="Google Shape;420;p32"/>
              <p:cNvCxnSpPr/>
              <p:nvPr/>
            </p:nvCxnSpPr>
            <p:spPr>
              <a:xfrm>
                <a:off x="2057400" y="2133600"/>
                <a:ext cx="1219200" cy="1588"/>
              </a:xfrm>
              <a:prstGeom prst="straightConnector1">
                <a:avLst/>
              </a:prstGeom>
              <a:noFill/>
              <a:ln cap="flat" cmpd="sng" w="50800">
                <a:solidFill>
                  <a:srgbClr val="FF0000">
                    <a:alpha val="48627"/>
                  </a:srgbClr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sp>
            <p:nvSpPr>
              <p:cNvPr id="421" name="Google Shape;421;p32"/>
              <p:cNvSpPr txBox="1"/>
              <p:nvPr/>
            </p:nvSpPr>
            <p:spPr>
              <a:xfrm>
                <a:off x="2209800" y="1981201"/>
                <a:ext cx="838200" cy="307777"/>
              </a:xfrm>
              <a:prstGeom prst="rect">
                <a:avLst/>
              </a:prstGeom>
              <a:solidFill>
                <a:srgbClr val="800000">
                  <a:alpha val="48627"/>
                </a:srgbClr>
              </a:solidFill>
              <a:ln cap="flat" cmpd="sng" w="25400">
                <a:solidFill>
                  <a:srgbClr val="FF0000">
                    <a:alpha val="48627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1" i="0" lang="en-US" sz="1400" u="none" cap="none" strike="noStrik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rPr>
                  <a:t>10.1.0.0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2" name="Google Shape;422;p32"/>
            <p:cNvGrpSpPr/>
            <p:nvPr/>
          </p:nvGrpSpPr>
          <p:grpSpPr>
            <a:xfrm>
              <a:off x="1536" y="1681"/>
              <a:ext cx="912" cy="194"/>
              <a:chOff x="2438400" y="2590800"/>
              <a:chExt cx="1295400" cy="307777"/>
            </a:xfrm>
          </p:grpSpPr>
          <p:cxnSp>
            <p:nvCxnSpPr>
              <p:cNvPr id="423" name="Google Shape;423;p32"/>
              <p:cNvCxnSpPr/>
              <p:nvPr/>
            </p:nvCxnSpPr>
            <p:spPr>
              <a:xfrm rot="10800000">
                <a:off x="2438400" y="2743200"/>
                <a:ext cx="1295400" cy="1587"/>
              </a:xfrm>
              <a:prstGeom prst="straightConnector1">
                <a:avLst/>
              </a:prstGeom>
              <a:noFill/>
              <a:ln cap="flat" cmpd="sng" w="50800">
                <a:solidFill>
                  <a:srgbClr val="7D28CD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sp>
            <p:nvSpPr>
              <p:cNvPr id="424" name="Google Shape;424;p32"/>
              <p:cNvSpPr txBox="1"/>
              <p:nvPr/>
            </p:nvSpPr>
            <p:spPr>
              <a:xfrm>
                <a:off x="2743784" y="2590800"/>
                <a:ext cx="838033" cy="307777"/>
              </a:xfrm>
              <a:prstGeom prst="rect">
                <a:avLst/>
              </a:prstGeom>
              <a:solidFill>
                <a:srgbClr val="531A88"/>
              </a:solidFill>
              <a:ln cap="flat" cmpd="sng" w="25400">
                <a:solidFill>
                  <a:srgbClr val="00B0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1" i="0" lang="en-US" sz="1400" u="none" cap="none" strike="noStrik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rPr>
                  <a:t>10.3.0.0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5" name="Google Shape;425;p32"/>
            <p:cNvGrpSpPr/>
            <p:nvPr/>
          </p:nvGrpSpPr>
          <p:grpSpPr>
            <a:xfrm>
              <a:off x="3312" y="1681"/>
              <a:ext cx="912" cy="194"/>
              <a:chOff x="5257800" y="2590800"/>
              <a:chExt cx="1295400" cy="307777"/>
            </a:xfrm>
          </p:grpSpPr>
          <p:cxnSp>
            <p:nvCxnSpPr>
              <p:cNvPr id="426" name="Google Shape;426;p32"/>
              <p:cNvCxnSpPr/>
              <p:nvPr/>
            </p:nvCxnSpPr>
            <p:spPr>
              <a:xfrm>
                <a:off x="5257800" y="2743200"/>
                <a:ext cx="1295400" cy="1587"/>
              </a:xfrm>
              <a:prstGeom prst="straightConnector1">
                <a:avLst/>
              </a:prstGeom>
              <a:noFill/>
              <a:ln cap="flat" cmpd="sng" w="50800">
                <a:solidFill>
                  <a:srgbClr val="531A88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sp>
            <p:nvSpPr>
              <p:cNvPr id="427" name="Google Shape;427;p32"/>
              <p:cNvSpPr txBox="1"/>
              <p:nvPr/>
            </p:nvSpPr>
            <p:spPr>
              <a:xfrm>
                <a:off x="5486483" y="2590800"/>
                <a:ext cx="838033" cy="307777"/>
              </a:xfrm>
              <a:prstGeom prst="rect">
                <a:avLst/>
              </a:prstGeom>
              <a:solidFill>
                <a:srgbClr val="531A88"/>
              </a:solidFill>
              <a:ln cap="flat" cmpd="sng" w="25400">
                <a:solidFill>
                  <a:srgbClr val="00B0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1" i="0" lang="en-US" sz="1400" u="none" cap="none" strike="noStrik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rPr>
                  <a:t>10.2.0.0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28" name="Google Shape;428;p3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3"/>
          <p:cNvSpPr txBox="1"/>
          <p:nvPr>
            <p:ph idx="4294967295" type="title"/>
          </p:nvPr>
        </p:nvSpPr>
        <p:spPr>
          <a:xfrm>
            <a:off x="1484311" y="685801"/>
            <a:ext cx="10018713" cy="916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Initial Exchange of Routing Information</a:t>
            </a:r>
            <a:endParaRPr/>
          </a:p>
        </p:txBody>
      </p:sp>
      <p:cxnSp>
        <p:nvCxnSpPr>
          <p:cNvPr id="434" name="Google Shape;434;p33"/>
          <p:cNvCxnSpPr/>
          <p:nvPr/>
        </p:nvCxnSpPr>
        <p:spPr>
          <a:xfrm>
            <a:off x="9753600" y="2133600"/>
            <a:ext cx="457200" cy="1588"/>
          </a:xfrm>
          <a:prstGeom prst="straightConnector1">
            <a:avLst/>
          </a:prstGeom>
          <a:noFill/>
          <a:ln cap="flat" cmpd="sng" w="50800">
            <a:solidFill>
              <a:srgbClr val="008000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435" name="Google Shape;435;p33"/>
          <p:cNvGrpSpPr/>
          <p:nvPr/>
        </p:nvGrpSpPr>
        <p:grpSpPr>
          <a:xfrm>
            <a:off x="1676400" y="2184401"/>
            <a:ext cx="8839200" cy="3432175"/>
            <a:chOff x="96" y="816"/>
            <a:chExt cx="5568" cy="2162"/>
          </a:xfrm>
        </p:grpSpPr>
        <p:pic>
          <p:nvPicPr>
            <p:cNvPr descr="dv10.jpg" id="436" name="Google Shape;436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6" y="816"/>
              <a:ext cx="5568" cy="216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37" name="Google Shape;437;p33"/>
            <p:cNvGrpSpPr/>
            <p:nvPr/>
          </p:nvGrpSpPr>
          <p:grpSpPr>
            <a:xfrm>
              <a:off x="3936" y="2736"/>
              <a:ext cx="1536" cy="96"/>
              <a:chOff x="533400" y="4267200"/>
              <a:chExt cx="2438400" cy="152400"/>
            </a:xfrm>
          </p:grpSpPr>
          <p:sp>
            <p:nvSpPr>
              <p:cNvPr id="438" name="Google Shape;438;p33"/>
              <p:cNvSpPr/>
              <p:nvPr/>
            </p:nvSpPr>
            <p:spPr>
              <a:xfrm>
                <a:off x="533400" y="4267200"/>
                <a:ext cx="685800" cy="152400"/>
              </a:xfrm>
              <a:prstGeom prst="rect">
                <a:avLst/>
              </a:prstGeom>
              <a:solidFill>
                <a:schemeClr val="lt1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" name="Google Shape;439;p33"/>
              <p:cNvSpPr/>
              <p:nvPr/>
            </p:nvSpPr>
            <p:spPr>
              <a:xfrm>
                <a:off x="1600200" y="4267200"/>
                <a:ext cx="685800" cy="152400"/>
              </a:xfrm>
              <a:prstGeom prst="rect">
                <a:avLst/>
              </a:prstGeom>
              <a:solidFill>
                <a:schemeClr val="lt1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0" name="Google Shape;440;p33"/>
              <p:cNvSpPr/>
              <p:nvPr/>
            </p:nvSpPr>
            <p:spPr>
              <a:xfrm>
                <a:off x="2590800" y="4267200"/>
                <a:ext cx="381000" cy="152400"/>
              </a:xfrm>
              <a:prstGeom prst="rect">
                <a:avLst/>
              </a:prstGeom>
              <a:solidFill>
                <a:schemeClr val="lt1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1" name="Google Shape;441;p33"/>
            <p:cNvGrpSpPr/>
            <p:nvPr/>
          </p:nvGrpSpPr>
          <p:grpSpPr>
            <a:xfrm>
              <a:off x="336" y="1248"/>
              <a:ext cx="5136" cy="1584"/>
              <a:chOff x="336" y="1248"/>
              <a:chExt cx="5136" cy="1584"/>
            </a:xfrm>
          </p:grpSpPr>
          <p:grpSp>
            <p:nvGrpSpPr>
              <p:cNvPr id="442" name="Google Shape;442;p33"/>
              <p:cNvGrpSpPr/>
              <p:nvPr/>
            </p:nvGrpSpPr>
            <p:grpSpPr>
              <a:xfrm>
                <a:off x="336" y="2544"/>
                <a:ext cx="1536" cy="115"/>
                <a:chOff x="533400" y="3505200"/>
                <a:chExt cx="2438400" cy="182880"/>
              </a:xfrm>
            </p:grpSpPr>
            <p:sp>
              <p:nvSpPr>
                <p:cNvPr id="443" name="Google Shape;443;p33"/>
                <p:cNvSpPr/>
                <p:nvPr/>
              </p:nvSpPr>
              <p:spPr>
                <a:xfrm>
                  <a:off x="533400" y="3505200"/>
                  <a:ext cx="685800" cy="18288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381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4" name="Google Shape;444;p33"/>
                <p:cNvSpPr/>
                <p:nvPr/>
              </p:nvSpPr>
              <p:spPr>
                <a:xfrm>
                  <a:off x="1600200" y="3505200"/>
                  <a:ext cx="685800" cy="18288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381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5" name="Google Shape;445;p33"/>
                <p:cNvSpPr/>
                <p:nvPr/>
              </p:nvSpPr>
              <p:spPr>
                <a:xfrm>
                  <a:off x="2590800" y="3505200"/>
                  <a:ext cx="381000" cy="18288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381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46" name="Google Shape;446;p33"/>
              <p:cNvGrpSpPr/>
              <p:nvPr/>
            </p:nvGrpSpPr>
            <p:grpSpPr>
              <a:xfrm>
                <a:off x="336" y="2736"/>
                <a:ext cx="1536" cy="96"/>
                <a:chOff x="533400" y="4267200"/>
                <a:chExt cx="2438400" cy="152400"/>
              </a:xfrm>
            </p:grpSpPr>
            <p:sp>
              <p:nvSpPr>
                <p:cNvPr id="447" name="Google Shape;447;p33"/>
                <p:cNvSpPr/>
                <p:nvPr/>
              </p:nvSpPr>
              <p:spPr>
                <a:xfrm>
                  <a:off x="533400" y="4267200"/>
                  <a:ext cx="685800" cy="1524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381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8" name="Google Shape;448;p33"/>
                <p:cNvSpPr/>
                <p:nvPr/>
              </p:nvSpPr>
              <p:spPr>
                <a:xfrm>
                  <a:off x="1600200" y="4267200"/>
                  <a:ext cx="685800" cy="1524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381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9" name="Google Shape;449;p33"/>
                <p:cNvSpPr/>
                <p:nvPr/>
              </p:nvSpPr>
              <p:spPr>
                <a:xfrm>
                  <a:off x="2590800" y="4267200"/>
                  <a:ext cx="381000" cy="1524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381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50" name="Google Shape;450;p33"/>
              <p:cNvGrpSpPr/>
              <p:nvPr/>
            </p:nvGrpSpPr>
            <p:grpSpPr>
              <a:xfrm>
                <a:off x="2112" y="2544"/>
                <a:ext cx="1536" cy="115"/>
                <a:chOff x="533400" y="3505200"/>
                <a:chExt cx="2438400" cy="182880"/>
              </a:xfrm>
            </p:grpSpPr>
            <p:sp>
              <p:nvSpPr>
                <p:cNvPr id="451" name="Google Shape;451;p33"/>
                <p:cNvSpPr/>
                <p:nvPr/>
              </p:nvSpPr>
              <p:spPr>
                <a:xfrm>
                  <a:off x="533400" y="3505200"/>
                  <a:ext cx="685800" cy="18288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381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2" name="Google Shape;452;p33"/>
                <p:cNvSpPr/>
                <p:nvPr/>
              </p:nvSpPr>
              <p:spPr>
                <a:xfrm>
                  <a:off x="1600200" y="3505200"/>
                  <a:ext cx="685800" cy="18288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381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3" name="Google Shape;453;p33"/>
                <p:cNvSpPr/>
                <p:nvPr/>
              </p:nvSpPr>
              <p:spPr>
                <a:xfrm>
                  <a:off x="2590800" y="3505200"/>
                  <a:ext cx="381000" cy="18288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381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54" name="Google Shape;454;p33"/>
              <p:cNvGrpSpPr/>
              <p:nvPr/>
            </p:nvGrpSpPr>
            <p:grpSpPr>
              <a:xfrm>
                <a:off x="2112" y="2736"/>
                <a:ext cx="1536" cy="96"/>
                <a:chOff x="533400" y="4267200"/>
                <a:chExt cx="2438400" cy="152400"/>
              </a:xfrm>
            </p:grpSpPr>
            <p:sp>
              <p:nvSpPr>
                <p:cNvPr id="455" name="Google Shape;455;p33"/>
                <p:cNvSpPr/>
                <p:nvPr/>
              </p:nvSpPr>
              <p:spPr>
                <a:xfrm>
                  <a:off x="533400" y="4267200"/>
                  <a:ext cx="685800" cy="1524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381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6" name="Google Shape;456;p33"/>
                <p:cNvSpPr/>
                <p:nvPr/>
              </p:nvSpPr>
              <p:spPr>
                <a:xfrm>
                  <a:off x="1600200" y="4267200"/>
                  <a:ext cx="685800" cy="1524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381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7" name="Google Shape;457;p33"/>
                <p:cNvSpPr/>
                <p:nvPr/>
              </p:nvSpPr>
              <p:spPr>
                <a:xfrm>
                  <a:off x="2590800" y="4267200"/>
                  <a:ext cx="381000" cy="1524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381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58" name="Google Shape;458;p33"/>
              <p:cNvGrpSpPr/>
              <p:nvPr/>
            </p:nvGrpSpPr>
            <p:grpSpPr>
              <a:xfrm>
                <a:off x="3936" y="2544"/>
                <a:ext cx="1536" cy="115"/>
                <a:chOff x="533400" y="3505200"/>
                <a:chExt cx="2438400" cy="182880"/>
              </a:xfrm>
            </p:grpSpPr>
            <p:sp>
              <p:nvSpPr>
                <p:cNvPr id="459" name="Google Shape;459;p33"/>
                <p:cNvSpPr/>
                <p:nvPr/>
              </p:nvSpPr>
              <p:spPr>
                <a:xfrm>
                  <a:off x="533400" y="3505200"/>
                  <a:ext cx="685800" cy="18288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381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0" name="Google Shape;460;p33"/>
                <p:cNvSpPr/>
                <p:nvPr/>
              </p:nvSpPr>
              <p:spPr>
                <a:xfrm>
                  <a:off x="1600200" y="3505200"/>
                  <a:ext cx="685800" cy="18288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381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1" name="Google Shape;461;p33"/>
                <p:cNvSpPr/>
                <p:nvPr/>
              </p:nvSpPr>
              <p:spPr>
                <a:xfrm>
                  <a:off x="2590800" y="3505200"/>
                  <a:ext cx="381000" cy="18288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381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62" name="Google Shape;462;p33"/>
              <p:cNvSpPr/>
              <p:nvPr/>
            </p:nvSpPr>
            <p:spPr>
              <a:xfrm>
                <a:off x="4464" y="1248"/>
                <a:ext cx="720" cy="528"/>
              </a:xfrm>
              <a:prstGeom prst="ellipse">
                <a:avLst/>
              </a:prstGeom>
              <a:noFill/>
              <a:ln cap="flat" cmpd="sng" w="381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63" name="Google Shape;463;p33"/>
              <p:cNvGrpSpPr/>
              <p:nvPr/>
            </p:nvGrpSpPr>
            <p:grpSpPr>
              <a:xfrm>
                <a:off x="1296" y="1249"/>
                <a:ext cx="816" cy="194"/>
                <a:chOff x="2057400" y="1981201"/>
                <a:chExt cx="1219200" cy="307777"/>
              </a:xfrm>
            </p:grpSpPr>
            <p:cxnSp>
              <p:nvCxnSpPr>
                <p:cNvPr id="464" name="Google Shape;464;p33"/>
                <p:cNvCxnSpPr/>
                <p:nvPr/>
              </p:nvCxnSpPr>
              <p:spPr>
                <a:xfrm>
                  <a:off x="2057400" y="2133600"/>
                  <a:ext cx="1219200" cy="1588"/>
                </a:xfrm>
                <a:prstGeom prst="straightConnector1">
                  <a:avLst/>
                </a:prstGeom>
                <a:noFill/>
                <a:ln cap="flat" cmpd="sng" w="50800">
                  <a:solidFill>
                    <a:srgbClr val="FF0000">
                      <a:alpha val="48627"/>
                    </a:srgbClr>
                  </a:solidFill>
                  <a:prstDash val="solid"/>
                  <a:round/>
                  <a:headEnd len="sm" w="sm" type="none"/>
                  <a:tailEnd len="med" w="med" type="triangle"/>
                </a:ln>
              </p:spPr>
            </p:cxnSp>
            <p:sp>
              <p:nvSpPr>
                <p:cNvPr id="465" name="Google Shape;465;p33"/>
                <p:cNvSpPr txBox="1"/>
                <p:nvPr/>
              </p:nvSpPr>
              <p:spPr>
                <a:xfrm>
                  <a:off x="2209799" y="1981201"/>
                  <a:ext cx="838200" cy="307777"/>
                </a:xfrm>
                <a:prstGeom prst="rect">
                  <a:avLst/>
                </a:prstGeom>
                <a:solidFill>
                  <a:srgbClr val="800000">
                    <a:alpha val="48627"/>
                  </a:srgbClr>
                </a:solidFill>
                <a:ln cap="flat" cmpd="sng" w="25400">
                  <a:solidFill>
                    <a:srgbClr val="FF0000">
                      <a:alpha val="48627"/>
                    </a:srgbClr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1" i="0" lang="en-US" sz="1400" u="none" cap="none" strike="noStrike">
                      <a:solidFill>
                        <a:srgbClr val="FFFF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10.1.0.0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66" name="Google Shape;466;p33"/>
              <p:cNvGrpSpPr/>
              <p:nvPr/>
            </p:nvGrpSpPr>
            <p:grpSpPr>
              <a:xfrm>
                <a:off x="1488" y="1681"/>
                <a:ext cx="864" cy="194"/>
                <a:chOff x="2438400" y="2590800"/>
                <a:chExt cx="1295400" cy="307777"/>
              </a:xfrm>
            </p:grpSpPr>
            <p:cxnSp>
              <p:nvCxnSpPr>
                <p:cNvPr id="467" name="Google Shape;467;p33"/>
                <p:cNvCxnSpPr/>
                <p:nvPr/>
              </p:nvCxnSpPr>
              <p:spPr>
                <a:xfrm rot="10800000">
                  <a:off x="2438400" y="2743200"/>
                  <a:ext cx="1295400" cy="1588"/>
                </a:xfrm>
                <a:prstGeom prst="straightConnector1">
                  <a:avLst/>
                </a:prstGeom>
                <a:noFill/>
                <a:ln cap="flat" cmpd="sng" w="50800">
                  <a:solidFill>
                    <a:srgbClr val="00B0F0">
                      <a:alpha val="48627"/>
                    </a:srgbClr>
                  </a:solidFill>
                  <a:prstDash val="solid"/>
                  <a:round/>
                  <a:headEnd len="sm" w="sm" type="none"/>
                  <a:tailEnd len="med" w="med" type="triangle"/>
                </a:ln>
              </p:spPr>
            </p:cxnSp>
            <p:sp>
              <p:nvSpPr>
                <p:cNvPr id="468" name="Google Shape;468;p33"/>
                <p:cNvSpPr txBox="1"/>
                <p:nvPr/>
              </p:nvSpPr>
              <p:spPr>
                <a:xfrm>
                  <a:off x="2742759" y="2590800"/>
                  <a:ext cx="838111" cy="307777"/>
                </a:xfrm>
                <a:prstGeom prst="rect">
                  <a:avLst/>
                </a:prstGeom>
                <a:solidFill>
                  <a:srgbClr val="531A88">
                    <a:alpha val="48627"/>
                  </a:srgbClr>
                </a:solidFill>
                <a:ln cap="flat" cmpd="sng" w="25400">
                  <a:solidFill>
                    <a:srgbClr val="00B0F0">
                      <a:alpha val="48627"/>
                    </a:srgbClr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1" i="0" lang="en-US" sz="1400" u="none" cap="none" strike="noStrike">
                      <a:solidFill>
                        <a:srgbClr val="FFFF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10.3.0.0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69" name="Google Shape;469;p33"/>
              <p:cNvGrpSpPr/>
              <p:nvPr/>
            </p:nvGrpSpPr>
            <p:grpSpPr>
              <a:xfrm>
                <a:off x="3312" y="1681"/>
                <a:ext cx="912" cy="194"/>
                <a:chOff x="5257799" y="2590800"/>
                <a:chExt cx="1295400" cy="307777"/>
              </a:xfrm>
            </p:grpSpPr>
            <p:cxnSp>
              <p:nvCxnSpPr>
                <p:cNvPr id="470" name="Google Shape;470;p33"/>
                <p:cNvCxnSpPr/>
                <p:nvPr/>
              </p:nvCxnSpPr>
              <p:spPr>
                <a:xfrm>
                  <a:off x="5257799" y="2743200"/>
                  <a:ext cx="1295400" cy="1588"/>
                </a:xfrm>
                <a:prstGeom prst="straightConnector1">
                  <a:avLst/>
                </a:prstGeom>
                <a:noFill/>
                <a:ln cap="flat" cmpd="sng" w="50800">
                  <a:solidFill>
                    <a:srgbClr val="531A88">
                      <a:alpha val="48627"/>
                    </a:srgbClr>
                  </a:solidFill>
                  <a:prstDash val="solid"/>
                  <a:round/>
                  <a:headEnd len="sm" w="sm" type="none"/>
                  <a:tailEnd len="med" w="med" type="triangle"/>
                </a:ln>
              </p:spPr>
            </p:cxnSp>
            <p:sp>
              <p:nvSpPr>
                <p:cNvPr id="471" name="Google Shape;471;p33"/>
                <p:cNvSpPr txBox="1"/>
                <p:nvPr/>
              </p:nvSpPr>
              <p:spPr>
                <a:xfrm>
                  <a:off x="5486483" y="2590800"/>
                  <a:ext cx="838033" cy="307777"/>
                </a:xfrm>
                <a:prstGeom prst="rect">
                  <a:avLst/>
                </a:prstGeom>
                <a:solidFill>
                  <a:srgbClr val="531A88">
                    <a:alpha val="48627"/>
                  </a:srgbClr>
                </a:solidFill>
                <a:ln cap="flat" cmpd="sng" w="25400">
                  <a:solidFill>
                    <a:srgbClr val="00B0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1" i="0" lang="en-US" sz="1400" u="none" cap="none" strike="noStrike">
                      <a:solidFill>
                        <a:srgbClr val="FFFF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10.2.0.0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72" name="Google Shape;472;p33"/>
              <p:cNvGrpSpPr/>
              <p:nvPr/>
            </p:nvGrpSpPr>
            <p:grpSpPr>
              <a:xfrm>
                <a:off x="3600" y="1249"/>
                <a:ext cx="960" cy="194"/>
                <a:chOff x="5715000" y="1981200"/>
                <a:chExt cx="1295400" cy="307777"/>
              </a:xfrm>
            </p:grpSpPr>
            <p:cxnSp>
              <p:nvCxnSpPr>
                <p:cNvPr id="473" name="Google Shape;473;p33"/>
                <p:cNvCxnSpPr/>
                <p:nvPr/>
              </p:nvCxnSpPr>
              <p:spPr>
                <a:xfrm rot="10800000">
                  <a:off x="5715000" y="2133600"/>
                  <a:ext cx="1295400" cy="1588"/>
                </a:xfrm>
                <a:prstGeom prst="straightConnector1">
                  <a:avLst/>
                </a:prstGeom>
                <a:noFill/>
                <a:ln cap="flat" cmpd="sng" w="50800">
                  <a:solidFill>
                    <a:srgbClr val="008000"/>
                  </a:solidFill>
                  <a:prstDash val="solid"/>
                  <a:round/>
                  <a:headEnd len="sm" w="sm" type="none"/>
                  <a:tailEnd len="med" w="med" type="triangle"/>
                </a:ln>
              </p:spPr>
            </p:cxnSp>
            <p:sp>
              <p:nvSpPr>
                <p:cNvPr id="474" name="Google Shape;474;p33"/>
                <p:cNvSpPr txBox="1"/>
                <p:nvPr/>
              </p:nvSpPr>
              <p:spPr>
                <a:xfrm>
                  <a:off x="6019958" y="1981200"/>
                  <a:ext cx="837962" cy="307777"/>
                </a:xfrm>
                <a:prstGeom prst="rect">
                  <a:avLst/>
                </a:prstGeom>
                <a:solidFill>
                  <a:srgbClr val="008000"/>
                </a:solidFill>
                <a:ln cap="flat" cmpd="sng" w="25400">
                  <a:solidFill>
                    <a:srgbClr val="66FF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1" i="0" lang="en-US" sz="1400" u="none" cap="none" strike="noStrike">
                      <a:solidFill>
                        <a:srgbClr val="FFFF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10.4.0.0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475" name="Google Shape;475;p3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34"/>
          <p:cNvSpPr txBox="1"/>
          <p:nvPr>
            <p:ph idx="4294967295" type="title"/>
          </p:nvPr>
        </p:nvSpPr>
        <p:spPr>
          <a:xfrm>
            <a:off x="1676400" y="457200"/>
            <a:ext cx="10018713" cy="4876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Initial Exchange of Routing Information</a:t>
            </a:r>
            <a:endParaRPr/>
          </a:p>
        </p:txBody>
      </p:sp>
      <p:pic>
        <p:nvPicPr>
          <p:cNvPr descr="dv10.jpg" id="481" name="Google Shape;48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1295401"/>
            <a:ext cx="8839200" cy="3432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2" name="Google Shape;482;p34"/>
          <p:cNvGrpSpPr/>
          <p:nvPr/>
        </p:nvGrpSpPr>
        <p:grpSpPr>
          <a:xfrm>
            <a:off x="2057400" y="4038600"/>
            <a:ext cx="2438400" cy="182880"/>
            <a:chOff x="533400" y="3505200"/>
            <a:chExt cx="2438400" cy="182880"/>
          </a:xfrm>
        </p:grpSpPr>
        <p:sp>
          <p:nvSpPr>
            <p:cNvPr id="483" name="Google Shape;483;p34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34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34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6" name="Google Shape;486;p34"/>
          <p:cNvGrpSpPr/>
          <p:nvPr/>
        </p:nvGrpSpPr>
        <p:grpSpPr>
          <a:xfrm>
            <a:off x="2057400" y="4343400"/>
            <a:ext cx="2438400" cy="152400"/>
            <a:chOff x="533400" y="4267200"/>
            <a:chExt cx="2438400" cy="152400"/>
          </a:xfrm>
        </p:grpSpPr>
        <p:sp>
          <p:nvSpPr>
            <p:cNvPr id="487" name="Google Shape;487;p34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34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34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0" name="Google Shape;490;p34"/>
          <p:cNvGrpSpPr/>
          <p:nvPr/>
        </p:nvGrpSpPr>
        <p:grpSpPr>
          <a:xfrm>
            <a:off x="4876800" y="4038600"/>
            <a:ext cx="2438400" cy="182880"/>
            <a:chOff x="533400" y="3505200"/>
            <a:chExt cx="2438400" cy="182880"/>
          </a:xfrm>
        </p:grpSpPr>
        <p:sp>
          <p:nvSpPr>
            <p:cNvPr id="491" name="Google Shape;491;p34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34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34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4" name="Google Shape;494;p34"/>
          <p:cNvGrpSpPr/>
          <p:nvPr/>
        </p:nvGrpSpPr>
        <p:grpSpPr>
          <a:xfrm>
            <a:off x="4876800" y="4343400"/>
            <a:ext cx="2438400" cy="152400"/>
            <a:chOff x="533400" y="4267200"/>
            <a:chExt cx="2438400" cy="152400"/>
          </a:xfrm>
        </p:grpSpPr>
        <p:sp>
          <p:nvSpPr>
            <p:cNvPr id="495" name="Google Shape;495;p34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34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34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8" name="Google Shape;498;p34"/>
          <p:cNvGrpSpPr/>
          <p:nvPr/>
        </p:nvGrpSpPr>
        <p:grpSpPr>
          <a:xfrm>
            <a:off x="7772400" y="4038600"/>
            <a:ext cx="2438400" cy="182880"/>
            <a:chOff x="533400" y="3505200"/>
            <a:chExt cx="2438400" cy="182880"/>
          </a:xfrm>
        </p:grpSpPr>
        <p:sp>
          <p:nvSpPr>
            <p:cNvPr id="499" name="Google Shape;499;p34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34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34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2" name="Google Shape;502;p34"/>
          <p:cNvGrpSpPr/>
          <p:nvPr/>
        </p:nvGrpSpPr>
        <p:grpSpPr>
          <a:xfrm>
            <a:off x="7772400" y="4343400"/>
            <a:ext cx="2438400" cy="152400"/>
            <a:chOff x="533400" y="4267200"/>
            <a:chExt cx="2438400" cy="152400"/>
          </a:xfrm>
        </p:grpSpPr>
        <p:sp>
          <p:nvSpPr>
            <p:cNvPr id="503" name="Google Shape;503;p34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34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34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6" name="Google Shape;506;p34"/>
          <p:cNvGrpSpPr/>
          <p:nvPr/>
        </p:nvGrpSpPr>
        <p:grpSpPr>
          <a:xfrm>
            <a:off x="3962400" y="2667000"/>
            <a:ext cx="1295400" cy="304800"/>
            <a:chOff x="2438400" y="2590800"/>
            <a:chExt cx="1295400" cy="304800"/>
          </a:xfrm>
        </p:grpSpPr>
        <p:cxnSp>
          <p:nvCxnSpPr>
            <p:cNvPr id="507" name="Google Shape;507;p34"/>
            <p:cNvCxnSpPr/>
            <p:nvPr/>
          </p:nvCxnSpPr>
          <p:spPr>
            <a:xfrm rot="10800000">
              <a:off x="2438400" y="2743200"/>
              <a:ext cx="1295400" cy="1588"/>
            </a:xfrm>
            <a:prstGeom prst="straightConnector1">
              <a:avLst/>
            </a:prstGeom>
            <a:noFill/>
            <a:ln cap="flat" cmpd="sng" w="50800">
              <a:solidFill>
                <a:srgbClr val="531A88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508" name="Google Shape;508;p34"/>
            <p:cNvSpPr txBox="1"/>
            <p:nvPr/>
          </p:nvSpPr>
          <p:spPr>
            <a:xfrm>
              <a:off x="2743200" y="2590800"/>
              <a:ext cx="838200" cy="304800"/>
            </a:xfrm>
            <a:prstGeom prst="rect">
              <a:avLst/>
            </a:prstGeom>
            <a:solidFill>
              <a:srgbClr val="531A88"/>
            </a:solidFill>
            <a:ln cap="flat" cmpd="sng" w="25400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10.3.0.0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9" name="Google Shape;509;p34"/>
          <p:cNvSpPr/>
          <p:nvPr/>
        </p:nvSpPr>
        <p:spPr>
          <a:xfrm>
            <a:off x="2362200" y="1981200"/>
            <a:ext cx="1219200" cy="8382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0" name="Google Shape;510;p34"/>
          <p:cNvGrpSpPr/>
          <p:nvPr/>
        </p:nvGrpSpPr>
        <p:grpSpPr>
          <a:xfrm>
            <a:off x="6781800" y="1981200"/>
            <a:ext cx="2971800" cy="990600"/>
            <a:chOff x="5257800" y="1981200"/>
            <a:chExt cx="2971800" cy="990600"/>
          </a:xfrm>
        </p:grpSpPr>
        <p:grpSp>
          <p:nvGrpSpPr>
            <p:cNvPr id="511" name="Google Shape;511;p34"/>
            <p:cNvGrpSpPr/>
            <p:nvPr/>
          </p:nvGrpSpPr>
          <p:grpSpPr>
            <a:xfrm>
              <a:off x="5257800" y="2667000"/>
              <a:ext cx="1295400" cy="304800"/>
              <a:chOff x="5257800" y="2590800"/>
              <a:chExt cx="1295400" cy="304800"/>
            </a:xfrm>
          </p:grpSpPr>
          <p:cxnSp>
            <p:nvCxnSpPr>
              <p:cNvPr id="512" name="Google Shape;512;p34"/>
              <p:cNvCxnSpPr/>
              <p:nvPr/>
            </p:nvCxnSpPr>
            <p:spPr>
              <a:xfrm>
                <a:off x="5257800" y="2743200"/>
                <a:ext cx="1295400" cy="1588"/>
              </a:xfrm>
              <a:prstGeom prst="straightConnector1">
                <a:avLst/>
              </a:prstGeom>
              <a:noFill/>
              <a:ln cap="flat" cmpd="sng" w="50800">
                <a:solidFill>
                  <a:srgbClr val="531A88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sp>
            <p:nvSpPr>
              <p:cNvPr id="513" name="Google Shape;513;p34"/>
              <p:cNvSpPr txBox="1"/>
              <p:nvPr/>
            </p:nvSpPr>
            <p:spPr>
              <a:xfrm>
                <a:off x="5486400" y="2590800"/>
                <a:ext cx="838200" cy="304800"/>
              </a:xfrm>
              <a:prstGeom prst="rect">
                <a:avLst/>
              </a:prstGeom>
              <a:solidFill>
                <a:srgbClr val="531A88"/>
              </a:solidFill>
              <a:ln cap="flat" cmpd="sng" w="25400">
                <a:solidFill>
                  <a:srgbClr val="00B0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1" i="0" lang="en-US" sz="1400" u="none" cap="none" strike="noStrik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rPr>
                  <a:t>10.2.0.0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14" name="Google Shape;514;p34"/>
            <p:cNvSpPr/>
            <p:nvPr/>
          </p:nvSpPr>
          <p:spPr>
            <a:xfrm>
              <a:off x="7086600" y="1981200"/>
              <a:ext cx="1143000" cy="838200"/>
            </a:xfrm>
            <a:prstGeom prst="ellipse">
              <a:avLst/>
            </a:prstGeom>
            <a:noFill/>
            <a:ln cap="flat" cmpd="sng" w="381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5" name="Google Shape;515;p3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v10.jpg" id="520" name="Google Shape;52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1295401"/>
            <a:ext cx="8839200" cy="3432175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35"/>
          <p:cNvSpPr txBox="1"/>
          <p:nvPr>
            <p:ph idx="4294967295" type="title"/>
          </p:nvPr>
        </p:nvSpPr>
        <p:spPr>
          <a:xfrm>
            <a:off x="1620043" y="292101"/>
            <a:ext cx="10018713" cy="455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Initial Exchange of Routing Information</a:t>
            </a:r>
            <a:endParaRPr/>
          </a:p>
        </p:txBody>
      </p:sp>
      <p:sp>
        <p:nvSpPr>
          <p:cNvPr id="522" name="Google Shape;522;p35"/>
          <p:cNvSpPr txBox="1"/>
          <p:nvPr>
            <p:ph idx="4294967295" type="body"/>
          </p:nvPr>
        </p:nvSpPr>
        <p:spPr>
          <a:xfrm>
            <a:off x="1676400" y="4800600"/>
            <a:ext cx="8839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grpSp>
        <p:nvGrpSpPr>
          <p:cNvPr id="523" name="Google Shape;523;p35"/>
          <p:cNvGrpSpPr/>
          <p:nvPr/>
        </p:nvGrpSpPr>
        <p:grpSpPr>
          <a:xfrm>
            <a:off x="2057400" y="4343400"/>
            <a:ext cx="2438400" cy="152400"/>
            <a:chOff x="533400" y="4267200"/>
            <a:chExt cx="2438400" cy="152400"/>
          </a:xfrm>
        </p:grpSpPr>
        <p:sp>
          <p:nvSpPr>
            <p:cNvPr id="524" name="Google Shape;524;p35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35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35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7" name="Google Shape;527;p35"/>
          <p:cNvGrpSpPr/>
          <p:nvPr/>
        </p:nvGrpSpPr>
        <p:grpSpPr>
          <a:xfrm>
            <a:off x="4876800" y="4038600"/>
            <a:ext cx="2438400" cy="182880"/>
            <a:chOff x="533400" y="3505200"/>
            <a:chExt cx="2438400" cy="182880"/>
          </a:xfrm>
        </p:grpSpPr>
        <p:sp>
          <p:nvSpPr>
            <p:cNvPr id="528" name="Google Shape;528;p35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35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35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1" name="Google Shape;531;p35"/>
          <p:cNvGrpSpPr/>
          <p:nvPr/>
        </p:nvGrpSpPr>
        <p:grpSpPr>
          <a:xfrm>
            <a:off x="4876800" y="4343400"/>
            <a:ext cx="2438400" cy="152400"/>
            <a:chOff x="533400" y="4267200"/>
            <a:chExt cx="2438400" cy="152400"/>
          </a:xfrm>
        </p:grpSpPr>
        <p:sp>
          <p:nvSpPr>
            <p:cNvPr id="532" name="Google Shape;532;p35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35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35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5" name="Google Shape;535;p35"/>
          <p:cNvGrpSpPr/>
          <p:nvPr/>
        </p:nvGrpSpPr>
        <p:grpSpPr>
          <a:xfrm>
            <a:off x="7772400" y="4343400"/>
            <a:ext cx="2438400" cy="152400"/>
            <a:chOff x="533400" y="4267200"/>
            <a:chExt cx="2438400" cy="152400"/>
          </a:xfrm>
        </p:grpSpPr>
        <p:sp>
          <p:nvSpPr>
            <p:cNvPr id="536" name="Google Shape;536;p35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35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35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9" name="Google Shape;539;p35"/>
          <p:cNvSpPr/>
          <p:nvPr/>
        </p:nvSpPr>
        <p:spPr>
          <a:xfrm>
            <a:off x="5410200" y="1981200"/>
            <a:ext cx="1295400" cy="838200"/>
          </a:xfrm>
          <a:prstGeom prst="ellipse">
            <a:avLst/>
          </a:prstGeom>
          <a:noFill/>
          <a:ln cap="flat" cmpd="sng" w="38100">
            <a:solidFill>
              <a:srgbClr val="531A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0" name="Google Shape;540;p35"/>
          <p:cNvGrpSpPr/>
          <p:nvPr/>
        </p:nvGrpSpPr>
        <p:grpSpPr>
          <a:xfrm>
            <a:off x="3581400" y="1981201"/>
            <a:ext cx="1219200" cy="304800"/>
            <a:chOff x="2057400" y="1981201"/>
            <a:chExt cx="1219200" cy="304800"/>
          </a:xfrm>
        </p:grpSpPr>
        <p:cxnSp>
          <p:nvCxnSpPr>
            <p:cNvPr id="541" name="Google Shape;541;p35"/>
            <p:cNvCxnSpPr/>
            <p:nvPr/>
          </p:nvCxnSpPr>
          <p:spPr>
            <a:xfrm>
              <a:off x="2057400" y="2133600"/>
              <a:ext cx="1219200" cy="1588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542" name="Google Shape;542;p35"/>
            <p:cNvSpPr txBox="1"/>
            <p:nvPr/>
          </p:nvSpPr>
          <p:spPr>
            <a:xfrm>
              <a:off x="2209800" y="1981201"/>
              <a:ext cx="838200" cy="304800"/>
            </a:xfrm>
            <a:prstGeom prst="rect">
              <a:avLst/>
            </a:prstGeom>
            <a:solidFill>
              <a:srgbClr val="990000"/>
            </a:solidFill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10.1.0.0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3" name="Google Shape;543;p35"/>
          <p:cNvGrpSpPr/>
          <p:nvPr/>
        </p:nvGrpSpPr>
        <p:grpSpPr>
          <a:xfrm>
            <a:off x="7086600" y="1981201"/>
            <a:ext cx="1447800" cy="307777"/>
            <a:chOff x="5715000" y="1981200"/>
            <a:chExt cx="1295400" cy="307777"/>
          </a:xfrm>
        </p:grpSpPr>
        <p:cxnSp>
          <p:nvCxnSpPr>
            <p:cNvPr id="544" name="Google Shape;544;p35"/>
            <p:cNvCxnSpPr/>
            <p:nvPr/>
          </p:nvCxnSpPr>
          <p:spPr>
            <a:xfrm rot="10800000">
              <a:off x="5715000" y="2133600"/>
              <a:ext cx="1295400" cy="1588"/>
            </a:xfrm>
            <a:prstGeom prst="straightConnector1">
              <a:avLst/>
            </a:prstGeom>
            <a:noFill/>
            <a:ln cap="flat" cmpd="sng" w="50800">
              <a:solidFill>
                <a:srgbClr val="008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545" name="Google Shape;545;p35"/>
            <p:cNvSpPr txBox="1"/>
            <p:nvPr/>
          </p:nvSpPr>
          <p:spPr>
            <a:xfrm>
              <a:off x="6020385" y="1981200"/>
              <a:ext cx="838033" cy="307777"/>
            </a:xfrm>
            <a:prstGeom prst="rect">
              <a:avLst/>
            </a:prstGeom>
            <a:solidFill>
              <a:srgbClr val="008000"/>
            </a:solidFill>
            <a:ln cap="flat" cmpd="sng" w="25400">
              <a:solidFill>
                <a:srgbClr val="66FF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10.4.0.0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6" name="Google Shape;546;p3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v10.jpg" id="551" name="Google Shape;55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1295401"/>
            <a:ext cx="8839200" cy="3432175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36"/>
          <p:cNvSpPr txBox="1"/>
          <p:nvPr>
            <p:ph idx="4294967295" type="title"/>
          </p:nvPr>
        </p:nvSpPr>
        <p:spPr>
          <a:xfrm>
            <a:off x="1638300" y="457200"/>
            <a:ext cx="10018713" cy="6873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Next Exchange of Routing Information</a:t>
            </a:r>
            <a:endParaRPr/>
          </a:p>
        </p:txBody>
      </p:sp>
      <p:sp>
        <p:nvSpPr>
          <p:cNvPr id="553" name="Google Shape;553;p36"/>
          <p:cNvSpPr txBox="1"/>
          <p:nvPr>
            <p:ph idx="4294967295" type="body"/>
          </p:nvPr>
        </p:nvSpPr>
        <p:spPr>
          <a:xfrm>
            <a:off x="1676400" y="4800600"/>
            <a:ext cx="8839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grpSp>
        <p:nvGrpSpPr>
          <p:cNvPr id="554" name="Google Shape;554;p36"/>
          <p:cNvGrpSpPr/>
          <p:nvPr/>
        </p:nvGrpSpPr>
        <p:grpSpPr>
          <a:xfrm>
            <a:off x="2057400" y="4343400"/>
            <a:ext cx="2438400" cy="152400"/>
            <a:chOff x="533400" y="4267200"/>
            <a:chExt cx="2438400" cy="152400"/>
          </a:xfrm>
        </p:grpSpPr>
        <p:sp>
          <p:nvSpPr>
            <p:cNvPr id="555" name="Google Shape;555;p36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36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36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8" name="Google Shape;558;p36"/>
          <p:cNvGrpSpPr/>
          <p:nvPr/>
        </p:nvGrpSpPr>
        <p:grpSpPr>
          <a:xfrm>
            <a:off x="7772400" y="4343400"/>
            <a:ext cx="2438400" cy="152400"/>
            <a:chOff x="533400" y="4267200"/>
            <a:chExt cx="2438400" cy="152400"/>
          </a:xfrm>
        </p:grpSpPr>
        <p:sp>
          <p:nvSpPr>
            <p:cNvPr id="559" name="Google Shape;559;p36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36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36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2" name="Google Shape;562;p36"/>
          <p:cNvSpPr/>
          <p:nvPr/>
        </p:nvSpPr>
        <p:spPr>
          <a:xfrm>
            <a:off x="2362200" y="1981200"/>
            <a:ext cx="1219200" cy="8382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3" name="Google Shape;563;p36"/>
          <p:cNvGrpSpPr/>
          <p:nvPr/>
        </p:nvGrpSpPr>
        <p:grpSpPr>
          <a:xfrm>
            <a:off x="3581400" y="1981201"/>
            <a:ext cx="1219200" cy="304800"/>
            <a:chOff x="2057400" y="1981201"/>
            <a:chExt cx="1219200" cy="304800"/>
          </a:xfrm>
        </p:grpSpPr>
        <p:cxnSp>
          <p:nvCxnSpPr>
            <p:cNvPr id="564" name="Google Shape;564;p36"/>
            <p:cNvCxnSpPr/>
            <p:nvPr/>
          </p:nvCxnSpPr>
          <p:spPr>
            <a:xfrm>
              <a:off x="2057400" y="2133600"/>
              <a:ext cx="1219200" cy="1588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565" name="Google Shape;565;p36"/>
            <p:cNvSpPr txBox="1"/>
            <p:nvPr/>
          </p:nvSpPr>
          <p:spPr>
            <a:xfrm>
              <a:off x="2209800" y="1981201"/>
              <a:ext cx="838200" cy="304800"/>
            </a:xfrm>
            <a:prstGeom prst="rect">
              <a:avLst/>
            </a:prstGeom>
            <a:solidFill>
              <a:srgbClr val="990000"/>
            </a:solidFill>
            <a:ln cap="flat" cmpd="sng" w="25400">
              <a:solidFill>
                <a:srgbClr val="FF0000">
                  <a:alpha val="4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10.1.0.0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6" name="Google Shape;566;p3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v10.jpg" id="571" name="Google Shape;57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1295401"/>
            <a:ext cx="8839200" cy="3432175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37"/>
          <p:cNvSpPr txBox="1"/>
          <p:nvPr>
            <p:ph idx="4294967295" type="title"/>
          </p:nvPr>
        </p:nvSpPr>
        <p:spPr>
          <a:xfrm>
            <a:off x="1620043" y="497229"/>
            <a:ext cx="10018713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Next Exchange of Routing Information</a:t>
            </a:r>
            <a:endParaRPr/>
          </a:p>
        </p:txBody>
      </p:sp>
      <p:sp>
        <p:nvSpPr>
          <p:cNvPr id="573" name="Google Shape;573;p37"/>
          <p:cNvSpPr txBox="1"/>
          <p:nvPr>
            <p:ph idx="4294967295" type="body"/>
          </p:nvPr>
        </p:nvSpPr>
        <p:spPr>
          <a:xfrm>
            <a:off x="1676400" y="5006975"/>
            <a:ext cx="88392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0160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t/>
            </a:r>
            <a:endParaRPr/>
          </a:p>
        </p:txBody>
      </p:sp>
      <p:grpSp>
        <p:nvGrpSpPr>
          <p:cNvPr id="574" name="Google Shape;574;p37"/>
          <p:cNvGrpSpPr/>
          <p:nvPr/>
        </p:nvGrpSpPr>
        <p:grpSpPr>
          <a:xfrm>
            <a:off x="2057400" y="4343400"/>
            <a:ext cx="2438400" cy="152400"/>
            <a:chOff x="533400" y="4267200"/>
            <a:chExt cx="2438400" cy="152400"/>
          </a:xfrm>
        </p:grpSpPr>
        <p:sp>
          <p:nvSpPr>
            <p:cNvPr id="575" name="Google Shape;575;p37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37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37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8" name="Google Shape;578;p37"/>
          <p:cNvGrpSpPr/>
          <p:nvPr/>
        </p:nvGrpSpPr>
        <p:grpSpPr>
          <a:xfrm>
            <a:off x="7772400" y="4343400"/>
            <a:ext cx="2438400" cy="152400"/>
            <a:chOff x="533400" y="4267200"/>
            <a:chExt cx="2438400" cy="152400"/>
          </a:xfrm>
        </p:grpSpPr>
        <p:sp>
          <p:nvSpPr>
            <p:cNvPr id="579" name="Google Shape;579;p37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37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37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2" name="Google Shape;582;p37"/>
          <p:cNvSpPr/>
          <p:nvPr/>
        </p:nvSpPr>
        <p:spPr>
          <a:xfrm>
            <a:off x="5486400" y="1981200"/>
            <a:ext cx="1143000" cy="838200"/>
          </a:xfrm>
          <a:prstGeom prst="ellipse">
            <a:avLst/>
          </a:prstGeom>
          <a:noFill/>
          <a:ln cap="flat" cmpd="sng" w="38100">
            <a:solidFill>
              <a:srgbClr val="531A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3" name="Google Shape;583;p37"/>
          <p:cNvGrpSpPr/>
          <p:nvPr/>
        </p:nvGrpSpPr>
        <p:grpSpPr>
          <a:xfrm>
            <a:off x="4648200" y="2743201"/>
            <a:ext cx="1371600" cy="307777"/>
            <a:chOff x="1981200" y="2667000"/>
            <a:chExt cx="1295400" cy="307777"/>
          </a:xfrm>
        </p:grpSpPr>
        <p:cxnSp>
          <p:nvCxnSpPr>
            <p:cNvPr id="584" name="Google Shape;584;p37"/>
            <p:cNvCxnSpPr/>
            <p:nvPr/>
          </p:nvCxnSpPr>
          <p:spPr>
            <a:xfrm rot="10800000">
              <a:off x="1981200" y="2819400"/>
              <a:ext cx="1295400" cy="1588"/>
            </a:xfrm>
            <a:prstGeom prst="straightConnector1">
              <a:avLst/>
            </a:prstGeom>
            <a:solidFill>
              <a:srgbClr val="531A88"/>
            </a:solidFill>
            <a:ln cap="flat" cmpd="sng" w="50800">
              <a:solidFill>
                <a:srgbClr val="531A88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585" name="Google Shape;585;p37"/>
            <p:cNvSpPr txBox="1"/>
            <p:nvPr/>
          </p:nvSpPr>
          <p:spPr>
            <a:xfrm>
              <a:off x="2285560" y="2667000"/>
              <a:ext cx="838111" cy="307777"/>
            </a:xfrm>
            <a:prstGeom prst="rect">
              <a:avLst/>
            </a:prstGeom>
            <a:solidFill>
              <a:srgbClr val="531A88"/>
            </a:solidFill>
            <a:ln cap="flat" cmpd="sng" w="25400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10.4.0.0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6" name="Google Shape;586;p37"/>
          <p:cNvGrpSpPr/>
          <p:nvPr/>
        </p:nvGrpSpPr>
        <p:grpSpPr>
          <a:xfrm>
            <a:off x="3352800" y="2743201"/>
            <a:ext cx="1371600" cy="307777"/>
            <a:chOff x="1981200" y="2667000"/>
            <a:chExt cx="1295400" cy="307777"/>
          </a:xfrm>
        </p:grpSpPr>
        <p:cxnSp>
          <p:nvCxnSpPr>
            <p:cNvPr id="587" name="Google Shape;587;p37"/>
            <p:cNvCxnSpPr/>
            <p:nvPr/>
          </p:nvCxnSpPr>
          <p:spPr>
            <a:xfrm rot="10800000">
              <a:off x="1981200" y="2819400"/>
              <a:ext cx="1295400" cy="1588"/>
            </a:xfrm>
            <a:prstGeom prst="straightConnector1">
              <a:avLst/>
            </a:prstGeom>
            <a:solidFill>
              <a:srgbClr val="531A88"/>
            </a:solidFill>
            <a:ln cap="flat" cmpd="sng" w="50800">
              <a:solidFill>
                <a:srgbClr val="531A88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588" name="Google Shape;588;p37"/>
            <p:cNvSpPr txBox="1"/>
            <p:nvPr/>
          </p:nvSpPr>
          <p:spPr>
            <a:xfrm>
              <a:off x="2285560" y="2667000"/>
              <a:ext cx="838111" cy="307777"/>
            </a:xfrm>
            <a:prstGeom prst="rect">
              <a:avLst/>
            </a:prstGeom>
            <a:solidFill>
              <a:srgbClr val="531A88"/>
            </a:solidFill>
            <a:ln cap="flat" cmpd="sng" w="25400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10.3.0.0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9" name="Google Shape;589;p37"/>
          <p:cNvGrpSpPr/>
          <p:nvPr/>
        </p:nvGrpSpPr>
        <p:grpSpPr>
          <a:xfrm>
            <a:off x="6096000" y="2743201"/>
            <a:ext cx="2743200" cy="307777"/>
            <a:chOff x="4724400" y="2743200"/>
            <a:chExt cx="2590800" cy="307777"/>
          </a:xfrm>
        </p:grpSpPr>
        <p:grpSp>
          <p:nvGrpSpPr>
            <p:cNvPr id="590" name="Google Shape;590;p37"/>
            <p:cNvGrpSpPr/>
            <p:nvPr/>
          </p:nvGrpSpPr>
          <p:grpSpPr>
            <a:xfrm>
              <a:off x="6019800" y="2743200"/>
              <a:ext cx="1295400" cy="307777"/>
              <a:chOff x="5257800" y="2590800"/>
              <a:chExt cx="1295400" cy="307777"/>
            </a:xfrm>
          </p:grpSpPr>
          <p:cxnSp>
            <p:nvCxnSpPr>
              <p:cNvPr id="591" name="Google Shape;591;p37"/>
              <p:cNvCxnSpPr/>
              <p:nvPr/>
            </p:nvCxnSpPr>
            <p:spPr>
              <a:xfrm>
                <a:off x="5257800" y="2743200"/>
                <a:ext cx="1295400" cy="1588"/>
              </a:xfrm>
              <a:prstGeom prst="straightConnector1">
                <a:avLst/>
              </a:prstGeom>
              <a:noFill/>
              <a:ln cap="flat" cmpd="sng" w="50800">
                <a:solidFill>
                  <a:srgbClr val="531A88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sp>
            <p:nvSpPr>
              <p:cNvPr id="592" name="Google Shape;592;p37"/>
              <p:cNvSpPr txBox="1"/>
              <p:nvPr/>
            </p:nvSpPr>
            <p:spPr>
              <a:xfrm>
                <a:off x="5485694" y="2590800"/>
                <a:ext cx="839611" cy="307777"/>
              </a:xfrm>
              <a:prstGeom prst="rect">
                <a:avLst/>
              </a:prstGeom>
              <a:solidFill>
                <a:srgbClr val="531A88"/>
              </a:solidFill>
              <a:ln cap="flat" cmpd="sng" w="25400">
                <a:solidFill>
                  <a:srgbClr val="00B0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1" i="0" lang="en-US" sz="1400" u="none" cap="none" strike="noStrik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rPr>
                  <a:t>10.2.0.0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93" name="Google Shape;593;p37"/>
            <p:cNvGrpSpPr/>
            <p:nvPr/>
          </p:nvGrpSpPr>
          <p:grpSpPr>
            <a:xfrm>
              <a:off x="4724400" y="2743200"/>
              <a:ext cx="1295400" cy="307777"/>
              <a:chOff x="5257800" y="2590800"/>
              <a:chExt cx="1295400" cy="307777"/>
            </a:xfrm>
          </p:grpSpPr>
          <p:cxnSp>
            <p:nvCxnSpPr>
              <p:cNvPr id="594" name="Google Shape;594;p37"/>
              <p:cNvCxnSpPr/>
              <p:nvPr/>
            </p:nvCxnSpPr>
            <p:spPr>
              <a:xfrm>
                <a:off x="5257800" y="2743200"/>
                <a:ext cx="1295400" cy="1588"/>
              </a:xfrm>
              <a:prstGeom prst="straightConnector1">
                <a:avLst/>
              </a:prstGeom>
              <a:noFill/>
              <a:ln cap="flat" cmpd="sng" w="50800">
                <a:solidFill>
                  <a:srgbClr val="531A88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sp>
            <p:nvSpPr>
              <p:cNvPr id="595" name="Google Shape;595;p37"/>
              <p:cNvSpPr txBox="1"/>
              <p:nvPr/>
            </p:nvSpPr>
            <p:spPr>
              <a:xfrm>
                <a:off x="5485694" y="2590800"/>
                <a:ext cx="839611" cy="307777"/>
              </a:xfrm>
              <a:prstGeom prst="rect">
                <a:avLst/>
              </a:prstGeom>
              <a:solidFill>
                <a:srgbClr val="531A88"/>
              </a:solidFill>
              <a:ln cap="flat" cmpd="sng" w="25400">
                <a:solidFill>
                  <a:srgbClr val="00B0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1" i="0" lang="en-US" sz="1400" u="none" cap="none" strike="noStrik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rPr>
                  <a:t>10.1.0.0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96" name="Google Shape;596;p37"/>
          <p:cNvGrpSpPr/>
          <p:nvPr/>
        </p:nvGrpSpPr>
        <p:grpSpPr>
          <a:xfrm>
            <a:off x="3581400" y="1752600"/>
            <a:ext cx="4876800" cy="1068388"/>
            <a:chOff x="2057400" y="1752600"/>
            <a:chExt cx="4876800" cy="1067594"/>
          </a:xfrm>
        </p:grpSpPr>
        <p:cxnSp>
          <p:nvCxnSpPr>
            <p:cNvPr id="597" name="Google Shape;597;p37"/>
            <p:cNvCxnSpPr/>
            <p:nvPr/>
          </p:nvCxnSpPr>
          <p:spPr>
            <a:xfrm flipH="1" rot="-5400000">
              <a:off x="2894806" y="2134394"/>
              <a:ext cx="686594" cy="685006"/>
            </a:xfrm>
            <a:prstGeom prst="straightConnector1">
              <a:avLst/>
            </a:prstGeom>
            <a:noFill/>
            <a:ln cap="flat" cmpd="sng" w="50800">
              <a:solidFill>
                <a:srgbClr val="9900FF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598" name="Google Shape;598;p37"/>
            <p:cNvSpPr txBox="1"/>
            <p:nvPr/>
          </p:nvSpPr>
          <p:spPr>
            <a:xfrm>
              <a:off x="2057400" y="1752600"/>
              <a:ext cx="914400" cy="399813"/>
            </a:xfrm>
            <a:prstGeom prst="rect">
              <a:avLst/>
            </a:prstGeom>
            <a:solidFill>
              <a:srgbClr val="660033"/>
            </a:solidFill>
            <a:ln cap="flat" cmpd="sng" w="25400">
              <a:solidFill>
                <a:srgbClr val="99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NEW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99" name="Google Shape;599;p37"/>
            <p:cNvCxnSpPr/>
            <p:nvPr/>
          </p:nvCxnSpPr>
          <p:spPr>
            <a:xfrm rot="5400000">
              <a:off x="5524500" y="2247900"/>
              <a:ext cx="609600" cy="533400"/>
            </a:xfrm>
            <a:prstGeom prst="straightConnector1">
              <a:avLst/>
            </a:prstGeom>
            <a:noFill/>
            <a:ln cap="flat" cmpd="sng" w="50800">
              <a:solidFill>
                <a:srgbClr val="9900FF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600" name="Google Shape;600;p37"/>
            <p:cNvSpPr txBox="1"/>
            <p:nvPr/>
          </p:nvSpPr>
          <p:spPr>
            <a:xfrm>
              <a:off x="6019800" y="1828743"/>
              <a:ext cx="914400" cy="399813"/>
            </a:xfrm>
            <a:prstGeom prst="rect">
              <a:avLst/>
            </a:prstGeom>
            <a:solidFill>
              <a:srgbClr val="660033"/>
            </a:solidFill>
            <a:ln cap="flat" cmpd="sng" w="25400">
              <a:solidFill>
                <a:srgbClr val="99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NEW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1" name="Google Shape;601;p3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v10.jpg" id="606" name="Google Shape;606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1295401"/>
            <a:ext cx="8839200" cy="3432175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38"/>
          <p:cNvSpPr txBox="1"/>
          <p:nvPr>
            <p:ph idx="4294967295" type="title"/>
          </p:nvPr>
        </p:nvSpPr>
        <p:spPr>
          <a:xfrm>
            <a:off x="1676400" y="454024"/>
            <a:ext cx="10018713" cy="6096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Next Exchange of Routing Information</a:t>
            </a:r>
            <a:endParaRPr/>
          </a:p>
        </p:txBody>
      </p:sp>
      <p:grpSp>
        <p:nvGrpSpPr>
          <p:cNvPr id="608" name="Google Shape;608;p38"/>
          <p:cNvGrpSpPr/>
          <p:nvPr/>
        </p:nvGrpSpPr>
        <p:grpSpPr>
          <a:xfrm>
            <a:off x="2057400" y="4343400"/>
            <a:ext cx="2438400" cy="152400"/>
            <a:chOff x="533400" y="4267200"/>
            <a:chExt cx="2438400" cy="152400"/>
          </a:xfrm>
        </p:grpSpPr>
        <p:sp>
          <p:nvSpPr>
            <p:cNvPr id="609" name="Google Shape;609;p38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38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38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2" name="Google Shape;612;p38"/>
          <p:cNvGrpSpPr/>
          <p:nvPr/>
        </p:nvGrpSpPr>
        <p:grpSpPr>
          <a:xfrm>
            <a:off x="7772400" y="4343400"/>
            <a:ext cx="2438400" cy="152400"/>
            <a:chOff x="533400" y="4267200"/>
            <a:chExt cx="2438400" cy="152400"/>
          </a:xfrm>
        </p:grpSpPr>
        <p:sp>
          <p:nvSpPr>
            <p:cNvPr id="613" name="Google Shape;613;p38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38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38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6" name="Google Shape;616;p38"/>
          <p:cNvSpPr/>
          <p:nvPr/>
        </p:nvSpPr>
        <p:spPr>
          <a:xfrm>
            <a:off x="8610600" y="1981200"/>
            <a:ext cx="1143000" cy="838200"/>
          </a:xfrm>
          <a:prstGeom prst="ellipse">
            <a:avLst/>
          </a:prstGeom>
          <a:noFill/>
          <a:ln cap="flat" cmpd="sng" w="3810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17" name="Google Shape;617;p38"/>
          <p:cNvGrpSpPr/>
          <p:nvPr/>
        </p:nvGrpSpPr>
        <p:grpSpPr>
          <a:xfrm>
            <a:off x="6934200" y="1981201"/>
            <a:ext cx="1600200" cy="307777"/>
            <a:chOff x="5715000" y="1981200"/>
            <a:chExt cx="1295400" cy="307777"/>
          </a:xfrm>
        </p:grpSpPr>
        <p:cxnSp>
          <p:nvCxnSpPr>
            <p:cNvPr id="618" name="Google Shape;618;p38"/>
            <p:cNvCxnSpPr/>
            <p:nvPr/>
          </p:nvCxnSpPr>
          <p:spPr>
            <a:xfrm rot="10800000">
              <a:off x="5715000" y="2133600"/>
              <a:ext cx="1295400" cy="1588"/>
            </a:xfrm>
            <a:prstGeom prst="straightConnector1">
              <a:avLst/>
            </a:prstGeom>
            <a:noFill/>
            <a:ln cap="flat" cmpd="sng" w="50800">
              <a:solidFill>
                <a:srgbClr val="008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619" name="Google Shape;619;p38"/>
            <p:cNvSpPr txBox="1"/>
            <p:nvPr/>
          </p:nvSpPr>
          <p:spPr>
            <a:xfrm>
              <a:off x="6019574" y="1981200"/>
              <a:ext cx="837898" cy="307777"/>
            </a:xfrm>
            <a:prstGeom prst="rect">
              <a:avLst/>
            </a:prstGeom>
            <a:solidFill>
              <a:srgbClr val="008000"/>
            </a:solidFill>
            <a:ln cap="flat" cmpd="sng" w="25400">
              <a:solidFill>
                <a:srgbClr val="66FF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10.4.0.0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0" name="Google Shape;620;p38"/>
          <p:cNvSpPr/>
          <p:nvPr/>
        </p:nvSpPr>
        <p:spPr>
          <a:xfrm>
            <a:off x="1676400" y="4800600"/>
            <a:ext cx="8839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177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38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21" name="Google Shape;621;p3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v10.jpg" id="626" name="Google Shape;62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1295401"/>
            <a:ext cx="8839200" cy="3432175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p39"/>
          <p:cNvSpPr txBox="1"/>
          <p:nvPr>
            <p:ph idx="4294967295" type="title"/>
          </p:nvPr>
        </p:nvSpPr>
        <p:spPr>
          <a:xfrm>
            <a:off x="1512886" y="383977"/>
            <a:ext cx="10018713" cy="6096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Next Exchange of Routing Information</a:t>
            </a:r>
            <a:endParaRPr/>
          </a:p>
        </p:txBody>
      </p:sp>
      <p:grpSp>
        <p:nvGrpSpPr>
          <p:cNvPr id="628" name="Google Shape;628;p39"/>
          <p:cNvGrpSpPr/>
          <p:nvPr/>
        </p:nvGrpSpPr>
        <p:grpSpPr>
          <a:xfrm>
            <a:off x="2057400" y="4343400"/>
            <a:ext cx="2438400" cy="152400"/>
            <a:chOff x="533400" y="4267200"/>
            <a:chExt cx="2438400" cy="152400"/>
          </a:xfrm>
        </p:grpSpPr>
        <p:sp>
          <p:nvSpPr>
            <p:cNvPr id="629" name="Google Shape;629;p39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39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39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2" name="Google Shape;632;p39"/>
          <p:cNvGrpSpPr/>
          <p:nvPr/>
        </p:nvGrpSpPr>
        <p:grpSpPr>
          <a:xfrm>
            <a:off x="7772400" y="4343400"/>
            <a:ext cx="2438400" cy="152400"/>
            <a:chOff x="533400" y="4267200"/>
            <a:chExt cx="2438400" cy="152400"/>
          </a:xfrm>
        </p:grpSpPr>
        <p:sp>
          <p:nvSpPr>
            <p:cNvPr id="633" name="Google Shape;633;p39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39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39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6" name="Google Shape;636;p39"/>
          <p:cNvSpPr/>
          <p:nvPr/>
        </p:nvSpPr>
        <p:spPr>
          <a:xfrm>
            <a:off x="2362200" y="1981200"/>
            <a:ext cx="1219200" cy="8382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7" name="Google Shape;637;p39"/>
          <p:cNvGrpSpPr/>
          <p:nvPr/>
        </p:nvGrpSpPr>
        <p:grpSpPr>
          <a:xfrm>
            <a:off x="4724400" y="2743201"/>
            <a:ext cx="1447800" cy="307777"/>
            <a:chOff x="1981200" y="2667000"/>
            <a:chExt cx="1295400" cy="307777"/>
          </a:xfrm>
        </p:grpSpPr>
        <p:cxnSp>
          <p:nvCxnSpPr>
            <p:cNvPr id="638" name="Google Shape;638;p39"/>
            <p:cNvCxnSpPr/>
            <p:nvPr/>
          </p:nvCxnSpPr>
          <p:spPr>
            <a:xfrm rot="10800000">
              <a:off x="1981200" y="2819400"/>
              <a:ext cx="1295400" cy="1588"/>
            </a:xfrm>
            <a:prstGeom prst="straightConnector1">
              <a:avLst/>
            </a:prstGeom>
            <a:solidFill>
              <a:srgbClr val="531A88"/>
            </a:solidFill>
            <a:ln cap="flat" cmpd="sng" w="50800">
              <a:solidFill>
                <a:srgbClr val="531A88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639" name="Google Shape;639;p39"/>
            <p:cNvSpPr txBox="1"/>
            <p:nvPr/>
          </p:nvSpPr>
          <p:spPr>
            <a:xfrm>
              <a:off x="2286585" y="2667000"/>
              <a:ext cx="838033" cy="307777"/>
            </a:xfrm>
            <a:prstGeom prst="rect">
              <a:avLst/>
            </a:prstGeom>
            <a:solidFill>
              <a:srgbClr val="531A88"/>
            </a:solidFill>
            <a:ln cap="flat" cmpd="sng" w="25400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10.4.0.0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0" name="Google Shape;640;p39"/>
          <p:cNvGrpSpPr/>
          <p:nvPr/>
        </p:nvGrpSpPr>
        <p:grpSpPr>
          <a:xfrm>
            <a:off x="3276600" y="2743201"/>
            <a:ext cx="1447800" cy="307777"/>
            <a:chOff x="1981200" y="2667000"/>
            <a:chExt cx="1295400" cy="307777"/>
          </a:xfrm>
        </p:grpSpPr>
        <p:cxnSp>
          <p:nvCxnSpPr>
            <p:cNvPr id="641" name="Google Shape;641;p39"/>
            <p:cNvCxnSpPr/>
            <p:nvPr/>
          </p:nvCxnSpPr>
          <p:spPr>
            <a:xfrm rot="10800000">
              <a:off x="1981200" y="2819400"/>
              <a:ext cx="1295400" cy="1588"/>
            </a:xfrm>
            <a:prstGeom prst="straightConnector1">
              <a:avLst/>
            </a:prstGeom>
            <a:solidFill>
              <a:srgbClr val="531A88"/>
            </a:solidFill>
            <a:ln cap="flat" cmpd="sng" w="50800">
              <a:solidFill>
                <a:srgbClr val="531A88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642" name="Google Shape;642;p39"/>
            <p:cNvSpPr txBox="1"/>
            <p:nvPr/>
          </p:nvSpPr>
          <p:spPr>
            <a:xfrm>
              <a:off x="2286585" y="2667000"/>
              <a:ext cx="838033" cy="307777"/>
            </a:xfrm>
            <a:prstGeom prst="rect">
              <a:avLst/>
            </a:prstGeom>
            <a:solidFill>
              <a:srgbClr val="531A88"/>
            </a:solidFill>
            <a:ln cap="flat" cmpd="sng" w="25400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10.3.0.0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3" name="Google Shape;643;p3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v10.jpg" id="648" name="Google Shape;64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1295401"/>
            <a:ext cx="8839200" cy="3432175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40"/>
          <p:cNvSpPr txBox="1"/>
          <p:nvPr>
            <p:ph idx="4294967295" type="title"/>
          </p:nvPr>
        </p:nvSpPr>
        <p:spPr>
          <a:xfrm>
            <a:off x="1676400" y="444304"/>
            <a:ext cx="10018713" cy="500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Next Exchange of Routing Information</a:t>
            </a:r>
            <a:endParaRPr/>
          </a:p>
        </p:txBody>
      </p:sp>
      <p:grpSp>
        <p:nvGrpSpPr>
          <p:cNvPr id="650" name="Google Shape;650;p40"/>
          <p:cNvGrpSpPr/>
          <p:nvPr/>
        </p:nvGrpSpPr>
        <p:grpSpPr>
          <a:xfrm>
            <a:off x="7772400" y="4343400"/>
            <a:ext cx="2438400" cy="152400"/>
            <a:chOff x="533400" y="4267200"/>
            <a:chExt cx="2438400" cy="152400"/>
          </a:xfrm>
        </p:grpSpPr>
        <p:sp>
          <p:nvSpPr>
            <p:cNvPr id="651" name="Google Shape;651;p40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40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40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54" name="Google Shape;654;p40"/>
          <p:cNvSpPr/>
          <p:nvPr/>
        </p:nvSpPr>
        <p:spPr>
          <a:xfrm>
            <a:off x="8610600" y="1981200"/>
            <a:ext cx="1143000" cy="838200"/>
          </a:xfrm>
          <a:prstGeom prst="ellipse">
            <a:avLst/>
          </a:prstGeom>
          <a:noFill/>
          <a:ln cap="flat" cmpd="sng" w="38100">
            <a:solidFill>
              <a:srgbClr val="006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5" name="Google Shape;655;p40"/>
          <p:cNvGrpSpPr/>
          <p:nvPr/>
        </p:nvGrpSpPr>
        <p:grpSpPr>
          <a:xfrm>
            <a:off x="7391400" y="2743201"/>
            <a:ext cx="1447800" cy="307777"/>
            <a:chOff x="5257800" y="2590800"/>
            <a:chExt cx="1295400" cy="307777"/>
          </a:xfrm>
        </p:grpSpPr>
        <p:cxnSp>
          <p:nvCxnSpPr>
            <p:cNvPr id="656" name="Google Shape;656;p40"/>
            <p:cNvCxnSpPr/>
            <p:nvPr/>
          </p:nvCxnSpPr>
          <p:spPr>
            <a:xfrm>
              <a:off x="5257800" y="2743200"/>
              <a:ext cx="1295400" cy="1588"/>
            </a:xfrm>
            <a:prstGeom prst="straightConnector1">
              <a:avLst/>
            </a:prstGeom>
            <a:noFill/>
            <a:ln cap="flat" cmpd="sng" w="50800">
              <a:solidFill>
                <a:srgbClr val="531A88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657" name="Google Shape;657;p40"/>
            <p:cNvSpPr txBox="1"/>
            <p:nvPr/>
          </p:nvSpPr>
          <p:spPr>
            <a:xfrm>
              <a:off x="5486484" y="2590800"/>
              <a:ext cx="838033" cy="307777"/>
            </a:xfrm>
            <a:prstGeom prst="rect">
              <a:avLst/>
            </a:prstGeom>
            <a:solidFill>
              <a:srgbClr val="531A88"/>
            </a:solidFill>
            <a:ln cap="flat" cmpd="sng" w="25400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10.2.0.0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8" name="Google Shape;658;p40"/>
          <p:cNvGrpSpPr/>
          <p:nvPr/>
        </p:nvGrpSpPr>
        <p:grpSpPr>
          <a:xfrm>
            <a:off x="6096000" y="2743201"/>
            <a:ext cx="1371600" cy="307777"/>
            <a:chOff x="5257800" y="2590800"/>
            <a:chExt cx="1295400" cy="307777"/>
          </a:xfrm>
        </p:grpSpPr>
        <p:cxnSp>
          <p:nvCxnSpPr>
            <p:cNvPr id="659" name="Google Shape;659;p40"/>
            <p:cNvCxnSpPr/>
            <p:nvPr/>
          </p:nvCxnSpPr>
          <p:spPr>
            <a:xfrm>
              <a:off x="5257800" y="2743200"/>
              <a:ext cx="1295400" cy="1588"/>
            </a:xfrm>
            <a:prstGeom prst="straightConnector1">
              <a:avLst/>
            </a:prstGeom>
            <a:noFill/>
            <a:ln cap="flat" cmpd="sng" w="50800">
              <a:solidFill>
                <a:srgbClr val="531A88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660" name="Google Shape;660;p40"/>
            <p:cNvSpPr txBox="1"/>
            <p:nvPr/>
          </p:nvSpPr>
          <p:spPr>
            <a:xfrm>
              <a:off x="5485694" y="2590800"/>
              <a:ext cx="839611" cy="307777"/>
            </a:xfrm>
            <a:prstGeom prst="rect">
              <a:avLst/>
            </a:prstGeom>
            <a:solidFill>
              <a:srgbClr val="531A88"/>
            </a:solidFill>
            <a:ln cap="flat" cmpd="sng" w="25400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10.1.0.0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1" name="Google Shape;661;p4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v10.jpg" id="666" name="Google Shape;666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1485901"/>
            <a:ext cx="8839200" cy="3432175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41"/>
          <p:cNvSpPr txBox="1"/>
          <p:nvPr>
            <p:ph idx="4294967295" type="title"/>
          </p:nvPr>
        </p:nvSpPr>
        <p:spPr>
          <a:xfrm>
            <a:off x="1676400" y="571500"/>
            <a:ext cx="10018713" cy="657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Next Exchange of Routing Information</a:t>
            </a:r>
            <a:endParaRPr/>
          </a:p>
        </p:txBody>
      </p:sp>
      <p:sp>
        <p:nvSpPr>
          <p:cNvPr id="668" name="Google Shape;668;p41"/>
          <p:cNvSpPr txBox="1"/>
          <p:nvPr>
            <p:ph idx="4294967295" type="body"/>
          </p:nvPr>
        </p:nvSpPr>
        <p:spPr>
          <a:xfrm>
            <a:off x="1558835" y="5175252"/>
            <a:ext cx="9609908" cy="13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1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Tahoma"/>
              <a:buChar char="•"/>
            </a:pPr>
            <a:r>
              <a:rPr lang="en-US" sz="2400"/>
              <a:t>The network has</a:t>
            </a:r>
            <a:r>
              <a:rPr lang="en-US" sz="2400">
                <a:solidFill>
                  <a:srgbClr val="FFFF00"/>
                </a:solidFill>
              </a:rPr>
              <a:t> </a:t>
            </a:r>
            <a:r>
              <a:rPr b="1" lang="en-US" sz="2400">
                <a:solidFill>
                  <a:srgbClr val="FF0000"/>
                </a:solidFill>
              </a:rPr>
              <a:t>CONVERGED!</a:t>
            </a:r>
            <a:endParaRPr b="1" sz="2400"/>
          </a:p>
          <a:p>
            <a:pPr indent="-342900" lvl="2" marL="796925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2610"/>
              <a:buFont typeface="Tahoma"/>
              <a:buChar char="•"/>
            </a:pPr>
            <a:r>
              <a:rPr lang="en-US" sz="2400"/>
              <a:t>All routers now know about all of the networks attached to all of their neighbouring routers.</a:t>
            </a:r>
            <a:endParaRPr sz="2400"/>
          </a:p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sp>
        <p:nvSpPr>
          <p:cNvPr id="669" name="Google Shape;669;p4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42"/>
          <p:cNvSpPr txBox="1"/>
          <p:nvPr>
            <p:ph idx="4294967295" type="title"/>
          </p:nvPr>
        </p:nvSpPr>
        <p:spPr>
          <a:xfrm>
            <a:off x="1655761" y="485775"/>
            <a:ext cx="10018713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Convergence</a:t>
            </a:r>
            <a:endParaRPr/>
          </a:p>
        </p:txBody>
      </p:sp>
      <p:sp>
        <p:nvSpPr>
          <p:cNvPr id="675" name="Google Shape;675;p42"/>
          <p:cNvSpPr txBox="1"/>
          <p:nvPr>
            <p:ph idx="4294967295" type="body"/>
          </p:nvPr>
        </p:nvSpPr>
        <p:spPr>
          <a:xfrm>
            <a:off x="1362075" y="971551"/>
            <a:ext cx="5346455" cy="53515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US"/>
              <a:t>Convergence</a:t>
            </a:r>
            <a:r>
              <a:rPr lang="en-US"/>
              <a:t> is the time a network takes to reach a </a:t>
            </a:r>
            <a:r>
              <a:rPr b="1" lang="en-US">
                <a:solidFill>
                  <a:srgbClr val="7D28CD"/>
                </a:solidFill>
              </a:rPr>
              <a:t>stable routing state</a:t>
            </a:r>
            <a:r>
              <a:rPr lang="en-US"/>
              <a:t> after a change (e.g., link failure).</a:t>
            </a:r>
            <a:endParaRPr/>
          </a:p>
          <a:p>
            <a:pPr indent="-6477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In general, </a:t>
            </a:r>
            <a:r>
              <a:rPr b="1" lang="en-US">
                <a:solidFill>
                  <a:srgbClr val="7D28CD"/>
                </a:solidFill>
              </a:rPr>
              <a:t>larger networks </a:t>
            </a:r>
            <a:r>
              <a:rPr b="1" lang="en-US"/>
              <a:t>take </a:t>
            </a:r>
            <a:r>
              <a:rPr b="1" lang="en-US">
                <a:solidFill>
                  <a:srgbClr val="0070C0"/>
                </a:solidFill>
              </a:rPr>
              <a:t>longer to converge</a:t>
            </a:r>
            <a:r>
              <a:rPr b="1" lang="en-US"/>
              <a:t>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Routing protocols are compared based on </a:t>
            </a:r>
            <a:r>
              <a:rPr b="1" lang="en-US"/>
              <a:t>how fast they spread routing updates</a:t>
            </a:r>
            <a:br>
              <a:rPr lang="en-US"/>
            </a:br>
            <a:r>
              <a:rPr b="1" lang="en-US">
                <a:solidFill>
                  <a:srgbClr val="FF0000"/>
                </a:solidFill>
              </a:rPr>
              <a:t>→</a:t>
            </a:r>
            <a:r>
              <a:rPr lang="en-US"/>
              <a:t> this is called </a:t>
            </a:r>
            <a:r>
              <a:rPr b="1" lang="en-US">
                <a:solidFill>
                  <a:srgbClr val="FF0000"/>
                </a:solidFill>
              </a:rPr>
              <a:t>speed of convergence</a:t>
            </a:r>
            <a:r>
              <a:rPr lang="en-US">
                <a:solidFill>
                  <a:srgbClr val="FF0000"/>
                </a:solidFill>
              </a:rPr>
              <a:t>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A network </a:t>
            </a:r>
            <a:r>
              <a:rPr b="1" lang="en-US">
                <a:solidFill>
                  <a:srgbClr val="7D28CD"/>
                </a:solidFill>
              </a:rPr>
              <a:t>cannot forward traffic correctly</a:t>
            </a:r>
            <a:r>
              <a:rPr lang="en-US">
                <a:solidFill>
                  <a:srgbClr val="7D28CD"/>
                </a:solidFill>
              </a:rPr>
              <a:t> </a:t>
            </a:r>
            <a:r>
              <a:rPr lang="en-US"/>
              <a:t>until convergence is complete.</a:t>
            </a:r>
            <a:endParaRPr/>
          </a:p>
        </p:txBody>
      </p:sp>
      <p:pic>
        <p:nvPicPr>
          <p:cNvPr descr="dv12.jpg" id="676" name="Google Shape;67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49832" y="1718897"/>
            <a:ext cx="4957763" cy="2971800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p4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11"/>
          <p:cNvSpPr txBox="1"/>
          <p:nvPr>
            <p:ph idx="4294967295" type="title"/>
          </p:nvPr>
        </p:nvSpPr>
        <p:spPr>
          <a:xfrm>
            <a:off x="1655761" y="485775"/>
            <a:ext cx="10018713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Disadvantages</a:t>
            </a:r>
            <a:endParaRPr/>
          </a:p>
        </p:txBody>
      </p:sp>
      <p:sp>
        <p:nvSpPr>
          <p:cNvPr id="683" name="Google Shape;683;p11"/>
          <p:cNvSpPr txBox="1"/>
          <p:nvPr>
            <p:ph idx="4294967295" type="body"/>
          </p:nvPr>
        </p:nvSpPr>
        <p:spPr>
          <a:xfrm>
            <a:off x="1362075" y="971551"/>
            <a:ext cx="10709852" cy="53515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2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Routers have </a:t>
            </a:r>
            <a:r>
              <a:rPr b="1" lang="en-US" sz="2800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only local knowledge</a:t>
            </a:r>
            <a:r>
              <a:rPr lang="en-US" sz="2800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(they know information only from neighbors).</a:t>
            </a:r>
            <a:endParaRPr/>
          </a:p>
          <a:p>
            <a:pPr indent="-762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2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2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Routers </a:t>
            </a:r>
            <a:r>
              <a:rPr b="1" lang="en-US" sz="2800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trust information received from neighbors</a:t>
            </a:r>
            <a:r>
              <a:rPr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, even if it is outdated or incorrect.</a:t>
            </a:r>
            <a:endParaRPr/>
          </a:p>
          <a:p>
            <a:pPr indent="-762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2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2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Routing updates are </a:t>
            </a:r>
            <a:r>
              <a:rPr b="1" lang="en-US" sz="2800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slow to converge</a:t>
            </a:r>
            <a:r>
              <a:rPr lang="en-US" sz="2800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after a link failure.</a:t>
            </a:r>
            <a:endParaRPr/>
          </a:p>
          <a:p>
            <a:pPr indent="-762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2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2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Incorrect routing information can </a:t>
            </a:r>
            <a:r>
              <a:rPr b="1"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spread from one router to another</a:t>
            </a:r>
            <a:r>
              <a:rPr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.</a:t>
            </a:r>
            <a:endParaRPr/>
          </a:p>
          <a:p>
            <a:pPr indent="-762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2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2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This can create </a:t>
            </a:r>
            <a:r>
              <a:rPr b="1" lang="en-US" sz="2800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routing loops</a:t>
            </a:r>
            <a:r>
              <a:rPr lang="en-US" sz="2800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.</a:t>
            </a:r>
            <a:endParaRPr/>
          </a:p>
        </p:txBody>
      </p:sp>
      <p:sp>
        <p:nvSpPr>
          <p:cNvPr id="684" name="Google Shape;684;p1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1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91" name="Google Shape;69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0543" y="2117114"/>
            <a:ext cx="7048500" cy="107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2" name="Google Shape;69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82827" y="3775930"/>
            <a:ext cx="5223137" cy="1956655"/>
          </a:xfrm>
          <a:prstGeom prst="rect">
            <a:avLst/>
          </a:prstGeom>
          <a:noFill/>
          <a:ln>
            <a:noFill/>
          </a:ln>
        </p:spPr>
      </p:pic>
      <p:sp>
        <p:nvSpPr>
          <p:cNvPr descr="Network Device Status Icons, Jon Fuller's Portfolio" id="693" name="Google Shape;693;p1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2+ Hundred Computer Network Outage Icon Royalty-Free Images, Stock Photos &amp;  Pictures | Shutterstock" id="694" name="Google Shape;694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07667" y="2242039"/>
            <a:ext cx="641838" cy="641838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13"/>
          <p:cNvSpPr txBox="1"/>
          <p:nvPr/>
        </p:nvSpPr>
        <p:spPr>
          <a:xfrm>
            <a:off x="5564684" y="4246684"/>
            <a:ext cx="651478" cy="30777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∞,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A</a:t>
            </a:r>
            <a:endParaRPr b="1" i="0" sz="1800" u="none" cap="none" strike="noStrik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696" name="Google Shape;696;p13"/>
          <p:cNvSpPr txBox="1"/>
          <p:nvPr/>
        </p:nvSpPr>
        <p:spPr>
          <a:xfrm>
            <a:off x="1484310" y="468190"/>
            <a:ext cx="10018713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rbe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Count to infinity Problem :: Routing Loops</a:t>
            </a:r>
            <a:endParaRPr b="0" i="0" sz="36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3b7731947ea_193_0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1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enter image description here" id="708" name="Google Shape;70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4760" y="2417884"/>
            <a:ext cx="6291880" cy="3647953"/>
          </a:xfrm>
          <a:prstGeom prst="rect">
            <a:avLst/>
          </a:prstGeom>
          <a:noFill/>
          <a:ln>
            <a:noFill/>
          </a:ln>
        </p:spPr>
      </p:pic>
      <p:sp>
        <p:nvSpPr>
          <p:cNvPr id="709" name="Google Shape;709;p14"/>
          <p:cNvSpPr txBox="1"/>
          <p:nvPr/>
        </p:nvSpPr>
        <p:spPr>
          <a:xfrm>
            <a:off x="7936523" y="1403837"/>
            <a:ext cx="4047392" cy="50848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20000"/>
          </a:bodyPr>
          <a:lstStyle/>
          <a:p>
            <a:pPr indent="-44958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ct val="170588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After a specific amount of time, B receives C's routing table.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ct val="170588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44958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ct val="170588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Since C does not know that the link between A and B is down, it assumes a path to A with cost 2 (1 from C to B and 1 from B to A). </a:t>
            </a:r>
            <a:endParaRPr/>
          </a:p>
          <a:p>
            <a:pPr indent="-44958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ct val="170588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B receives C’s table and assumes there is an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alternate path</a:t>
            </a:r>
            <a:r>
              <a:rPr b="0" i="0" lang="en-US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b="1" i="0" lang="en-US" sz="2400" u="none" cap="none" strike="noStrike">
                <a:solidFill>
                  <a:srgbClr val="7030A0"/>
                </a:solidFill>
                <a:latin typeface="Corbel"/>
                <a:ea typeface="Corbel"/>
                <a:cs typeface="Corbel"/>
                <a:sym typeface="Corbel"/>
              </a:rPr>
              <a:t>to A via C</a:t>
            </a:r>
            <a:endParaRPr/>
          </a:p>
          <a:p>
            <a:pPr indent="-44958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ct val="170588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So it updates its distance to A from infinity to 3 (1 from B to C + 2 from C to A)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ct val="170588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44958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ct val="170588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Once again, routers exchange their tables.</a:t>
            </a:r>
            <a:endParaRPr/>
          </a:p>
        </p:txBody>
      </p:sp>
      <p:pic>
        <p:nvPicPr>
          <p:cNvPr id="710" name="Google Shape;71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21119" y="1296956"/>
            <a:ext cx="5728188" cy="8747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2+ Hundred Computer Network Outage Icon Royalty-Free Images, Stock Photos &amp;  Pictures | Shutterstock" id="711" name="Google Shape;71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37228" y="1403837"/>
            <a:ext cx="521610" cy="521610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Google Shape;712;p14"/>
          <p:cNvSpPr/>
          <p:nvPr/>
        </p:nvSpPr>
        <p:spPr>
          <a:xfrm>
            <a:off x="1714500" y="3734837"/>
            <a:ext cx="5934807" cy="2268415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14"/>
          <p:cNvSpPr txBox="1"/>
          <p:nvPr/>
        </p:nvSpPr>
        <p:spPr>
          <a:xfrm>
            <a:off x="1484310" y="468190"/>
            <a:ext cx="10018713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rbe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Count to infinity Problem :: Routing Loops</a:t>
            </a:r>
            <a:endParaRPr b="0" i="0" sz="36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14" name="Google Shape;714;p14"/>
          <p:cNvSpPr txBox="1"/>
          <p:nvPr/>
        </p:nvSpPr>
        <p:spPr>
          <a:xfrm>
            <a:off x="4930531" y="1242519"/>
            <a:ext cx="889000" cy="430847"/>
          </a:xfrm>
          <a:prstGeom prst="rect">
            <a:avLst/>
          </a:prstGeom>
          <a:solidFill>
            <a:srgbClr val="531A88"/>
          </a:solidFill>
          <a:ln cap="flat" cmpd="sng" w="254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1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Routing Table of C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14"/>
          <p:cNvSpPr/>
          <p:nvPr/>
        </p:nvSpPr>
        <p:spPr>
          <a:xfrm>
            <a:off x="5819532" y="2858018"/>
            <a:ext cx="618214" cy="448599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14"/>
          <p:cNvSpPr/>
          <p:nvPr/>
        </p:nvSpPr>
        <p:spPr>
          <a:xfrm>
            <a:off x="4842270" y="3268955"/>
            <a:ext cx="618214" cy="448599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1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enter image description here" id="722" name="Google Shape;72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4760" y="2417884"/>
            <a:ext cx="6291880" cy="3647953"/>
          </a:xfrm>
          <a:prstGeom prst="rect">
            <a:avLst/>
          </a:prstGeom>
          <a:noFill/>
          <a:ln>
            <a:noFill/>
          </a:ln>
        </p:spPr>
      </p:pic>
      <p:sp>
        <p:nvSpPr>
          <p:cNvPr id="723" name="Google Shape;723;p15"/>
          <p:cNvSpPr txBox="1"/>
          <p:nvPr/>
        </p:nvSpPr>
        <p:spPr>
          <a:xfrm>
            <a:off x="7936522" y="1403837"/>
            <a:ext cx="4108939" cy="46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10000"/>
          </a:bodyPr>
          <a:lstStyle/>
          <a:p>
            <a:pPr indent="-44958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ct val="156756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When C receives B's routing table, it sees that B has changed the weight of its link to A from 1 to 3.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ct val="156756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44958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ct val="156756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So C updates its table and changes the weight of the link to A to 4 (1 for C to B, and 3 for B to A, as B said).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ct val="156756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44958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ct val="156756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This process loops until all nodes find out that the weight of link to A is infinity.</a:t>
            </a:r>
            <a:endParaRPr/>
          </a:p>
        </p:txBody>
      </p:sp>
      <p:pic>
        <p:nvPicPr>
          <p:cNvPr id="724" name="Google Shape;72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21119" y="1278913"/>
            <a:ext cx="5728188" cy="8747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2+ Hundred Computer Network Outage Icon Royalty-Free Images, Stock Photos &amp;  Pictures | Shutterstock" id="725" name="Google Shape;72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37228" y="1403837"/>
            <a:ext cx="521610" cy="521610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15"/>
          <p:cNvSpPr/>
          <p:nvPr/>
        </p:nvSpPr>
        <p:spPr>
          <a:xfrm>
            <a:off x="1714500" y="4097215"/>
            <a:ext cx="5934807" cy="190603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15"/>
          <p:cNvSpPr/>
          <p:nvPr/>
        </p:nvSpPr>
        <p:spPr>
          <a:xfrm>
            <a:off x="1714499" y="3734837"/>
            <a:ext cx="5934807" cy="350653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15"/>
          <p:cNvSpPr txBox="1"/>
          <p:nvPr/>
        </p:nvSpPr>
        <p:spPr>
          <a:xfrm>
            <a:off x="3358838" y="1162344"/>
            <a:ext cx="889000" cy="430847"/>
          </a:xfrm>
          <a:prstGeom prst="rect">
            <a:avLst/>
          </a:prstGeom>
          <a:solidFill>
            <a:srgbClr val="531A88"/>
          </a:solidFill>
          <a:ln cap="flat" cmpd="sng" w="254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1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Routing Table of B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15"/>
          <p:cNvSpPr txBox="1"/>
          <p:nvPr/>
        </p:nvSpPr>
        <p:spPr>
          <a:xfrm>
            <a:off x="1484310" y="468190"/>
            <a:ext cx="10018713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rbe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Count to infinity Problem :: Routing Loops</a:t>
            </a:r>
            <a:endParaRPr b="0" i="0" sz="36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1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5" name="Google Shape;735;p16"/>
          <p:cNvSpPr txBox="1"/>
          <p:nvPr/>
        </p:nvSpPr>
        <p:spPr>
          <a:xfrm>
            <a:off x="1098684" y="2839893"/>
            <a:ext cx="10326254" cy="30433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4958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One way to solve this problem is that a router does not advertise a route back out the interface on which it was learned.</a:t>
            </a:r>
            <a:endParaRPr/>
          </a:p>
          <a:p>
            <a:pPr indent="-44958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Or “Poison reverse”: advertise that route back to the neighbor with an infinite metric.</a:t>
            </a:r>
            <a:endParaRPr b="0" i="0" sz="2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44958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In this case, C shouldn't send any information to B about A, because B is the only way to A.</a:t>
            </a:r>
            <a:endParaRPr b="0" i="0" sz="2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736" name="Google Shape;73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1119" y="1296956"/>
            <a:ext cx="5728188" cy="8747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2+ Hundred Computer Network Outage Icon Royalty-Free Images, Stock Photos &amp;  Pictures | Shutterstock" id="737" name="Google Shape;73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37228" y="1403837"/>
            <a:ext cx="521610" cy="521610"/>
          </a:xfrm>
          <a:prstGeom prst="rect">
            <a:avLst/>
          </a:prstGeom>
          <a:noFill/>
          <a:ln>
            <a:noFill/>
          </a:ln>
        </p:spPr>
      </p:pic>
      <p:sp>
        <p:nvSpPr>
          <p:cNvPr id="738" name="Google Shape;738;p16"/>
          <p:cNvSpPr txBox="1"/>
          <p:nvPr/>
        </p:nvSpPr>
        <p:spPr>
          <a:xfrm>
            <a:off x="1484310" y="468190"/>
            <a:ext cx="10018713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rbe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Solution One: Split Horizon Rule</a:t>
            </a:r>
            <a:endParaRPr b="0" i="0" sz="36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39" name="Google Shape;739;p16"/>
          <p:cNvSpPr txBox="1"/>
          <p:nvPr/>
        </p:nvSpPr>
        <p:spPr>
          <a:xfrm>
            <a:off x="4930530" y="1242519"/>
            <a:ext cx="1128525" cy="600124"/>
          </a:xfrm>
          <a:prstGeom prst="rect">
            <a:avLst/>
          </a:prstGeom>
          <a:solidFill>
            <a:srgbClr val="531A88"/>
          </a:solidFill>
          <a:ln cap="flat" cmpd="sng" w="254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1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Routing Table of C, No info of A Network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43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THE END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2020-06-17T13:03:26Z</dcterms:created>
  <dc:creator>Mehnaz Seraj</dc:creator>
</cp:coreProperties>
</file>
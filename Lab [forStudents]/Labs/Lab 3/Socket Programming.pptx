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ibre Franklin"/>
      <p:regular r:id="rId20"/>
      <p:bold r:id="rId21"/>
      <p:italic r:id="rId22"/>
      <p:boldItalic r:id="rId23"/>
    </p:embeddedFon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CFwlaWwaEPkloqm5avAWfyWCU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regular.fntdata"/><Relationship Id="rId22" Type="http://schemas.openxmlformats.org/officeDocument/2006/relationships/font" Target="fonts/LibreFranklin-italic.fntdata"/><Relationship Id="rId21" Type="http://schemas.openxmlformats.org/officeDocument/2006/relationships/font" Target="fonts/LibreFranklin-bold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LibreFranklin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6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" name="Google Shape;18;p1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9" name="Google Shape;19;p16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0" name="Google Shape;20;p16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0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5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25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5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6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6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1" name="Google Shape;141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5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type="ctrTitle"/>
          </p:nvPr>
        </p:nvSpPr>
        <p:spPr>
          <a:xfrm>
            <a:off x="1915124" y="2141106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en-US"/>
              <a:t>SOCKET PROGRAMMING</a:t>
            </a:r>
            <a:endParaRPr/>
          </a:p>
        </p:txBody>
      </p:sp>
      <p:sp>
        <p:nvSpPr>
          <p:cNvPr id="169" name="Google Shape;169;p1"/>
          <p:cNvSpPr txBox="1"/>
          <p:nvPr>
            <p:ph idx="1" type="subTitle"/>
          </p:nvPr>
        </p:nvSpPr>
        <p:spPr>
          <a:xfrm>
            <a:off x="2679901" y="4258092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en-US"/>
              <a:t>Absolute Basics</a:t>
            </a:r>
            <a:endParaRPr/>
          </a:p>
        </p:txBody>
      </p:sp>
      <p:sp>
        <p:nvSpPr>
          <p:cNvPr id="170" name="Google Shape;170;p1"/>
          <p:cNvSpPr txBox="1"/>
          <p:nvPr/>
        </p:nvSpPr>
        <p:spPr>
          <a:xfrm>
            <a:off x="675000" y="5196100"/>
            <a:ext cx="2268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Prepared by -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Niloy Deb Roy</a:t>
            </a:r>
            <a:b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Contractual Lecturer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BRAC University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3583" y="712284"/>
            <a:ext cx="1144312" cy="1217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What is Socket Programming?</a:t>
            </a:r>
            <a:endParaRPr/>
          </a:p>
        </p:txBody>
      </p:sp>
      <p:sp>
        <p:nvSpPr>
          <p:cNvPr id="177" name="Google Shape;177;p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■"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term </a:t>
            </a:r>
            <a:r>
              <a:rPr i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 programming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refers to writing programs that execute across multiple computers in which the devices are all connected to each other using a network.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■"/>
            </a:pPr>
            <a:r>
              <a:rPr i="0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 programming can be connection-oriented or connection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i="0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less.</a:t>
            </a:r>
            <a:endParaRPr i="0"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■"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uses it’s </a:t>
            </a:r>
            <a:r>
              <a:rPr lang="en-US" sz="24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library to implement socket programming.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■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Transmission Control Protocol (TCP) is used as a default protocol.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/>
          <p:nvPr>
            <p:ph type="title"/>
          </p:nvPr>
        </p:nvSpPr>
        <p:spPr>
          <a:xfrm>
            <a:off x="1371600" y="685800"/>
            <a:ext cx="9601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Client-side Socket Programming</a:t>
            </a:r>
            <a:endParaRPr/>
          </a:p>
        </p:txBody>
      </p:sp>
      <p:sp>
        <p:nvSpPr>
          <p:cNvPr id="183" name="Google Shape;183;p3"/>
          <p:cNvSpPr txBox="1"/>
          <p:nvPr>
            <p:ph idx="1" type="body"/>
          </p:nvPr>
        </p:nvSpPr>
        <p:spPr>
          <a:xfrm>
            <a:off x="1371600" y="2082725"/>
            <a:ext cx="101727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426"/>
              <a:buFont typeface="Helvetica Neue"/>
              <a:buChar char="■"/>
            </a:pPr>
            <a:r>
              <a:rPr lang="en-US" sz="2425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 the socket object to make connection to the server, send data to and receive data from the server.</a:t>
            </a:r>
            <a:endParaRPr sz="2425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426"/>
              <a:buChar char="■"/>
            </a:pPr>
            <a:r>
              <a:rPr lang="en-US" sz="2425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Steps involved in</a:t>
            </a:r>
            <a:r>
              <a:rPr b="0" i="0" lang="en-US" sz="2425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typical communication with the server – </a:t>
            </a:r>
            <a:endParaRPr sz="2425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First, </a:t>
            </a:r>
            <a:r>
              <a:rPr i="0" lang="en-US" sz="21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library is imported and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socket()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object is created.</a:t>
            </a:r>
            <a:endParaRPr b="0"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client initiates connection to a server specified by hostname/IP address and port number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using 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connect((hostname/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ip_address, 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port_number))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Send data to the server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send(message)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Read data from the server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recv(buffer_size)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Close the connection using </a:t>
            </a:r>
            <a:r>
              <a:rPr b="0"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close()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Client-side Socket Programming</a:t>
            </a:r>
            <a:endParaRPr/>
          </a:p>
        </p:txBody>
      </p:sp>
      <p:sp>
        <p:nvSpPr>
          <p:cNvPr id="189" name="Google Shape;189;p4"/>
          <p:cNvSpPr txBox="1"/>
          <p:nvPr>
            <p:ph idx="1" type="body"/>
          </p:nvPr>
        </p:nvSpPr>
        <p:spPr>
          <a:xfrm>
            <a:off x="1371600" y="1543050"/>
            <a:ext cx="9601200" cy="47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4048" lvl="0" marL="384048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Char char="■"/>
            </a:pPr>
            <a:r>
              <a:rPr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Description:</a:t>
            </a:r>
            <a:endParaRPr sz="2100"/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socket.socket(socket.AF_INET, socket.SOCK_STREAM):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AF_INET refers to the address-family ipv4.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The SOCK_STREAM means connection-oriented TCP   protocol. 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connect((Hostname/Ip Address, Port Number)):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Here, the tuple takes hostname or ip address of the server and the port number.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send(message):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the given message needs to be encoded using an encoding format. E.g., </a:t>
            </a:r>
            <a:r>
              <a:rPr i="0" lang="en-US" sz="21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message.encode('utf-8')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recv(buffer_size):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/>
              <a:t> 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the return value is a bytes object representing the data received. It needs to be decoded using appropriate format. E.g., </a:t>
            </a:r>
            <a:r>
              <a:rPr i="0" lang="en-US" sz="21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recv(2048).decode('utf-8')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Server-side Socket Programming</a:t>
            </a:r>
            <a:endParaRPr/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1371600" y="1885950"/>
            <a:ext cx="9858300" cy="4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000"/>
              <a:buChar char="■"/>
            </a:pPr>
            <a:r>
              <a:rPr lang="en-US" sz="2425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 the socket object to make connection with the client, send data to and receive data from the client.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000"/>
              <a:buChar char="■"/>
            </a:pPr>
            <a:r>
              <a:rPr lang="en-US" sz="2425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Steps involved in a typical communication with the client–</a:t>
            </a:r>
            <a:endParaRPr/>
          </a:p>
          <a:p>
            <a:pPr indent="457200" lvl="1" marL="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First, </a:t>
            </a:r>
            <a:r>
              <a:rPr i="0" lang="en-US" sz="21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library is imported and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socket()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object is created.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Bind the server socket with hostname/IP address and port number using 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bind((hostname/ip_address, port_number))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Listen for a connection from the client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listen()</a:t>
            </a:r>
            <a:r>
              <a:rPr i="0"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accept it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accept()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 This results in a client socket being created for the connection.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Use the client socket to send data to the client and receive data from the client.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Close the connection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close()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>
            <p:ph type="title"/>
          </p:nvPr>
        </p:nvSpPr>
        <p:spPr>
          <a:xfrm>
            <a:off x="1371600" y="685800"/>
            <a:ext cx="96012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Server-side Socket Programming</a:t>
            </a:r>
            <a:endParaRPr/>
          </a:p>
        </p:txBody>
      </p:sp>
      <p:sp>
        <p:nvSpPr>
          <p:cNvPr id="201" name="Google Shape;201;p6"/>
          <p:cNvSpPr txBox="1"/>
          <p:nvPr>
            <p:ph idx="1" type="body"/>
          </p:nvPr>
        </p:nvSpPr>
        <p:spPr>
          <a:xfrm>
            <a:off x="1371600" y="1843075"/>
            <a:ext cx="96012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Char char="■"/>
            </a:pPr>
            <a:r>
              <a:rPr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Description: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listen(backlog):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Enable a server to accept connections. The backlog specifies the number of unaccepted connections that the system will allow before refusing new connections. If not specified, a default reasonable value is chosen. 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accept():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Accept a connection. The return value is a pair </a:t>
            </a:r>
            <a:r>
              <a:rPr lang="en-US" sz="2217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(conn, address)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where conn is a new socket object usable to send and receive data on the connection, and address is the address bound to the socket on the other end of the connection.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Socket Programming</a:t>
            </a:r>
            <a:endParaRPr/>
          </a:p>
        </p:txBody>
      </p:sp>
      <p:sp>
        <p:nvSpPr>
          <p:cNvPr id="207" name="Google Shape;207;p7"/>
          <p:cNvSpPr txBox="1"/>
          <p:nvPr>
            <p:ph idx="1" type="body"/>
          </p:nvPr>
        </p:nvSpPr>
        <p:spPr>
          <a:xfrm>
            <a:off x="1371600" y="2286000"/>
            <a:ext cx="98154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Char char="■"/>
            </a:pPr>
            <a:r>
              <a:rPr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Methods: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socket.gethostname():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returns a string containing the </a:t>
            </a:r>
            <a:r>
              <a:rPr lang="en-US" sz="23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hostname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 the machine where the Python interpreter is currently executing.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socket.gethostbyname(host_name):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Translate a host name to IPv4 address format. The IPv4 address is returned as a string, such as '100.50.200.5'. If the host name is an IPv4 address itself it is returned unchanged.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9024900" y="1543025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6143625" y="3600475"/>
            <a:ext cx="569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host= socket.gethostbyname(socket.gethostname())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= 6666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 = (host, port)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352425" y="3600475"/>
            <a:ext cx="569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host= socket.gethostbyname(socket.gethostname())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= 6666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 = (host, port)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800850" y="3422350"/>
            <a:ext cx="490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= socket.socket(socket.AF_INET, socket.SOCK_STREAM)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server.bind(addr)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838200" y="3489025"/>
            <a:ext cx="490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= socket.socket(socket.AF_INET, socket.SOCK_STREAM)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8124778" y="3422342"/>
            <a:ext cx="28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server.listen()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134561" y="2306459"/>
            <a:ext cx="880546" cy="9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8304066" y="3422342"/>
            <a:ext cx="28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conn, addr = server.accept()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134561" y="2306459"/>
            <a:ext cx="880546" cy="9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 txBox="1"/>
          <p:nvPr/>
        </p:nvSpPr>
        <p:spPr>
          <a:xfrm>
            <a:off x="909222" y="3533313"/>
            <a:ext cx="30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client.connect(addr)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11"/>
          <p:cNvCxnSpPr>
            <a:endCxn id="248" idx="0"/>
          </p:cNvCxnSpPr>
          <p:nvPr/>
        </p:nvCxnSpPr>
        <p:spPr>
          <a:xfrm>
            <a:off x="2169177" y="2756516"/>
            <a:ext cx="59556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52" name="Google Shape;252;p11"/>
          <p:cNvCxnSpPr>
            <a:endCxn id="247" idx="1"/>
          </p:cNvCxnSpPr>
          <p:nvPr/>
        </p:nvCxnSpPr>
        <p:spPr>
          <a:xfrm flipH="1" rot="10800000">
            <a:off x="3179766" y="3606992"/>
            <a:ext cx="5124300" cy="13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3" name="Google Shape;253;p11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269507" y="3169328"/>
            <a:ext cx="9001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2294995" y="3193500"/>
            <a:ext cx="9001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2356283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8404510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2"/>
          <p:cNvCxnSpPr/>
          <p:nvPr/>
        </p:nvCxnSpPr>
        <p:spPr>
          <a:xfrm flipH="1" rot="10800000">
            <a:off x="2823609" y="2746788"/>
            <a:ext cx="5780006" cy="486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68" name="Google Shape;268;p12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/>
          <p:nvPr>
            <p:ph type="title"/>
          </p:nvPr>
        </p:nvSpPr>
        <p:spPr>
          <a:xfrm>
            <a:off x="838200" y="441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2356283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8404510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3"/>
          <p:cNvCxnSpPr/>
          <p:nvPr/>
        </p:nvCxnSpPr>
        <p:spPr>
          <a:xfrm flipH="1" rot="10800000">
            <a:off x="2823609" y="2746788"/>
            <a:ext cx="5780006" cy="486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80" name="Google Shape;280;p13"/>
          <p:cNvCxnSpPr/>
          <p:nvPr/>
        </p:nvCxnSpPr>
        <p:spPr>
          <a:xfrm>
            <a:off x="2986391" y="2431915"/>
            <a:ext cx="5418119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1" name="Google Shape;281;p13"/>
          <p:cNvCxnSpPr/>
          <p:nvPr/>
        </p:nvCxnSpPr>
        <p:spPr>
          <a:xfrm rot="10800000">
            <a:off x="2986391" y="3054485"/>
            <a:ext cx="5418119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2" name="Google Shape;282;p13"/>
          <p:cNvSpPr txBox="1"/>
          <p:nvPr/>
        </p:nvSpPr>
        <p:spPr>
          <a:xfrm>
            <a:off x="6015049" y="3357300"/>
            <a:ext cx="36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conn.send(encoded_message)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2415572" y="3357300"/>
            <a:ext cx="32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client.recv(2048).decode('utf-8')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2415575" y="1747750"/>
            <a:ext cx="315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client.send(encoded_message)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5599725" y="1747750"/>
            <a:ext cx="32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conn.recv(2048).decode('utf-8')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 txBox="1"/>
          <p:nvPr>
            <p:ph type="title"/>
          </p:nvPr>
        </p:nvSpPr>
        <p:spPr>
          <a:xfrm>
            <a:off x="1238638" y="2697777"/>
            <a:ext cx="971472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LET’S START CODING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